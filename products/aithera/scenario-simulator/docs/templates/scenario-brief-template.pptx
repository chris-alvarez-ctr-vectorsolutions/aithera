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SCENARIO BRIEF — how to use this deck</a:t>
            </a:r>
          </a:p>
          <a:p/>
          <a:p>
            <a:r>
              <a:t>Every field is a PowerPoint placeholder. Type into the fields and keep the small label line at the top of each one. Do not add text boxes or tables — Outline view does not export them, so the editor would never see them.</a:t>
            </a:r>
          </a:p>
          <a:p/>
          <a:p>
            <a:r>
              <a:t>One slide per step: duplicate a STEP slide (Cmd/Ctrl+D) for each new step rather than inserting from the layout gallery. Delete THE OPENING if the scenario has no warm-up. Delete EXAMPLES slides you don’t need — the wizard drafts examples itself.</a:t>
            </a:r>
          </a:p>
          <a:p/>
          <a:p>
            <a:r>
              <a:t>Verbatim fields are what the learner reads, word for word. Every other field is guidance for the coach.</a:t>
            </a:r>
          </a:p>
          <a:p/>
          <a:p>
            <a:r>
              <a:t>To hand off: View → Outline → select all → copy → paste into the Scenario Editor’s Start-from-scratch source box. The wizard reads the labels and pre-fills its interview; the AI drafts only what you left blank.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Cover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"/>
          <p:cNvSpPr/>
          <p:nvPr/>
        </p:nvSpPr>
        <p:spPr>
          <a:xfrm>
            <a:off x="457200" y="1097280"/>
            <a:ext cx="7040880" cy="13716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panel"/>
          <p:cNvSpPr/>
          <p:nvPr/>
        </p:nvSpPr>
        <p:spPr>
          <a:xfrm>
            <a:off x="457200" y="2651760"/>
            <a:ext cx="7040880" cy="9144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panel"/>
          <p:cNvSpPr/>
          <p:nvPr/>
        </p:nvSpPr>
        <p:spPr>
          <a:xfrm>
            <a:off x="457200" y="3749039"/>
            <a:ext cx="3383280" cy="9144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panel"/>
          <p:cNvSpPr/>
          <p:nvPr/>
        </p:nvSpPr>
        <p:spPr>
          <a:xfrm>
            <a:off x="4114800" y="3749039"/>
            <a:ext cx="3383280" cy="9144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anel"/>
          <p:cNvSpPr/>
          <p:nvPr/>
        </p:nvSpPr>
        <p:spPr>
          <a:xfrm>
            <a:off x="457200" y="4846320"/>
            <a:ext cx="7040880" cy="9144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panel"/>
          <p:cNvSpPr/>
          <p:nvPr/>
        </p:nvSpPr>
        <p:spPr>
          <a:xfrm>
            <a:off x="7948879" y="384048"/>
            <a:ext cx="3785616" cy="329184"/>
          </a:xfrm>
          <a:prstGeom prst="roundRect">
            <a:avLst>
              <a:gd name="adj" fmla="val 4500"/>
            </a:avLst>
          </a:prstGeom>
          <a:solidFill>
            <a:srgbClr val="E3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chip"/>
          <p:cNvSpPr txBox="1"/>
          <p:nvPr/>
        </p:nvSpPr>
        <p:spPr>
          <a:xfrm>
            <a:off x="7948879" y="384048"/>
            <a:ext cx="3785616" cy="329184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900" b="0" i="0">
                <a:solidFill>
                  <a:srgbClr val="43505E"/>
                </a:solidFill>
                <a:latin typeface="Calibri"/>
              </a:rPr>
              <a:t>Cover · the team’s own record — not imported</a:t>
            </a:r>
          </a:p>
        </p:txBody>
      </p:sp>
      <p:sp>
        <p:nvSpPr>
          <p:cNvPr id="10" name="help"/>
          <p:cNvSpPr txBox="1"/>
          <p:nvPr/>
        </p:nvSpPr>
        <p:spPr>
          <a:xfrm>
            <a:off x="457200" y="2194560"/>
            <a:ext cx="704088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Working title — the draft proposes one if blank.  → editor: Basics · Title</a:t>
            </a:r>
          </a:p>
        </p:txBody>
      </p:sp>
      <p:sp>
        <p:nvSpPr>
          <p:cNvPr id="11" name="help"/>
          <p:cNvSpPr txBox="1"/>
          <p:nvPr/>
        </p:nvSpPr>
        <p:spPr>
          <a:xfrm>
            <a:off x="457200" y="3291840"/>
            <a:ext cx="704088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The course or program, with its code. Sets the register.  → wizard: The training it lives inside</a:t>
            </a:r>
          </a:p>
        </p:txBody>
      </p:sp>
      <p:sp>
        <p:nvSpPr>
          <p:cNvPr id="12" name="help"/>
          <p:cNvSpPr txBox="1"/>
          <p:nvPr/>
        </p:nvSpPr>
        <p:spPr>
          <a:xfrm>
            <a:off x="457200" y="4389120"/>
            <a:ext cx="338328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Who to ask about this brief.</a:t>
            </a:r>
          </a:p>
        </p:txBody>
      </p:sp>
      <p:sp>
        <p:nvSpPr>
          <p:cNvPr id="13" name="help"/>
          <p:cNvSpPr txBox="1"/>
          <p:nvPr/>
        </p:nvSpPr>
        <p:spPr>
          <a:xfrm>
            <a:off x="4114800" y="4389120"/>
            <a:ext cx="338328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Your own versioning. PowerPoint keeps the history.</a:t>
            </a:r>
          </a:p>
        </p:txBody>
      </p:sp>
      <p:sp>
        <p:nvSpPr>
          <p:cNvPr id="14" name="help"/>
          <p:cNvSpPr txBox="1"/>
          <p:nvPr/>
        </p:nvSpPr>
        <p:spPr>
          <a:xfrm>
            <a:off x="457200" y="5486400"/>
            <a:ext cx="704088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Draft · SME review · Ready for the editor · Drafted in the editor</a:t>
            </a:r>
          </a:p>
        </p:txBody>
      </p:sp>
      <p:sp>
        <p:nvSpPr>
          <p:cNvPr id="15" name="footer"/>
          <p:cNvSpPr txBox="1"/>
          <p:nvPr/>
        </p:nvSpPr>
        <p:spPr>
          <a:xfrm>
            <a:off x="457200" y="6510528"/>
            <a:ext cx="5943600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1" i="0">
                <a:solidFill>
                  <a:srgbClr val="6B7785"/>
                </a:solidFill>
                <a:latin typeface="Calibri"/>
              </a:rPr>
              <a:t>Scenario Brief · template v1</a:t>
            </a:r>
            <a:r>
              <a:rPr sz="800" b="0" i="0">
                <a:solidFill>
                  <a:srgbClr val="6B7785"/>
                </a:solidFill>
                <a:latin typeface="Calibri"/>
              </a:rPr>
              <a:t>  ·  Aithera Scenario Simulator</a:t>
            </a:r>
          </a:p>
        </p:txBody>
      </p:sp>
      <p:sp>
        <p:nvSpPr>
          <p:cNvPr id="16" name="footer"/>
          <p:cNvSpPr txBox="1"/>
          <p:nvPr/>
        </p:nvSpPr>
        <p:spPr>
          <a:xfrm>
            <a:off x="6309360" y="6510528"/>
            <a:ext cx="5422392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0" i="1">
                <a:solidFill>
                  <a:srgbClr val="6B7785"/>
                </a:solidFill>
                <a:latin typeface="Calibri"/>
              </a:rPr>
              <a:t>Fields are placeholders — type into them. Text boxes and tables are not exported.</a:t>
            </a:r>
          </a:p>
        </p:txBody>
      </p:sp>
      <p:sp>
        <p:nvSpPr>
          <p:cNvPr id="17" name="panel"/>
          <p:cNvSpPr/>
          <p:nvPr/>
        </p:nvSpPr>
        <p:spPr>
          <a:xfrm>
            <a:off x="7863840" y="1097280"/>
            <a:ext cx="3867912" cy="4663440"/>
          </a:xfrm>
          <a:prstGeom prst="roundRect">
            <a:avLst>
              <a:gd name="adj" fmla="val 4500"/>
            </a:avLst>
          </a:prstGeom>
          <a:solidFill>
            <a:srgbClr val="E3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howto"/>
          <p:cNvSpPr txBox="1"/>
          <p:nvPr/>
        </p:nvSpPr>
        <p:spPr>
          <a:xfrm>
            <a:off x="7863840" y="1097280"/>
            <a:ext cx="3867912" cy="4663440"/>
          </a:xfrm>
          <a:prstGeom prst="rect">
            <a:avLst/>
          </a:prstGeom>
          <a:noFill/>
        </p:spPr>
        <p:txBody>
          <a:bodyPr wrap="square" lIns="182880" rIns="182880" tIns="146304">
            <a:spAutoFit/>
          </a:bodyPr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HOW THIS BRIEF WORKS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1F2A37"/>
                </a:solidFill>
                <a:latin typeface="Calibri"/>
              </a:rPr>
              <a:t>Type into the fields.</a:t>
            </a:r>
            <a:r>
              <a:rPr sz="1000" b="0" i="0">
                <a:solidFill>
                  <a:srgbClr val="43505E"/>
                </a:solidFill>
                <a:latin typeface="Calibri"/>
              </a:rPr>
              <a:t> Every field is a placeholder. Outline view exports exactly what you type — and only that.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1F2A37"/>
                </a:solidFill>
                <a:latin typeface="Calibri"/>
              </a:rPr>
              <a:t>Keep the label line</a:t>
            </a:r>
            <a:r>
              <a:rPr sz="1000" b="0" i="0">
                <a:solidFill>
                  <a:srgbClr val="43505E"/>
                </a:solidFill>
                <a:latin typeface="Calibri"/>
              </a:rPr>
              <a:t> at the top of each field. It is how the editor knows what it is reading.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1F2A37"/>
                </a:solidFill>
                <a:latin typeface="Calibri"/>
              </a:rPr>
              <a:t>One idea per line</a:t>
            </a:r>
            <a:r>
              <a:rPr sz="1000" b="0" i="0">
                <a:solidFill>
                  <a:srgbClr val="43505E"/>
                </a:solidFill>
                <a:latin typeface="Calibri"/>
              </a:rPr>
              <a:t> in list fields. No bullets needed.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1F2A37"/>
                </a:solidFill>
                <a:latin typeface="Calibri"/>
              </a:rPr>
              <a:t>Quotes mean verbatim.</a:t>
            </a:r>
            <a:r>
              <a:rPr sz="1000" b="0" i="0">
                <a:solidFill>
                  <a:srgbClr val="43505E"/>
                </a:solidFill>
                <a:latin typeface="Calibri"/>
              </a:rPr>
              <a:t> A field marked verbatim is what the learner reads, word for word. Everything else is guidance for the coach.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1F2A37"/>
                </a:solidFill>
                <a:latin typeface="Calibri"/>
              </a:rPr>
              <a:t>Duplicate a step slide</a:t>
            </a:r>
            <a:r>
              <a:rPr sz="1000" b="0" i="0">
                <a:solidFill>
                  <a:srgbClr val="43505E"/>
                </a:solidFill>
                <a:latin typeface="Calibri"/>
              </a:rPr>
              <a:t> for each new step (⌘D). Don’t insert one from the layout gallery — it arrives without its labels.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1F2A37"/>
                </a:solidFill>
                <a:latin typeface="Calibri"/>
              </a:rPr>
              <a:t>No engine notes.</a:t>
            </a:r>
            <a:r>
              <a:rPr sz="1000" b="0" i="0">
                <a:solidFill>
                  <a:srgbClr val="43505E"/>
                </a:solidFill>
                <a:latin typeface="Calibri"/>
              </a:rPr>
              <a:t> Triggers, input types, partner labels and button behavior are fixed by the player.</a:t>
            </a:r>
          </a:p>
          <a:p>
            <a:pPr>
              <a:spcBef>
                <a:spcPts val="500"/>
              </a:spcBef>
            </a:pPr>
            <a:r>
              <a:rPr sz="1000" b="1" i="0">
                <a:solidFill>
                  <a:srgbClr val="1F2A37"/>
                </a:solidFill>
                <a:latin typeface="Calibri"/>
              </a:rPr>
              <a:t>Copy out:</a:t>
            </a:r>
            <a:r>
              <a:rPr sz="1000" b="0" i="0">
                <a:solidFill>
                  <a:srgbClr val="43505E"/>
                </a:solidFill>
                <a:latin typeface="Calibri"/>
              </a:rPr>
              <a:t> View → Outline → select all → paste into the editor’s Start-from-scratch source box.</a:t>
            </a:r>
          </a:p>
        </p:txBody>
      </p:sp>
      <p:sp>
        <p:nvSpPr>
          <p:cNvPr id="19" name="title"/>
          <p:cNvSpPr/>
          <p:nvPr>
            <p:ph type="title"/>
          </p:nvPr>
        </p:nvSpPr>
        <p:spPr>
          <a:xfrm>
            <a:off x="457200" y="274320"/>
            <a:ext cx="7308799" cy="640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2400" b="1">
                <a:solidFill>
                  <a:srgbClr val="1F2A37"/>
                </a:solidFill>
                <a:latin typeface="Calibri"/>
              </a:defRPr>
            </a:lvl1pPr>
          </a:lstStyle>
          <a:p>
            <a:r>
              <a:rPr sz="2400" b="1" i="0">
                <a:solidFill>
                  <a:srgbClr val="1F2A37"/>
                </a:solidFill>
                <a:latin typeface="Calibri"/>
              </a:rPr>
              <a:t>SCENARIO BRIEF</a:t>
            </a:r>
          </a:p>
        </p:txBody>
      </p:sp>
      <p:sp>
        <p:nvSpPr>
          <p:cNvPr id="20" name="cover.title"/>
          <p:cNvSpPr/>
          <p:nvPr>
            <p:ph type="body" idx="10"/>
          </p:nvPr>
        </p:nvSpPr>
        <p:spPr>
          <a:xfrm>
            <a:off x="457200" y="1097280"/>
            <a:ext cx="7040880" cy="10972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24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24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SCENARIO TITLE</a:t>
            </a:r>
          </a:p>
          <a:p>
            <a:r>
              <a:rPr sz="24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21" name="cover.training"/>
          <p:cNvSpPr/>
          <p:nvPr>
            <p:ph type="body" idx="11"/>
          </p:nvPr>
        </p:nvSpPr>
        <p:spPr>
          <a:xfrm>
            <a:off x="457200" y="2651760"/>
            <a:ext cx="7040880" cy="640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4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4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TRAINING IT LIVES INSIDE</a:t>
            </a:r>
          </a:p>
          <a:p>
            <a:r>
              <a:rPr sz="14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22" name="cover.owner"/>
          <p:cNvSpPr/>
          <p:nvPr>
            <p:ph type="body" idx="12"/>
          </p:nvPr>
        </p:nvSpPr>
        <p:spPr>
          <a:xfrm>
            <a:off x="457200" y="3749039"/>
            <a:ext cx="3383280" cy="640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4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4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OWNER</a:t>
            </a:r>
          </a:p>
          <a:p>
            <a:r>
              <a:rPr sz="14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23" name="cover.version"/>
          <p:cNvSpPr/>
          <p:nvPr>
            <p:ph type="body" idx="13"/>
          </p:nvPr>
        </p:nvSpPr>
        <p:spPr>
          <a:xfrm>
            <a:off x="4114800" y="3749039"/>
            <a:ext cx="3383280" cy="640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4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4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VERSION · DATE</a:t>
            </a:r>
          </a:p>
          <a:p>
            <a:r>
              <a:rPr sz="14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24" name="cover.status"/>
          <p:cNvSpPr/>
          <p:nvPr>
            <p:ph type="body" idx="14"/>
          </p:nvPr>
        </p:nvSpPr>
        <p:spPr>
          <a:xfrm>
            <a:off x="457200" y="4846320"/>
            <a:ext cx="7040880" cy="640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4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4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STATUS</a:t>
            </a:r>
          </a:p>
          <a:p>
            <a:r>
              <a:rPr sz="14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rief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"/>
          <p:cNvSpPr/>
          <p:nvPr/>
        </p:nvSpPr>
        <p:spPr>
          <a:xfrm>
            <a:off x="457200" y="1097280"/>
            <a:ext cx="5532120" cy="11430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panel"/>
          <p:cNvSpPr/>
          <p:nvPr/>
        </p:nvSpPr>
        <p:spPr>
          <a:xfrm>
            <a:off x="6199632" y="1097280"/>
            <a:ext cx="5532120" cy="11430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panel"/>
          <p:cNvSpPr/>
          <p:nvPr/>
        </p:nvSpPr>
        <p:spPr>
          <a:xfrm>
            <a:off x="457200" y="2468880"/>
            <a:ext cx="7040880" cy="3977639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panel"/>
          <p:cNvSpPr/>
          <p:nvPr/>
        </p:nvSpPr>
        <p:spPr>
          <a:xfrm>
            <a:off x="7708392" y="2468880"/>
            <a:ext cx="4023360" cy="3977639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anel"/>
          <p:cNvSpPr/>
          <p:nvPr/>
        </p:nvSpPr>
        <p:spPr>
          <a:xfrm>
            <a:off x="7249363" y="384048"/>
            <a:ext cx="4485132" cy="329184"/>
          </a:xfrm>
          <a:prstGeom prst="roundRect">
            <a:avLst>
              <a:gd name="adj" fmla="val 4500"/>
            </a:avLst>
          </a:prstGeom>
          <a:solidFill>
            <a:srgbClr val="E3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hip"/>
          <p:cNvSpPr txBox="1"/>
          <p:nvPr/>
        </p:nvSpPr>
        <p:spPr>
          <a:xfrm>
            <a:off x="7249363" y="384048"/>
            <a:ext cx="4485132" cy="329184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900" b="0" i="0">
                <a:solidFill>
                  <a:srgbClr val="43505E"/>
                </a:solidFill>
                <a:latin typeface="Calibri"/>
              </a:rPr>
              <a:t>Wizard step 1 · The brief  →  Editor · Basics + Steps</a:t>
            </a:r>
          </a:p>
        </p:txBody>
      </p:sp>
      <p:sp>
        <p:nvSpPr>
          <p:cNvPr id="9" name="help"/>
          <p:cNvSpPr txBox="1"/>
          <p:nvPr/>
        </p:nvSpPr>
        <p:spPr>
          <a:xfrm>
            <a:off x="457200" y="1965960"/>
            <a:ext cx="553212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One line. Everything else builds on this.  → wizard: What is this scenario about?</a:t>
            </a:r>
          </a:p>
        </p:txBody>
      </p:sp>
      <p:sp>
        <p:nvSpPr>
          <p:cNvPr id="10" name="help"/>
          <p:cNvSpPr txBox="1"/>
          <p:nvPr/>
        </p:nvSpPr>
        <p:spPr>
          <a:xfrm>
            <a:off x="6199632" y="1965960"/>
            <a:ext cx="553212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Their position in the situation — placed to notice, decide or act.  → wizard: Who does the learner play?</a:t>
            </a:r>
          </a:p>
        </p:txBody>
      </p:sp>
      <p:sp>
        <p:nvSpPr>
          <p:cNvPr id="11" name="help"/>
          <p:cNvSpPr txBox="1"/>
          <p:nvPr/>
        </p:nvSpPr>
        <p:spPr>
          <a:xfrm>
            <a:off x="457200" y="6172200"/>
            <a:ext cx="704088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coach: / roleplay: / observe: then what happens, e.g. “coach: does this qualify as harassment?”  → wizard: The steps</a:t>
            </a:r>
          </a:p>
        </p:txBody>
      </p:sp>
      <p:sp>
        <p:nvSpPr>
          <p:cNvPr id="12" name="help"/>
          <p:cNvSpPr txBox="1"/>
          <p:nvPr/>
        </p:nvSpPr>
        <p:spPr>
          <a:xfrm>
            <a:off x="7708392" y="6172200"/>
            <a:ext cx="402336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Course file, slide numbers, policies. Paste the text on a SOURCE MATERIAL slide.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457200" y="6510528"/>
            <a:ext cx="5943600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1" i="0">
                <a:solidFill>
                  <a:srgbClr val="6B7785"/>
                </a:solidFill>
                <a:latin typeface="Calibri"/>
              </a:rPr>
              <a:t>Scenario Brief · template v1</a:t>
            </a:r>
            <a:r>
              <a:rPr sz="800" b="0" i="0">
                <a:solidFill>
                  <a:srgbClr val="6B7785"/>
                </a:solidFill>
                <a:latin typeface="Calibri"/>
              </a:rPr>
              <a:t>  ·  Aithera Scenario Simulator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6309360" y="6510528"/>
            <a:ext cx="5422392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0" i="1">
                <a:solidFill>
                  <a:srgbClr val="6B7785"/>
                </a:solidFill>
                <a:latin typeface="Calibri"/>
              </a:rPr>
              <a:t>Fields are placeholders — type into them. Text boxes and tables are not exported.</a:t>
            </a:r>
          </a:p>
        </p:txBody>
      </p:sp>
      <p:sp>
        <p:nvSpPr>
          <p:cNvPr id="15" name="title"/>
          <p:cNvSpPr/>
          <p:nvPr>
            <p:ph type="title"/>
          </p:nvPr>
        </p:nvSpPr>
        <p:spPr>
          <a:xfrm>
            <a:off x="457200" y="274320"/>
            <a:ext cx="6609283" cy="640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2400" b="1">
                <a:solidFill>
                  <a:srgbClr val="1F2A37"/>
                </a:solidFill>
                <a:latin typeface="Calibri"/>
              </a:defRPr>
            </a:lvl1pPr>
          </a:lstStyle>
          <a:p>
            <a:r>
              <a:rPr sz="2400" b="1" i="0">
                <a:solidFill>
                  <a:srgbClr val="1F2A37"/>
                </a:solidFill>
                <a:latin typeface="Calibri"/>
              </a:rPr>
              <a:t>THE BRIEF</a:t>
            </a:r>
          </a:p>
        </p:txBody>
      </p:sp>
      <p:sp>
        <p:nvSpPr>
          <p:cNvPr id="16" name="brief.topic"/>
          <p:cNvSpPr/>
          <p:nvPr>
            <p:ph type="body" idx="10"/>
          </p:nvPr>
        </p:nvSpPr>
        <p:spPr>
          <a:xfrm>
            <a:off x="457200" y="1097280"/>
            <a:ext cx="5532120" cy="8686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2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2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TOPIC</a:t>
            </a:r>
          </a:p>
          <a:p>
            <a:r>
              <a:rPr sz="12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7" name="brief.learner"/>
          <p:cNvSpPr/>
          <p:nvPr>
            <p:ph type="body" idx="11"/>
          </p:nvPr>
        </p:nvSpPr>
        <p:spPr>
          <a:xfrm>
            <a:off x="6199632" y="1097280"/>
            <a:ext cx="5532120" cy="8686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2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2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THE LEARNER PLAYS</a:t>
            </a:r>
          </a:p>
          <a:p>
            <a:r>
              <a:rPr sz="12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8" name="brief.steps"/>
          <p:cNvSpPr/>
          <p:nvPr>
            <p:ph type="body" idx="12"/>
          </p:nvPr>
        </p:nvSpPr>
        <p:spPr>
          <a:xfrm>
            <a:off x="457200" y="2468880"/>
            <a:ext cx="7040880" cy="37033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2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2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STEPS, IN ORDER — ONE PER LINE, EACH STARTING WITH ITS MODE</a:t>
            </a:r>
          </a:p>
          <a:p>
            <a:r>
              <a:rPr sz="12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9" name="brief.sources"/>
          <p:cNvSpPr/>
          <p:nvPr>
            <p:ph type="body" idx="13"/>
          </p:nvPr>
        </p:nvSpPr>
        <p:spPr>
          <a:xfrm>
            <a:off x="7708392" y="2468880"/>
            <a:ext cx="4023360" cy="37033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2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2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SOURCE SLIDES OR DOCUMENTS</a:t>
            </a:r>
          </a:p>
          <a:p>
            <a:r>
              <a:rPr sz="12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ituation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"/>
          <p:cNvSpPr/>
          <p:nvPr/>
        </p:nvSpPr>
        <p:spPr>
          <a:xfrm>
            <a:off x="457200" y="1097280"/>
            <a:ext cx="6903720" cy="534924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panel"/>
          <p:cNvSpPr/>
          <p:nvPr/>
        </p:nvSpPr>
        <p:spPr>
          <a:xfrm>
            <a:off x="7571231" y="1097280"/>
            <a:ext cx="4160520" cy="123444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panel"/>
          <p:cNvSpPr/>
          <p:nvPr/>
        </p:nvSpPr>
        <p:spPr>
          <a:xfrm>
            <a:off x="7571231" y="2560320"/>
            <a:ext cx="4160520" cy="38862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panel"/>
          <p:cNvSpPr/>
          <p:nvPr/>
        </p:nvSpPr>
        <p:spPr>
          <a:xfrm>
            <a:off x="7016191" y="384048"/>
            <a:ext cx="4718304" cy="329184"/>
          </a:xfrm>
          <a:prstGeom prst="roundRect">
            <a:avLst>
              <a:gd name="adj" fmla="val 4500"/>
            </a:avLst>
          </a:prstGeom>
          <a:solidFill>
            <a:srgbClr val="E3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hip"/>
          <p:cNvSpPr txBox="1"/>
          <p:nvPr/>
        </p:nvSpPr>
        <p:spPr>
          <a:xfrm>
            <a:off x="7016191" y="384048"/>
            <a:ext cx="4718304" cy="329184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900" b="0" i="0">
                <a:solidFill>
                  <a:srgbClr val="43505E"/>
                </a:solidFill>
                <a:latin typeface="Calibri"/>
              </a:rPr>
              <a:t>Wizard step 2 · The world  →  Editor · Situation &amp; world</a:t>
            </a:r>
          </a:p>
        </p:txBody>
      </p:sp>
      <p:sp>
        <p:nvSpPr>
          <p:cNvPr id="8" name="help"/>
          <p:cNvSpPr txBox="1"/>
          <p:nvPr/>
        </p:nvSpPr>
        <p:spPr>
          <a:xfrm>
            <a:off x="457200" y="6172200"/>
            <a:ext cx="690372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1" i="0">
                <a:solidFill>
                  <a:srgbClr val="6B7785"/>
                </a:solidFill>
                <a:latin typeface="Calibri"/>
              </a:rPr>
              <a:t>VERBATIM  </a:t>
            </a:r>
            <a:r>
              <a:rPr sz="750" b="0" i="1">
                <a:solidFill>
                  <a:srgbClr val="6B7785"/>
                </a:solidFill>
                <a:latin typeface="Calibri"/>
              </a:rPr>
              <a:t>Second person, present tense. The learner reads it, and it is the coach’s only picture of the setup.  → v4: narrative</a:t>
            </a:r>
          </a:p>
        </p:txBody>
      </p:sp>
      <p:sp>
        <p:nvSpPr>
          <p:cNvPr id="9" name="help"/>
          <p:cNvSpPr txBox="1"/>
          <p:nvPr/>
        </p:nvSpPr>
        <p:spPr>
          <a:xfrm>
            <a:off x="7571231" y="2057400"/>
            <a:ext cx="416052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Where this happens, in one line. The coach never sees it.  → v4: scene_world.setting</a:t>
            </a:r>
          </a:p>
        </p:txBody>
      </p:sp>
      <p:sp>
        <p:nvSpPr>
          <p:cNvPr id="10" name="help"/>
          <p:cNvSpPr txBox="1"/>
          <p:nvPr/>
        </p:nvSpPr>
        <p:spPr>
          <a:xfrm>
            <a:off x="7571231" y="6172200"/>
            <a:ext cx="416052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Identity and disposition only; reactions go on the step.  → v4: scene_world.characters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6510528"/>
            <a:ext cx="5943600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1" i="0">
                <a:solidFill>
                  <a:srgbClr val="6B7785"/>
                </a:solidFill>
                <a:latin typeface="Calibri"/>
              </a:rPr>
              <a:t>Scenario Brief · template v1</a:t>
            </a:r>
            <a:r>
              <a:rPr sz="800" b="0" i="0">
                <a:solidFill>
                  <a:srgbClr val="6B7785"/>
                </a:solidFill>
                <a:latin typeface="Calibri"/>
              </a:rPr>
              <a:t>  ·  Aithera Scenario Simulator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6309360" y="6510528"/>
            <a:ext cx="5422392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0" i="1">
                <a:solidFill>
                  <a:srgbClr val="6B7785"/>
                </a:solidFill>
                <a:latin typeface="Calibri"/>
              </a:rPr>
              <a:t>Fields are placeholders — type into them. Text boxes and tables are not exported.</a:t>
            </a:r>
          </a:p>
        </p:txBody>
      </p:sp>
      <p:sp>
        <p:nvSpPr>
          <p:cNvPr id="13" name="title"/>
          <p:cNvSpPr/>
          <p:nvPr>
            <p:ph type="title"/>
          </p:nvPr>
        </p:nvSpPr>
        <p:spPr>
          <a:xfrm>
            <a:off x="457200" y="274320"/>
            <a:ext cx="6376111" cy="640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2400" b="1">
                <a:solidFill>
                  <a:srgbClr val="1F2A37"/>
                </a:solidFill>
                <a:latin typeface="Calibri"/>
              </a:defRPr>
            </a:lvl1pPr>
          </a:lstStyle>
          <a:p>
            <a:r>
              <a:rPr sz="2400" b="1" i="0">
                <a:solidFill>
                  <a:srgbClr val="1F2A37"/>
                </a:solidFill>
                <a:latin typeface="Calibri"/>
              </a:rPr>
              <a:t>THE SITUATION</a:t>
            </a:r>
          </a:p>
        </p:txBody>
      </p:sp>
      <p:sp>
        <p:nvSpPr>
          <p:cNvPr id="14" name="situation.narrative"/>
          <p:cNvSpPr/>
          <p:nvPr>
            <p:ph type="body" idx="10"/>
          </p:nvPr>
        </p:nvSpPr>
        <p:spPr>
          <a:xfrm>
            <a:off x="457200" y="1097280"/>
            <a:ext cx="6903720" cy="50749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1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1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WHAT’S TRUE AS THE SCENARIO OPENS — WRITTEN TO THE LEARNER</a:t>
            </a:r>
          </a:p>
          <a:p>
            <a:r>
              <a:rPr sz="11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5" name="situation.setting"/>
          <p:cNvSpPr/>
          <p:nvPr>
            <p:ph type="body" idx="11"/>
          </p:nvPr>
        </p:nvSpPr>
        <p:spPr>
          <a:xfrm>
            <a:off x="7571231" y="1097280"/>
            <a:ext cx="4160520" cy="9601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2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2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SETTING</a:t>
            </a:r>
          </a:p>
          <a:p>
            <a:r>
              <a:rPr sz="12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6" name="situation.cast"/>
          <p:cNvSpPr/>
          <p:nvPr>
            <p:ph type="body" idx="12"/>
          </p:nvPr>
        </p:nvSpPr>
        <p:spPr>
          <a:xfrm>
            <a:off x="7571231" y="2560320"/>
            <a:ext cx="4160520" cy="36118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1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1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CAST — NAME — ROLE — DRIVER — NEVER DOES</a:t>
            </a:r>
          </a:p>
          <a:p>
            <a:r>
              <a:rPr sz="11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eaching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"/>
          <p:cNvSpPr/>
          <p:nvPr/>
        </p:nvSpPr>
        <p:spPr>
          <a:xfrm>
            <a:off x="457200" y="1097280"/>
            <a:ext cx="5532120" cy="27432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panel"/>
          <p:cNvSpPr/>
          <p:nvPr/>
        </p:nvSpPr>
        <p:spPr>
          <a:xfrm>
            <a:off x="457200" y="4069080"/>
            <a:ext cx="5532120" cy="237744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panel"/>
          <p:cNvSpPr/>
          <p:nvPr/>
        </p:nvSpPr>
        <p:spPr>
          <a:xfrm>
            <a:off x="6199632" y="1097280"/>
            <a:ext cx="5532120" cy="352044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panel"/>
          <p:cNvSpPr/>
          <p:nvPr/>
        </p:nvSpPr>
        <p:spPr>
          <a:xfrm>
            <a:off x="6199632" y="4846320"/>
            <a:ext cx="5532120" cy="16002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anel"/>
          <p:cNvSpPr/>
          <p:nvPr/>
        </p:nvSpPr>
        <p:spPr>
          <a:xfrm>
            <a:off x="5850331" y="384048"/>
            <a:ext cx="5884164" cy="329184"/>
          </a:xfrm>
          <a:prstGeom prst="roundRect">
            <a:avLst>
              <a:gd name="adj" fmla="val 4500"/>
            </a:avLst>
          </a:prstGeom>
          <a:solidFill>
            <a:srgbClr val="E3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hip"/>
          <p:cNvSpPr txBox="1"/>
          <p:nvPr/>
        </p:nvSpPr>
        <p:spPr>
          <a:xfrm>
            <a:off x="5850331" y="384048"/>
            <a:ext cx="5884164" cy="329184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900" b="0" i="0">
                <a:solidFill>
                  <a:srgbClr val="43505E"/>
                </a:solidFill>
                <a:latin typeface="Calibri"/>
              </a:rPr>
              <a:t>Wizard step 2 · The teaching  →  Editor · Teaching points + Coach voice</a:t>
            </a:r>
          </a:p>
        </p:txBody>
      </p:sp>
      <p:sp>
        <p:nvSpPr>
          <p:cNvPr id="9" name="help"/>
          <p:cNvSpPr txBox="1"/>
          <p:nvPr/>
        </p:nvSpPr>
        <p:spPr>
          <a:xfrm>
            <a:off x="457200" y="3566160"/>
            <a:ext cx="553212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What every learner walks away knowing — the teaching points and the expert answer.  → v4: teaching_points</a:t>
            </a:r>
          </a:p>
        </p:txBody>
      </p:sp>
      <p:sp>
        <p:nvSpPr>
          <p:cNvPr id="10" name="help"/>
          <p:cNvSpPr txBox="1"/>
          <p:nvPr/>
        </p:nvSpPr>
        <p:spPr>
          <a:xfrm>
            <a:off x="457200" y="6172200"/>
            <a:ext cx="553212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What separates a strong pass from a thin one. Feeds the grading tiers on every step.  → wizard</a:t>
            </a:r>
          </a:p>
        </p:txBody>
      </p:sp>
      <p:sp>
        <p:nvSpPr>
          <p:cNvPr id="11" name="help"/>
          <p:cNvSpPr txBox="1"/>
          <p:nvPr/>
        </p:nvSpPr>
        <p:spPr>
          <a:xfrm>
            <a:off x="6199632" y="4343400"/>
            <a:ext cx="553212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The misconception in the learner’s words, an arrow, then the coach’s redirect.  → v4: misconceptions</a:t>
            </a:r>
          </a:p>
        </p:txBody>
      </p:sp>
      <p:sp>
        <p:nvSpPr>
          <p:cNvPr id="12" name="help"/>
          <p:cNvSpPr txBox="1"/>
          <p:nvPr/>
        </p:nvSpPr>
        <p:spPr>
          <a:xfrm>
            <a:off x="6199632" y="6172200"/>
            <a:ext cx="553212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How the coach comes across — a stance, not engine rules.  → v4: coach_persona + tone_guidelines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457200" y="6510528"/>
            <a:ext cx="5943600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1" i="0">
                <a:solidFill>
                  <a:srgbClr val="6B7785"/>
                </a:solidFill>
                <a:latin typeface="Calibri"/>
              </a:rPr>
              <a:t>Scenario Brief · template v1</a:t>
            </a:r>
            <a:r>
              <a:rPr sz="800" b="0" i="0">
                <a:solidFill>
                  <a:srgbClr val="6B7785"/>
                </a:solidFill>
                <a:latin typeface="Calibri"/>
              </a:rPr>
              <a:t>  ·  Aithera Scenario Simulator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6309360" y="6510528"/>
            <a:ext cx="5422392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0" i="1">
                <a:solidFill>
                  <a:srgbClr val="6B7785"/>
                </a:solidFill>
                <a:latin typeface="Calibri"/>
              </a:rPr>
              <a:t>Fields are placeholders — type into them. Text boxes and tables are not exported.</a:t>
            </a:r>
          </a:p>
        </p:txBody>
      </p:sp>
      <p:sp>
        <p:nvSpPr>
          <p:cNvPr id="15" name="title"/>
          <p:cNvSpPr/>
          <p:nvPr>
            <p:ph type="title"/>
          </p:nvPr>
        </p:nvSpPr>
        <p:spPr>
          <a:xfrm>
            <a:off x="457200" y="274320"/>
            <a:ext cx="5210251" cy="640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2400" b="1">
                <a:solidFill>
                  <a:srgbClr val="1F2A37"/>
                </a:solidFill>
                <a:latin typeface="Calibri"/>
              </a:defRPr>
            </a:lvl1pPr>
          </a:lstStyle>
          <a:p>
            <a:r>
              <a:rPr sz="2400" b="1" i="0">
                <a:solidFill>
                  <a:srgbClr val="1F2A37"/>
                </a:solidFill>
                <a:latin typeface="Calibri"/>
              </a:rPr>
              <a:t>THE TEACHING</a:t>
            </a:r>
          </a:p>
        </p:txBody>
      </p:sp>
      <p:sp>
        <p:nvSpPr>
          <p:cNvPr id="16" name="teaching.mustknows"/>
          <p:cNvSpPr/>
          <p:nvPr>
            <p:ph type="body" idx="10"/>
          </p:nvPr>
        </p:nvSpPr>
        <p:spPr>
          <a:xfrm>
            <a:off x="457200" y="1097280"/>
            <a:ext cx="5532120" cy="24688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2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2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MUST-KNOWS — 3 TO 6, ONE PER LINE</a:t>
            </a:r>
          </a:p>
          <a:p>
            <a:r>
              <a:rPr sz="12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7" name="teaching.strongweak"/>
          <p:cNvSpPr/>
          <p:nvPr>
            <p:ph type="body" idx="11"/>
          </p:nvPr>
        </p:nvSpPr>
        <p:spPr>
          <a:xfrm>
            <a:off x="457200" y="4069080"/>
            <a:ext cx="5532120" cy="21031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2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2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STRONG HANDLING VS. WEAK</a:t>
            </a:r>
          </a:p>
          <a:p>
            <a:r>
              <a:rPr sz="12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8" name="teaching.misconceptions"/>
          <p:cNvSpPr/>
          <p:nvPr>
            <p:ph type="body" idx="12"/>
          </p:nvPr>
        </p:nvSpPr>
        <p:spPr>
          <a:xfrm>
            <a:off x="6199632" y="1097280"/>
            <a:ext cx="5532120" cy="32461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2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2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COMMON WRONG ANSWERS → THE REDIRECT</a:t>
            </a:r>
          </a:p>
          <a:p>
            <a:r>
              <a:rPr sz="12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9" name="teaching.voice"/>
          <p:cNvSpPr/>
          <p:nvPr>
            <p:ph type="body" idx="13"/>
          </p:nvPr>
        </p:nvSpPr>
        <p:spPr>
          <a:xfrm>
            <a:off x="6199632" y="4846320"/>
            <a:ext cx="5532120" cy="13258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2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2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COACH VOICE</a:t>
            </a:r>
          </a:p>
          <a:p>
            <a:r>
              <a:rPr sz="12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Opening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"/>
          <p:cNvSpPr/>
          <p:nvPr/>
        </p:nvSpPr>
        <p:spPr>
          <a:xfrm>
            <a:off x="457200" y="1097280"/>
            <a:ext cx="7680960" cy="214884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panel"/>
          <p:cNvSpPr/>
          <p:nvPr/>
        </p:nvSpPr>
        <p:spPr>
          <a:xfrm>
            <a:off x="8348472" y="1097280"/>
            <a:ext cx="3383280" cy="214884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panel"/>
          <p:cNvSpPr/>
          <p:nvPr/>
        </p:nvSpPr>
        <p:spPr>
          <a:xfrm>
            <a:off x="457200" y="3474720"/>
            <a:ext cx="11274552" cy="29718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panel"/>
          <p:cNvSpPr/>
          <p:nvPr/>
        </p:nvSpPr>
        <p:spPr>
          <a:xfrm>
            <a:off x="5306263" y="384048"/>
            <a:ext cx="6428232" cy="329184"/>
          </a:xfrm>
          <a:prstGeom prst="roundRect">
            <a:avLst>
              <a:gd name="adj" fmla="val 4500"/>
            </a:avLst>
          </a:prstGeom>
          <a:solidFill>
            <a:srgbClr val="E3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hip"/>
          <p:cNvSpPr txBox="1"/>
          <p:nvPr/>
        </p:nvSpPr>
        <p:spPr>
          <a:xfrm>
            <a:off x="5306263" y="384048"/>
            <a:ext cx="6428232" cy="329184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900" b="0" i="0">
                <a:solidFill>
                  <a:srgbClr val="43505E"/>
                </a:solidFill>
                <a:latin typeface="Calibri"/>
              </a:rPr>
              <a:t>Optional warm-up · delete the slide to skip it  →  Editor · Opening reflection</a:t>
            </a:r>
          </a:p>
        </p:txBody>
      </p:sp>
      <p:sp>
        <p:nvSpPr>
          <p:cNvPr id="8" name="help"/>
          <p:cNvSpPr txBox="1"/>
          <p:nvPr/>
        </p:nvSpPr>
        <p:spPr>
          <a:xfrm>
            <a:off x="457200" y="2971800"/>
            <a:ext cx="768096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1" i="0">
                <a:solidFill>
                  <a:srgbClr val="6B7785"/>
                </a:solidFill>
                <a:latin typeface="Calibri"/>
              </a:rPr>
              <a:t>VERBATIM  </a:t>
            </a:r>
            <a:r>
              <a:rPr sz="750" b="0" i="1">
                <a:solidFill>
                  <a:srgbClr val="6B7785"/>
                </a:solidFill>
                <a:latin typeface="Calibri"/>
              </a:rPr>
              <a:t>One ungraded gut-reaction question before the first step. In quotes = the learner reads exactly this.  → v4: opening</a:t>
            </a:r>
          </a:p>
        </p:txBody>
      </p:sp>
      <p:sp>
        <p:nvSpPr>
          <p:cNvPr id="9" name="help"/>
          <p:cNvSpPr txBox="1"/>
          <p:nvPr/>
        </p:nvSpPr>
        <p:spPr>
          <a:xfrm>
            <a:off x="8348472" y="2971800"/>
            <a:ext cx="338328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1 or 2 learner turns. Calibrated, never graded.  → v4: opening.exit</a:t>
            </a:r>
          </a:p>
        </p:txBody>
      </p:sp>
      <p:sp>
        <p:nvSpPr>
          <p:cNvPr id="10" name="help"/>
          <p:cNvSpPr txBox="1"/>
          <p:nvPr/>
        </p:nvSpPr>
        <p:spPr>
          <a:xfrm>
            <a:off x="457200" y="6172200"/>
            <a:ext cx="11274552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Guidance for the coach: what a typical first answer contains (the misconception to expect), and how to acknowledge it without grading or previewing what comes next.  → v4: opening.levels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6510528"/>
            <a:ext cx="5943600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1" i="0">
                <a:solidFill>
                  <a:srgbClr val="6B7785"/>
                </a:solidFill>
                <a:latin typeface="Calibri"/>
              </a:rPr>
              <a:t>Scenario Brief · template v1</a:t>
            </a:r>
            <a:r>
              <a:rPr sz="800" b="0" i="0">
                <a:solidFill>
                  <a:srgbClr val="6B7785"/>
                </a:solidFill>
                <a:latin typeface="Calibri"/>
              </a:rPr>
              <a:t>  ·  Aithera Scenario Simulator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6309360" y="6510528"/>
            <a:ext cx="5422392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0" i="1">
                <a:solidFill>
                  <a:srgbClr val="6B7785"/>
                </a:solidFill>
                <a:latin typeface="Calibri"/>
              </a:rPr>
              <a:t>Fields are placeholders — type into them. Text boxes and tables are not exported.</a:t>
            </a:r>
          </a:p>
        </p:txBody>
      </p:sp>
      <p:sp>
        <p:nvSpPr>
          <p:cNvPr id="13" name="title"/>
          <p:cNvSpPr/>
          <p:nvPr>
            <p:ph type="title"/>
          </p:nvPr>
        </p:nvSpPr>
        <p:spPr>
          <a:xfrm>
            <a:off x="457200" y="274320"/>
            <a:ext cx="4666183" cy="640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2400" b="1">
                <a:solidFill>
                  <a:srgbClr val="1F2A37"/>
                </a:solidFill>
                <a:latin typeface="Calibri"/>
              </a:defRPr>
            </a:lvl1pPr>
          </a:lstStyle>
          <a:p>
            <a:r>
              <a:rPr sz="2400" b="1" i="0">
                <a:solidFill>
                  <a:srgbClr val="1F2A37"/>
                </a:solidFill>
                <a:latin typeface="Calibri"/>
              </a:rPr>
              <a:t>THE OPENING</a:t>
            </a:r>
          </a:p>
        </p:txBody>
      </p:sp>
      <p:sp>
        <p:nvSpPr>
          <p:cNvPr id="14" name="opening.question"/>
          <p:cNvSpPr/>
          <p:nvPr>
            <p:ph type="body" idx="10"/>
          </p:nvPr>
        </p:nvSpPr>
        <p:spPr>
          <a:xfrm>
            <a:off x="457200" y="1097280"/>
            <a:ext cx="7680960" cy="18745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4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4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WARM-UP QUESTION — VERBATIM, THE COACH’S FIRST LINE</a:t>
            </a:r>
          </a:p>
          <a:p>
            <a:r>
              <a:rPr sz="14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5" name="opening.turns"/>
          <p:cNvSpPr/>
          <p:nvPr>
            <p:ph type="body" idx="11"/>
          </p:nvPr>
        </p:nvSpPr>
        <p:spPr>
          <a:xfrm>
            <a:off x="8348472" y="1097280"/>
            <a:ext cx="3383280" cy="18745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4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4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TURNS</a:t>
            </a:r>
          </a:p>
          <a:p>
            <a:r>
              <a:rPr sz="14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6" name="opening.listen"/>
          <p:cNvSpPr/>
          <p:nvPr>
            <p:ph type="body" idx="12"/>
          </p:nvPr>
        </p:nvSpPr>
        <p:spPr>
          <a:xfrm>
            <a:off x="457200" y="3474720"/>
            <a:ext cx="11274552" cy="26974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2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2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LISTEN FOR — AND HOW TO ACKNOWLEDGE IT</a:t>
            </a:r>
          </a:p>
          <a:p>
            <a:r>
              <a:rPr sz="12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tep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"/>
          <p:cNvSpPr/>
          <p:nvPr/>
        </p:nvSpPr>
        <p:spPr>
          <a:xfrm>
            <a:off x="457200" y="1097280"/>
            <a:ext cx="2103120" cy="658368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panel"/>
          <p:cNvSpPr/>
          <p:nvPr/>
        </p:nvSpPr>
        <p:spPr>
          <a:xfrm>
            <a:off x="2706624" y="1097280"/>
            <a:ext cx="2103120" cy="658368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panel"/>
          <p:cNvSpPr/>
          <p:nvPr/>
        </p:nvSpPr>
        <p:spPr>
          <a:xfrm>
            <a:off x="4956048" y="1097280"/>
            <a:ext cx="1005840" cy="658368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panel"/>
          <p:cNvSpPr/>
          <p:nvPr/>
        </p:nvSpPr>
        <p:spPr>
          <a:xfrm>
            <a:off x="457200" y="1847088"/>
            <a:ext cx="5504688" cy="96012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anel"/>
          <p:cNvSpPr/>
          <p:nvPr/>
        </p:nvSpPr>
        <p:spPr>
          <a:xfrm>
            <a:off x="6172200" y="1097280"/>
            <a:ext cx="5559552" cy="1709928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panel"/>
          <p:cNvSpPr/>
          <p:nvPr/>
        </p:nvSpPr>
        <p:spPr>
          <a:xfrm>
            <a:off x="457200" y="2926080"/>
            <a:ext cx="3612794" cy="25146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panel"/>
          <p:cNvSpPr/>
          <p:nvPr/>
        </p:nvSpPr>
        <p:spPr>
          <a:xfrm>
            <a:off x="4289450" y="2926080"/>
            <a:ext cx="3612794" cy="25146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panel"/>
          <p:cNvSpPr/>
          <p:nvPr/>
        </p:nvSpPr>
        <p:spPr>
          <a:xfrm>
            <a:off x="8121700" y="2926080"/>
            <a:ext cx="3612794" cy="25146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panel"/>
          <p:cNvSpPr/>
          <p:nvPr/>
        </p:nvSpPr>
        <p:spPr>
          <a:xfrm>
            <a:off x="457200" y="5532120"/>
            <a:ext cx="11274552" cy="941832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panel"/>
          <p:cNvSpPr/>
          <p:nvPr/>
        </p:nvSpPr>
        <p:spPr>
          <a:xfrm>
            <a:off x="7249363" y="384048"/>
            <a:ext cx="4485132" cy="329184"/>
          </a:xfrm>
          <a:prstGeom prst="roundRect">
            <a:avLst>
              <a:gd name="adj" fmla="val 4500"/>
            </a:avLst>
          </a:prstGeom>
          <a:solidFill>
            <a:srgbClr val="E3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chip"/>
          <p:cNvSpPr txBox="1"/>
          <p:nvPr/>
        </p:nvSpPr>
        <p:spPr>
          <a:xfrm>
            <a:off x="7249363" y="384048"/>
            <a:ext cx="4485132" cy="329184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900" b="0" i="0">
                <a:solidFill>
                  <a:srgbClr val="43505E"/>
                </a:solidFill>
                <a:latin typeface="Calibri"/>
              </a:rPr>
              <a:t>Duplicate this slide for each step  →  Editor · Steps</a:t>
            </a:r>
          </a:p>
        </p:txBody>
      </p:sp>
      <p:sp>
        <p:nvSpPr>
          <p:cNvPr id="14" name="help"/>
          <p:cNvSpPr txBox="1"/>
          <p:nvPr/>
        </p:nvSpPr>
        <p:spPr>
          <a:xfrm>
            <a:off x="457200" y="1481328"/>
            <a:ext cx="210312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coach · roleplay · observe</a:t>
            </a:r>
          </a:p>
        </p:txBody>
      </p:sp>
      <p:sp>
        <p:nvSpPr>
          <p:cNvPr id="15" name="help"/>
          <p:cNvSpPr txBox="1"/>
          <p:nvPr/>
        </p:nvSpPr>
        <p:spPr>
          <a:xfrm>
            <a:off x="2706624" y="1481328"/>
            <a:ext cx="210312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Yes = the coach lands it. No = open.</a:t>
            </a:r>
          </a:p>
        </p:txBody>
      </p:sp>
      <p:sp>
        <p:nvSpPr>
          <p:cNvPr id="16" name="help"/>
          <p:cNvSpPr txBox="1"/>
          <p:nvPr/>
        </p:nvSpPr>
        <p:spPr>
          <a:xfrm>
            <a:off x="4956048" y="1481328"/>
            <a:ext cx="100584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Learner turns.</a:t>
            </a:r>
          </a:p>
        </p:txBody>
      </p:sp>
      <p:sp>
        <p:nvSpPr>
          <p:cNvPr id="17" name="help"/>
          <p:cNvSpPr txBox="1"/>
          <p:nvPr/>
        </p:nvSpPr>
        <p:spPr>
          <a:xfrm>
            <a:off x="457200" y="2532888"/>
            <a:ext cx="5504688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Guidance for the coach: the task, and what must be done to complete the step.  → v4: practice.purpose</a:t>
            </a:r>
          </a:p>
        </p:txBody>
      </p:sp>
      <p:sp>
        <p:nvSpPr>
          <p:cNvPr id="18" name="help"/>
          <p:cNvSpPr txBox="1"/>
          <p:nvPr/>
        </p:nvSpPr>
        <p:spPr>
          <a:xfrm>
            <a:off x="6172200" y="2532888"/>
            <a:ext cx="5559552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1" i="0">
                <a:solidFill>
                  <a:srgbClr val="6B7785"/>
                </a:solidFill>
                <a:latin typeface="Calibri"/>
              </a:rPr>
              <a:t>VERBATIM  </a:t>
            </a:r>
            <a:r>
              <a:rPr sz="750" b="0" i="1">
                <a:solidFill>
                  <a:srgbClr val="6B7785"/>
                </a:solidFill>
                <a:latin typeface="Calibri"/>
              </a:rPr>
              <a:t>coach: the task line · roleplay: Narrator / Character lines · observe: the brief over the exhibit</a:t>
            </a:r>
          </a:p>
        </p:txBody>
      </p:sp>
      <p:sp>
        <p:nvSpPr>
          <p:cNvPr id="19" name="help"/>
          <p:cNvSpPr txBox="1"/>
          <p:nvPr/>
        </p:nvSpPr>
        <p:spPr>
          <a:xfrm>
            <a:off x="457200" y="5166360"/>
            <a:ext cx="3612794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Recognise it · respond · move the scene  → v4: levels</a:t>
            </a:r>
          </a:p>
        </p:txBody>
      </p:sp>
      <p:sp>
        <p:nvSpPr>
          <p:cNvPr id="20" name="help"/>
          <p:cNvSpPr txBox="1"/>
          <p:nvPr/>
        </p:nvSpPr>
        <p:spPr>
          <a:xfrm>
            <a:off x="4289450" y="5166360"/>
            <a:ext cx="3612794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Recognise it · respond · move the scene  → v4: levels</a:t>
            </a:r>
          </a:p>
        </p:txBody>
      </p:sp>
      <p:sp>
        <p:nvSpPr>
          <p:cNvPr id="21" name="help"/>
          <p:cNvSpPr txBox="1"/>
          <p:nvPr/>
        </p:nvSpPr>
        <p:spPr>
          <a:xfrm>
            <a:off x="8121700" y="5166360"/>
            <a:ext cx="3612794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Recognise it · respond · move the scene  → v4: levels</a:t>
            </a:r>
          </a:p>
        </p:txBody>
      </p:sp>
      <p:sp>
        <p:nvSpPr>
          <p:cNvPr id="22" name="help"/>
          <p:cNvSpPr txBox="1"/>
          <p:nvPr/>
        </p:nvSpPr>
        <p:spPr>
          <a:xfrm>
            <a:off x="457200" y="6199632"/>
            <a:ext cx="11274552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Guidance for the coach. One point per line, or separated by  ·   → v4: debrief.key_points</a:t>
            </a:r>
          </a:p>
        </p:txBody>
      </p:sp>
      <p:sp>
        <p:nvSpPr>
          <p:cNvPr id="23" name="footer"/>
          <p:cNvSpPr txBox="1"/>
          <p:nvPr/>
        </p:nvSpPr>
        <p:spPr>
          <a:xfrm>
            <a:off x="457200" y="6510528"/>
            <a:ext cx="5943600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1" i="0">
                <a:solidFill>
                  <a:srgbClr val="6B7785"/>
                </a:solidFill>
                <a:latin typeface="Calibri"/>
              </a:rPr>
              <a:t>Scenario Brief · template v1</a:t>
            </a:r>
            <a:r>
              <a:rPr sz="800" b="0" i="0">
                <a:solidFill>
                  <a:srgbClr val="6B7785"/>
                </a:solidFill>
                <a:latin typeface="Calibri"/>
              </a:rPr>
              <a:t>  ·  Aithera Scenario Simulator</a:t>
            </a:r>
          </a:p>
        </p:txBody>
      </p:sp>
      <p:sp>
        <p:nvSpPr>
          <p:cNvPr id="24" name="footer"/>
          <p:cNvSpPr txBox="1"/>
          <p:nvPr/>
        </p:nvSpPr>
        <p:spPr>
          <a:xfrm>
            <a:off x="6309360" y="6510528"/>
            <a:ext cx="5422392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0" i="1">
                <a:solidFill>
                  <a:srgbClr val="6B7785"/>
                </a:solidFill>
                <a:latin typeface="Calibri"/>
              </a:rPr>
              <a:t>Fields are placeholders — type into them. Text boxes and tables are not exported.</a:t>
            </a:r>
          </a:p>
        </p:txBody>
      </p:sp>
      <p:sp>
        <p:nvSpPr>
          <p:cNvPr id="25" name="title"/>
          <p:cNvSpPr/>
          <p:nvPr>
            <p:ph type="title"/>
          </p:nvPr>
        </p:nvSpPr>
        <p:spPr>
          <a:xfrm>
            <a:off x="457200" y="274320"/>
            <a:ext cx="6609283" cy="640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2400" b="1">
                <a:solidFill>
                  <a:srgbClr val="1F2A37"/>
                </a:solidFill>
                <a:latin typeface="Calibri"/>
              </a:defRPr>
            </a:lvl1pPr>
          </a:lstStyle>
          <a:p>
            <a:r>
              <a:rPr sz="2400" b="1" i="0">
                <a:solidFill>
                  <a:srgbClr val="1F2A37"/>
                </a:solidFill>
                <a:latin typeface="Calibri"/>
              </a:rPr>
              <a:t>STEP N · The story’s own name for this segment</a:t>
            </a:r>
          </a:p>
        </p:txBody>
      </p:sp>
      <p:sp>
        <p:nvSpPr>
          <p:cNvPr id="26" name="step.mode"/>
          <p:cNvSpPr/>
          <p:nvPr>
            <p:ph type="body" idx="10"/>
          </p:nvPr>
        </p:nvSpPr>
        <p:spPr>
          <a:xfrm>
            <a:off x="457200" y="1097280"/>
            <a:ext cx="2103120" cy="384048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1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1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MODE</a:t>
            </a:r>
          </a:p>
          <a:p>
            <a:r>
              <a:rPr sz="11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27" name="step.right"/>
          <p:cNvSpPr/>
          <p:nvPr>
            <p:ph type="body" idx="11"/>
          </p:nvPr>
        </p:nvSpPr>
        <p:spPr>
          <a:xfrm>
            <a:off x="2706624" y="1097280"/>
            <a:ext cx="2103120" cy="384048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1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1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RIGHT ANSWER?</a:t>
            </a:r>
          </a:p>
          <a:p>
            <a:r>
              <a:rPr sz="11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28" name="step.turns"/>
          <p:cNvSpPr/>
          <p:nvPr>
            <p:ph type="body" idx="12"/>
          </p:nvPr>
        </p:nvSpPr>
        <p:spPr>
          <a:xfrm>
            <a:off x="4956048" y="1097280"/>
            <a:ext cx="1005840" cy="384048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1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1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TURNS</a:t>
            </a:r>
          </a:p>
          <a:p>
            <a:r>
              <a:rPr sz="11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29" name="step.does"/>
          <p:cNvSpPr/>
          <p:nvPr>
            <p:ph type="body" idx="13"/>
          </p:nvPr>
        </p:nvSpPr>
        <p:spPr>
          <a:xfrm>
            <a:off x="457200" y="1847088"/>
            <a:ext cx="5504688" cy="68580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0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0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WHAT THE LEARNER DOES HERE — AND WHY NOW</a:t>
            </a:r>
          </a:p>
          <a:p>
            <a:r>
              <a:rPr sz="10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30" name="step.opener"/>
          <p:cNvSpPr/>
          <p:nvPr>
            <p:ph type="body" idx="14"/>
          </p:nvPr>
        </p:nvSpPr>
        <p:spPr>
          <a:xfrm>
            <a:off x="6172200" y="1097280"/>
            <a:ext cx="5559552" cy="1435608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0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0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OPENER — VERBATIM</a:t>
            </a:r>
          </a:p>
          <a:p>
            <a:r>
              <a:rPr sz="10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31" name="step.tier.unthoughtful"/>
          <p:cNvSpPr/>
          <p:nvPr>
            <p:ph type="body" idx="15"/>
          </p:nvPr>
        </p:nvSpPr>
        <p:spPr>
          <a:xfrm>
            <a:off x="457200" y="2926080"/>
            <a:ext cx="3612794" cy="22402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95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950">
                <a:latin typeface="Calibri"/>
              </a:defRPr>
            </a:lvl2pPr>
          </a:lstStyle>
          <a:p>
            <a:r>
              <a:rPr sz="900" b="1" i="0" spc="60">
                <a:solidFill>
                  <a:srgbClr val="B54B3A"/>
                </a:solidFill>
                <a:latin typeface="Calibri"/>
              </a:rPr>
              <a:t>UNTHOUGHTFUL</a:t>
            </a:r>
          </a:p>
          <a:p>
            <a:r>
              <a:rPr sz="95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32" name="step.tier.neutral"/>
          <p:cNvSpPr/>
          <p:nvPr>
            <p:ph type="body" idx="16"/>
          </p:nvPr>
        </p:nvSpPr>
        <p:spPr>
          <a:xfrm>
            <a:off x="4289450" y="2926080"/>
            <a:ext cx="3612794" cy="22402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95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950">
                <a:latin typeface="Calibri"/>
              </a:defRPr>
            </a:lvl2pPr>
          </a:lstStyle>
          <a:p>
            <a:r>
              <a:rPr sz="900" b="1" i="0" spc="60">
                <a:solidFill>
                  <a:srgbClr val="8A6D1F"/>
                </a:solidFill>
                <a:latin typeface="Calibri"/>
              </a:rPr>
              <a:t>NEUTRAL</a:t>
            </a:r>
          </a:p>
          <a:p>
            <a:r>
              <a:rPr sz="95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33" name="step.tier.strong"/>
          <p:cNvSpPr/>
          <p:nvPr>
            <p:ph type="body" idx="17"/>
          </p:nvPr>
        </p:nvSpPr>
        <p:spPr>
          <a:xfrm>
            <a:off x="8121700" y="2926080"/>
            <a:ext cx="3612794" cy="22402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95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950">
                <a:latin typeface="Calibri"/>
              </a:defRPr>
            </a:lvl2pPr>
          </a:lstStyle>
          <a:p>
            <a:r>
              <a:rPr sz="900" b="1" i="0" spc="60">
                <a:solidFill>
                  <a:srgbClr val="2E7D4F"/>
                </a:solidFill>
                <a:latin typeface="Calibri"/>
              </a:rPr>
              <a:t>STRONG</a:t>
            </a:r>
          </a:p>
          <a:p>
            <a:r>
              <a:rPr sz="95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34" name="step.debrief"/>
          <p:cNvSpPr/>
          <p:nvPr>
            <p:ph type="body" idx="18"/>
          </p:nvPr>
        </p:nvSpPr>
        <p:spPr>
          <a:xfrm>
            <a:off x="457200" y="5532120"/>
            <a:ext cx="11274552" cy="667512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95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95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DEBRIEF LANDS — 2 TO 4 POINTS EVERY LEARNER HEARS, HOWEVER THE ATTEMPT WENT</a:t>
            </a:r>
          </a:p>
          <a:p>
            <a:r>
              <a:rPr sz="95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xamples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"/>
          <p:cNvSpPr/>
          <p:nvPr/>
        </p:nvSpPr>
        <p:spPr>
          <a:xfrm>
            <a:off x="457200" y="1097280"/>
            <a:ext cx="3612794" cy="534924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panel"/>
          <p:cNvSpPr/>
          <p:nvPr/>
        </p:nvSpPr>
        <p:spPr>
          <a:xfrm>
            <a:off x="4289450" y="1097280"/>
            <a:ext cx="3612794" cy="534924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panel"/>
          <p:cNvSpPr/>
          <p:nvPr/>
        </p:nvSpPr>
        <p:spPr>
          <a:xfrm>
            <a:off x="8121700" y="1097280"/>
            <a:ext cx="3612794" cy="534924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panel"/>
          <p:cNvSpPr/>
          <p:nvPr/>
        </p:nvSpPr>
        <p:spPr>
          <a:xfrm>
            <a:off x="5928055" y="384048"/>
            <a:ext cx="5806440" cy="329184"/>
          </a:xfrm>
          <a:prstGeom prst="roundRect">
            <a:avLst>
              <a:gd name="adj" fmla="val 4500"/>
            </a:avLst>
          </a:prstGeom>
          <a:solidFill>
            <a:srgbClr val="E3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chip"/>
          <p:cNvSpPr txBox="1"/>
          <p:nvPr/>
        </p:nvSpPr>
        <p:spPr>
          <a:xfrm>
            <a:off x="5928055" y="384048"/>
            <a:ext cx="5806440" cy="329184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900" b="0" i="0">
                <a:solidFill>
                  <a:srgbClr val="43505E"/>
                </a:solidFill>
                <a:latin typeface="Calibri"/>
              </a:rPr>
              <a:t>Optional · one example per tier — the wizard drafts these if you don’t</a:t>
            </a:r>
          </a:p>
        </p:txBody>
      </p:sp>
      <p:sp>
        <p:nvSpPr>
          <p:cNvPr id="8" name="help"/>
          <p:cNvSpPr txBox="1"/>
          <p:nvPr/>
        </p:nvSpPr>
        <p:spPr>
          <a:xfrm>
            <a:off x="457200" y="6172200"/>
            <a:ext cx="3612794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One learner line and the reply they hear.  → v4: levels.example</a:t>
            </a:r>
          </a:p>
        </p:txBody>
      </p:sp>
      <p:sp>
        <p:nvSpPr>
          <p:cNvPr id="9" name="help"/>
          <p:cNvSpPr txBox="1"/>
          <p:nvPr/>
        </p:nvSpPr>
        <p:spPr>
          <a:xfrm>
            <a:off x="4289450" y="6172200"/>
            <a:ext cx="3612794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One learner line and the reply they hear.  → v4: levels.example</a:t>
            </a:r>
          </a:p>
        </p:txBody>
      </p:sp>
      <p:sp>
        <p:nvSpPr>
          <p:cNvPr id="10" name="help"/>
          <p:cNvSpPr txBox="1"/>
          <p:nvPr/>
        </p:nvSpPr>
        <p:spPr>
          <a:xfrm>
            <a:off x="8121700" y="6172200"/>
            <a:ext cx="3612794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One learner line and the reply they hear.  → v4: levels.example</a:t>
            </a:r>
          </a:p>
        </p:txBody>
      </p:sp>
      <p:sp>
        <p:nvSpPr>
          <p:cNvPr id="11" name="footer"/>
          <p:cNvSpPr txBox="1"/>
          <p:nvPr/>
        </p:nvSpPr>
        <p:spPr>
          <a:xfrm>
            <a:off x="457200" y="6510528"/>
            <a:ext cx="5943600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1" i="0">
                <a:solidFill>
                  <a:srgbClr val="6B7785"/>
                </a:solidFill>
                <a:latin typeface="Calibri"/>
              </a:rPr>
              <a:t>Scenario Brief · template v1</a:t>
            </a:r>
            <a:r>
              <a:rPr sz="800" b="0" i="0">
                <a:solidFill>
                  <a:srgbClr val="6B7785"/>
                </a:solidFill>
                <a:latin typeface="Calibri"/>
              </a:rPr>
              <a:t>  ·  Aithera Scenario Simulator</a:t>
            </a:r>
          </a:p>
        </p:txBody>
      </p:sp>
      <p:sp>
        <p:nvSpPr>
          <p:cNvPr id="12" name="footer"/>
          <p:cNvSpPr txBox="1"/>
          <p:nvPr/>
        </p:nvSpPr>
        <p:spPr>
          <a:xfrm>
            <a:off x="6309360" y="6510528"/>
            <a:ext cx="5422392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0" i="1">
                <a:solidFill>
                  <a:srgbClr val="6B7785"/>
                </a:solidFill>
                <a:latin typeface="Calibri"/>
              </a:rPr>
              <a:t>Fields are placeholders — type into them. Text boxes and tables are not exported.</a:t>
            </a:r>
          </a:p>
        </p:txBody>
      </p:sp>
      <p:sp>
        <p:nvSpPr>
          <p:cNvPr id="13" name="title"/>
          <p:cNvSpPr/>
          <p:nvPr>
            <p:ph type="title"/>
          </p:nvPr>
        </p:nvSpPr>
        <p:spPr>
          <a:xfrm>
            <a:off x="457200" y="274320"/>
            <a:ext cx="5287975" cy="640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2400" b="1">
                <a:solidFill>
                  <a:srgbClr val="1F2A37"/>
                </a:solidFill>
                <a:latin typeface="Calibri"/>
              </a:defRPr>
            </a:lvl1pPr>
          </a:lstStyle>
          <a:p>
            <a:r>
              <a:rPr sz="2400" b="1" i="0">
                <a:solidFill>
                  <a:srgbClr val="1F2A37"/>
                </a:solidFill>
                <a:latin typeface="Calibri"/>
              </a:rPr>
              <a:t>STEP N · EXAMPLES (optional)</a:t>
            </a:r>
          </a:p>
        </p:txBody>
      </p:sp>
      <p:sp>
        <p:nvSpPr>
          <p:cNvPr id="14" name="example.tier.unthoughtful"/>
          <p:cNvSpPr/>
          <p:nvPr>
            <p:ph type="body" idx="10"/>
          </p:nvPr>
        </p:nvSpPr>
        <p:spPr>
          <a:xfrm>
            <a:off x="457200" y="1097280"/>
            <a:ext cx="3612794" cy="50749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1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100">
                <a:latin typeface="Calibri"/>
              </a:defRPr>
            </a:lvl2pPr>
          </a:lstStyle>
          <a:p>
            <a:r>
              <a:rPr sz="900" b="1" i="0" spc="60">
                <a:solidFill>
                  <a:srgbClr val="B54B3A"/>
                </a:solidFill>
                <a:latin typeface="Calibri"/>
              </a:rPr>
              <a:t>UNTHOUGHTFUL</a:t>
            </a:r>
          </a:p>
          <a:p>
            <a:r>
              <a:rPr sz="11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5" name="example.tier.neutral"/>
          <p:cNvSpPr/>
          <p:nvPr>
            <p:ph type="body" idx="11"/>
          </p:nvPr>
        </p:nvSpPr>
        <p:spPr>
          <a:xfrm>
            <a:off x="4289450" y="1097280"/>
            <a:ext cx="3612794" cy="50749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1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100">
                <a:latin typeface="Calibri"/>
              </a:defRPr>
            </a:lvl2pPr>
          </a:lstStyle>
          <a:p>
            <a:r>
              <a:rPr sz="900" b="1" i="0" spc="60">
                <a:solidFill>
                  <a:srgbClr val="8A6D1F"/>
                </a:solidFill>
                <a:latin typeface="Calibri"/>
              </a:rPr>
              <a:t>NEUTRAL</a:t>
            </a:r>
          </a:p>
          <a:p>
            <a:r>
              <a:rPr sz="11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6" name="example.tier.strong"/>
          <p:cNvSpPr/>
          <p:nvPr>
            <p:ph type="body" idx="12"/>
          </p:nvPr>
        </p:nvSpPr>
        <p:spPr>
          <a:xfrm>
            <a:off x="8121700" y="1097280"/>
            <a:ext cx="3612794" cy="50749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1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100">
                <a:latin typeface="Calibri"/>
              </a:defRPr>
            </a:lvl2pPr>
          </a:lstStyle>
          <a:p>
            <a:r>
              <a:rPr sz="900" b="1" i="0" spc="60">
                <a:solidFill>
                  <a:srgbClr val="2E7D4F"/>
                </a:solidFill>
                <a:latin typeface="Calibri"/>
              </a:rPr>
              <a:t>STRONG</a:t>
            </a:r>
          </a:p>
          <a:p>
            <a:r>
              <a:rPr sz="11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lose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"/>
          <p:cNvSpPr/>
          <p:nvPr/>
        </p:nvSpPr>
        <p:spPr>
          <a:xfrm>
            <a:off x="457200" y="1097280"/>
            <a:ext cx="5532120" cy="534924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panel"/>
          <p:cNvSpPr/>
          <p:nvPr/>
        </p:nvSpPr>
        <p:spPr>
          <a:xfrm>
            <a:off x="6199632" y="1097280"/>
            <a:ext cx="5532120" cy="306324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panel"/>
          <p:cNvSpPr/>
          <p:nvPr/>
        </p:nvSpPr>
        <p:spPr>
          <a:xfrm>
            <a:off x="6199632" y="4389120"/>
            <a:ext cx="2651760" cy="20574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panel"/>
          <p:cNvSpPr/>
          <p:nvPr/>
        </p:nvSpPr>
        <p:spPr>
          <a:xfrm>
            <a:off x="9079992" y="4389120"/>
            <a:ext cx="2651760" cy="205740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panel"/>
          <p:cNvSpPr/>
          <p:nvPr/>
        </p:nvSpPr>
        <p:spPr>
          <a:xfrm>
            <a:off x="7249363" y="384048"/>
            <a:ext cx="4485132" cy="329184"/>
          </a:xfrm>
          <a:prstGeom prst="roundRect">
            <a:avLst>
              <a:gd name="adj" fmla="val 4500"/>
            </a:avLst>
          </a:prstGeom>
          <a:solidFill>
            <a:srgbClr val="E3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chip"/>
          <p:cNvSpPr txBox="1"/>
          <p:nvPr/>
        </p:nvSpPr>
        <p:spPr>
          <a:xfrm>
            <a:off x="7249363" y="384048"/>
            <a:ext cx="4485132" cy="329184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900" b="0" i="0">
                <a:solidFill>
                  <a:srgbClr val="43505E"/>
                </a:solidFill>
                <a:latin typeface="Calibri"/>
              </a:rPr>
              <a:t>Wizard · The expert answer  →  Editor · Expert answer</a:t>
            </a:r>
          </a:p>
        </p:txBody>
      </p:sp>
      <p:sp>
        <p:nvSpPr>
          <p:cNvPr id="9" name="help"/>
          <p:cNvSpPr txBox="1"/>
          <p:nvPr/>
        </p:nvSpPr>
        <p:spPr>
          <a:xfrm>
            <a:off x="457200" y="6172200"/>
            <a:ext cx="553212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SME-validated statements; ships verbatim to every learner — the audit record.  → v4: component_groups</a:t>
            </a:r>
          </a:p>
        </p:txBody>
      </p:sp>
      <p:sp>
        <p:nvSpPr>
          <p:cNvPr id="10" name="help"/>
          <p:cNvSpPr txBox="1"/>
          <p:nvPr/>
        </p:nvSpPr>
        <p:spPr>
          <a:xfrm>
            <a:off x="6199632" y="3886200"/>
            <a:ext cx="553212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1" i="0">
                <a:solidFill>
                  <a:srgbClr val="6B7785"/>
                </a:solidFill>
                <a:latin typeface="Calibri"/>
              </a:rPr>
              <a:t>VERBATIM  </a:t>
            </a:r>
            <a:r>
              <a:rPr sz="750" b="0" i="1">
                <a:solidFill>
                  <a:srgbClr val="6B7785"/>
                </a:solidFill>
                <a:latin typeface="Calibri"/>
              </a:rPr>
              <a:t>Two to four sentences tying the components together — the last thing the learner reads.  → v4: summary</a:t>
            </a:r>
          </a:p>
        </p:txBody>
      </p:sp>
      <p:sp>
        <p:nvSpPr>
          <p:cNvPr id="11" name="help"/>
          <p:cNvSpPr txBox="1"/>
          <p:nvPr/>
        </p:nvSpPr>
        <p:spPr>
          <a:xfrm>
            <a:off x="6199632" y="6172200"/>
            <a:ext cx="265176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Regulations, standards only. Ships to the learner.</a:t>
            </a:r>
          </a:p>
        </p:txBody>
      </p:sp>
      <p:sp>
        <p:nvSpPr>
          <p:cNvPr id="12" name="help"/>
          <p:cNvSpPr txBox="1"/>
          <p:nvPr/>
        </p:nvSpPr>
        <p:spPr>
          <a:xfrm>
            <a:off x="9079992" y="6172200"/>
            <a:ext cx="2651760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Course slide numbers. Never ships.</a:t>
            </a:r>
          </a:p>
        </p:txBody>
      </p:sp>
      <p:sp>
        <p:nvSpPr>
          <p:cNvPr id="13" name="footer"/>
          <p:cNvSpPr txBox="1"/>
          <p:nvPr/>
        </p:nvSpPr>
        <p:spPr>
          <a:xfrm>
            <a:off x="457200" y="6510528"/>
            <a:ext cx="5943600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1" i="0">
                <a:solidFill>
                  <a:srgbClr val="6B7785"/>
                </a:solidFill>
                <a:latin typeface="Calibri"/>
              </a:rPr>
              <a:t>Scenario Brief · template v1</a:t>
            </a:r>
            <a:r>
              <a:rPr sz="800" b="0" i="0">
                <a:solidFill>
                  <a:srgbClr val="6B7785"/>
                </a:solidFill>
                <a:latin typeface="Calibri"/>
              </a:rPr>
              <a:t>  ·  Aithera Scenario Simulator</a:t>
            </a:r>
          </a:p>
        </p:txBody>
      </p:sp>
      <p:sp>
        <p:nvSpPr>
          <p:cNvPr id="14" name="footer"/>
          <p:cNvSpPr txBox="1"/>
          <p:nvPr/>
        </p:nvSpPr>
        <p:spPr>
          <a:xfrm>
            <a:off x="6309360" y="6510528"/>
            <a:ext cx="5422392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0" i="1">
                <a:solidFill>
                  <a:srgbClr val="6B7785"/>
                </a:solidFill>
                <a:latin typeface="Calibri"/>
              </a:rPr>
              <a:t>Fields are placeholders — type into them. Text boxes and tables are not exported.</a:t>
            </a:r>
          </a:p>
        </p:txBody>
      </p:sp>
      <p:sp>
        <p:nvSpPr>
          <p:cNvPr id="15" name="title"/>
          <p:cNvSpPr/>
          <p:nvPr>
            <p:ph type="title"/>
          </p:nvPr>
        </p:nvSpPr>
        <p:spPr>
          <a:xfrm>
            <a:off x="457200" y="274320"/>
            <a:ext cx="6609283" cy="640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2400" b="1">
                <a:solidFill>
                  <a:srgbClr val="1F2A37"/>
                </a:solidFill>
                <a:latin typeface="Calibri"/>
              </a:defRPr>
            </a:lvl1pPr>
          </a:lstStyle>
          <a:p>
            <a:r>
              <a:rPr sz="2400" b="1" i="0">
                <a:solidFill>
                  <a:srgbClr val="1F2A37"/>
                </a:solidFill>
                <a:latin typeface="Calibri"/>
              </a:rPr>
              <a:t>THE CLOSE</a:t>
            </a:r>
          </a:p>
        </p:txBody>
      </p:sp>
      <p:sp>
        <p:nvSpPr>
          <p:cNvPr id="16" name="close.components"/>
          <p:cNvSpPr/>
          <p:nvPr>
            <p:ph type="body" idx="10"/>
          </p:nvPr>
        </p:nvSpPr>
        <p:spPr>
          <a:xfrm>
            <a:off x="457200" y="1097280"/>
            <a:ext cx="5532120" cy="50749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05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05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IDEAL RESPONSE COMPONENTS — A HEADING, THEN ITS POINTS</a:t>
            </a:r>
          </a:p>
          <a:p>
            <a:r>
              <a:rPr sz="105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7" name="close.summary"/>
          <p:cNvSpPr/>
          <p:nvPr>
            <p:ph type="body" idx="11"/>
          </p:nvPr>
        </p:nvSpPr>
        <p:spPr>
          <a:xfrm>
            <a:off x="6199632" y="1097280"/>
            <a:ext cx="5532120" cy="27889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1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1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SUMMARY — VERBATIM</a:t>
            </a:r>
          </a:p>
          <a:p>
            <a:r>
              <a:rPr sz="11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8" name="close.authorities"/>
          <p:cNvSpPr/>
          <p:nvPr>
            <p:ph type="body" idx="12"/>
          </p:nvPr>
        </p:nvSpPr>
        <p:spPr>
          <a:xfrm>
            <a:off x="6199632" y="4389120"/>
            <a:ext cx="2651760" cy="1783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0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0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EXTERNAL AUTHORITIES</a:t>
            </a:r>
          </a:p>
          <a:p>
            <a:r>
              <a:rPr sz="10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  <p:sp>
        <p:nvSpPr>
          <p:cNvPr id="19" name="close.internal"/>
          <p:cNvSpPr/>
          <p:nvPr>
            <p:ph type="body" idx="13"/>
          </p:nvPr>
        </p:nvSpPr>
        <p:spPr>
          <a:xfrm>
            <a:off x="9079992" y="4389120"/>
            <a:ext cx="2651760" cy="1783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00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00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INTERNAL SOURCE SLIDES</a:t>
            </a:r>
          </a:p>
          <a:p>
            <a:r>
              <a:rPr sz="100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Source"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anel"/>
          <p:cNvSpPr/>
          <p:nvPr/>
        </p:nvSpPr>
        <p:spPr>
          <a:xfrm>
            <a:off x="457200" y="1097280"/>
            <a:ext cx="11274552" cy="5349240"/>
          </a:xfrm>
          <a:prstGeom prst="roundRect">
            <a:avLst>
              <a:gd name="adj" fmla="val 4500"/>
            </a:avLst>
          </a:prstGeom>
          <a:solidFill>
            <a:srgbClr val="EEF4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panel"/>
          <p:cNvSpPr/>
          <p:nvPr/>
        </p:nvSpPr>
        <p:spPr>
          <a:xfrm>
            <a:off x="6627571" y="384048"/>
            <a:ext cx="5106924" cy="329184"/>
          </a:xfrm>
          <a:prstGeom prst="roundRect">
            <a:avLst>
              <a:gd name="adj" fmla="val 4500"/>
            </a:avLst>
          </a:prstGeom>
          <a:solidFill>
            <a:srgbClr val="E3EC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chip"/>
          <p:cNvSpPr txBox="1"/>
          <p:nvPr/>
        </p:nvSpPr>
        <p:spPr>
          <a:xfrm>
            <a:off x="6627571" y="384048"/>
            <a:ext cx="5106924" cy="329184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900" b="0" i="0">
                <a:solidFill>
                  <a:srgbClr val="43505E"/>
                </a:solidFill>
                <a:latin typeface="Calibri"/>
              </a:rPr>
              <a:t>Optional · paste anything — the wizard mines it for specifics</a:t>
            </a:r>
          </a:p>
        </p:txBody>
      </p:sp>
      <p:sp>
        <p:nvSpPr>
          <p:cNvPr id="6" name="help"/>
          <p:cNvSpPr txBox="1"/>
          <p:nvPr/>
        </p:nvSpPr>
        <p:spPr>
          <a:xfrm>
            <a:off x="457200" y="6172200"/>
            <a:ext cx="11274552" cy="274320"/>
          </a:xfrm>
          <a:prstGeom prst="rect">
            <a:avLst/>
          </a:prstGeom>
          <a:noFill/>
        </p:spPr>
        <p:txBody>
          <a:bodyPr wrap="square" lIns="109728" rIns="109728" tIns="27432" bIns="27432" anchor="ctr">
            <a:spAutoFit/>
          </a:bodyPr>
          <a:lstStyle/>
          <a:p>
            <a:r>
              <a:rPr sz="750" b="0" i="1">
                <a:solidFill>
                  <a:srgbClr val="6B7785"/>
                </a:solidFill>
                <a:latin typeface="Calibri"/>
              </a:rPr>
              <a:t>The static scenario this replaces, the slide outline, a policy excerpt, SME notes. Add more slides if it runs long.  → wizard: Source material</a:t>
            </a:r>
          </a:p>
        </p:txBody>
      </p:sp>
      <p:sp>
        <p:nvSpPr>
          <p:cNvPr id="7" name="footer"/>
          <p:cNvSpPr txBox="1"/>
          <p:nvPr/>
        </p:nvSpPr>
        <p:spPr>
          <a:xfrm>
            <a:off x="457200" y="6510528"/>
            <a:ext cx="5943600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1" i="0">
                <a:solidFill>
                  <a:srgbClr val="6B7785"/>
                </a:solidFill>
                <a:latin typeface="Calibri"/>
              </a:rPr>
              <a:t>Scenario Brief · template v1</a:t>
            </a:r>
            <a:r>
              <a:rPr sz="800" b="0" i="0">
                <a:solidFill>
                  <a:srgbClr val="6B7785"/>
                </a:solidFill>
                <a:latin typeface="Calibri"/>
              </a:rPr>
              <a:t>  ·  Aithera Scenario Simulator</a:t>
            </a:r>
          </a:p>
        </p:txBody>
      </p:sp>
      <p:sp>
        <p:nvSpPr>
          <p:cNvPr id="8" name="footer"/>
          <p:cNvSpPr txBox="1"/>
          <p:nvPr/>
        </p:nvSpPr>
        <p:spPr>
          <a:xfrm>
            <a:off x="6309360" y="6510528"/>
            <a:ext cx="5422392" cy="274320"/>
          </a:xfrm>
          <a:prstGeom prst="rect">
            <a:avLst/>
          </a:prstGeom>
          <a:noFill/>
        </p:spPr>
        <p:txBody>
          <a:bodyPr wrap="square" lIns="109728" rIns="109728" tIns="27432" bIns="27432" anchor="t">
            <a:spAutoFit/>
          </a:bodyPr>
          <a:lstStyle/>
          <a:p>
            <a:r>
              <a:rPr sz="800" b="0" i="1">
                <a:solidFill>
                  <a:srgbClr val="6B7785"/>
                </a:solidFill>
                <a:latin typeface="Calibri"/>
              </a:rPr>
              <a:t>Fields are placeholders — type into them. Text boxes and tables are not exported.</a:t>
            </a:r>
          </a:p>
        </p:txBody>
      </p:sp>
      <p:sp>
        <p:nvSpPr>
          <p:cNvPr id="9" name="title"/>
          <p:cNvSpPr/>
          <p:nvPr>
            <p:ph type="title"/>
          </p:nvPr>
        </p:nvSpPr>
        <p:spPr>
          <a:xfrm>
            <a:off x="457200" y="274320"/>
            <a:ext cx="5987491" cy="64008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2400" b="1">
                <a:solidFill>
                  <a:srgbClr val="1F2A37"/>
                </a:solidFill>
                <a:latin typeface="Calibri"/>
              </a:defRPr>
            </a:lvl1pPr>
          </a:lstStyle>
          <a:p>
            <a:r>
              <a:rPr sz="2400" b="1" i="0">
                <a:solidFill>
                  <a:srgbClr val="1F2A37"/>
                </a:solidFill>
                <a:latin typeface="Calibri"/>
              </a:rPr>
              <a:t>SOURCE MATERIAL</a:t>
            </a:r>
          </a:p>
        </p:txBody>
      </p:sp>
      <p:sp>
        <p:nvSpPr>
          <p:cNvPr id="10" name="source.text"/>
          <p:cNvSpPr/>
          <p:nvPr>
            <p:ph type="body" idx="10"/>
          </p:nvPr>
        </p:nvSpPr>
        <p:spPr>
          <a:xfrm>
            <a:off x="457200" y="1097280"/>
            <a:ext cx="11274552" cy="5074920"/>
          </a:xfrm>
          <a:prstGeom prst="rect">
            <a:avLst/>
          </a:prstGeom>
          <a:noFill/>
        </p:spPr>
        <p:txBody>
          <a:bodyPr wrap="square" lIns="109728" rIns="109728" tIns="64008" anchor="t">
            <a:normAutofit/>
          </a:bodyPr>
          <a:lstStyle>
            <a:lvl1pPr marL="0" indent="0">
              <a:spcBef>
                <a:spcPts val="200"/>
              </a:spcBef>
              <a:buNone/>
              <a:defRPr sz="1050" b="0">
                <a:solidFill>
                  <a:srgbClr val="1F2A37"/>
                </a:solidFill>
                <a:latin typeface="Calibri"/>
              </a:defRPr>
            </a:lvl1pPr>
            <a:lvl2pPr marL="228600" indent="-228600">
              <a:buChar char="•"/>
              <a:defRPr sz="1050">
                <a:latin typeface="Calibri"/>
              </a:defRPr>
            </a:lvl2pPr>
          </a:lstStyle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SOURCE TEXT</a:t>
            </a:r>
          </a:p>
          <a:p>
            <a:r>
              <a:rPr sz="1050" b="0" i="1">
                <a:solidFill>
                  <a:srgbClr val="6B7785"/>
                </a:solidFill>
                <a:latin typeface="Calibri"/>
              </a:rPr>
              <a:t>Type here — keep the label line above.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1F2A37"/>
                </a:solidFill>
                <a:latin typeface="Calibri"/>
              </a:rPr>
              <a:t>SCENARIO BRIEF</a:t>
            </a:r>
          </a:p>
        </p:txBody>
      </p:sp>
      <p:sp>
        <p:nvSpPr>
          <p:cNvPr id="3" name="cover.title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SCENARIO TITLE</a:t>
            </a:r>
            <a:endParaRPr sz="2400" b="0" i="0">
              <a:solidFill>
                <a:srgbClr val="1F2A37"/>
              </a:solidFill>
              <a:latin typeface="Calibri"/>
            </a:endParaRPr>
          </a:p>
          <a:p>
            <a:endParaRPr sz="24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4" name="cover.training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TRAINING IT LIVES INSIDE</a:t>
            </a:r>
            <a:endParaRPr sz="1400" b="0" i="0">
              <a:solidFill>
                <a:srgbClr val="1F2A37"/>
              </a:solidFill>
              <a:latin typeface="Calibri"/>
            </a:endParaRPr>
          </a:p>
          <a:p>
            <a:endParaRPr sz="14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5" name="cover.owner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OWNER</a:t>
            </a:r>
            <a:endParaRPr sz="1400" b="0" i="0">
              <a:solidFill>
                <a:srgbClr val="1F2A37"/>
              </a:solidFill>
              <a:latin typeface="Calibri"/>
            </a:endParaRPr>
          </a:p>
          <a:p>
            <a:endParaRPr sz="14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6" name="cover.version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VERSION · DATE</a:t>
            </a:r>
            <a:endParaRPr sz="1400" b="0" i="0">
              <a:solidFill>
                <a:srgbClr val="1F2A37"/>
              </a:solidFill>
              <a:latin typeface="Calibri"/>
            </a:endParaRPr>
          </a:p>
          <a:p>
            <a:endParaRPr sz="14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7" name="cover.status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STATUS</a:t>
            </a:r>
            <a:endParaRPr sz="1400" b="0" i="0">
              <a:solidFill>
                <a:srgbClr val="1F2A37"/>
              </a:solidFill>
              <a:latin typeface="Calibri"/>
            </a:endParaRPr>
          </a:p>
          <a:p>
            <a:endParaRPr sz="1400" b="0" i="0">
              <a:solidFill>
                <a:srgbClr val="1F2A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1F2A37"/>
                </a:solidFill>
                <a:latin typeface="Calibri"/>
              </a:rPr>
              <a:t>THE BRIEF</a:t>
            </a:r>
          </a:p>
        </p:txBody>
      </p:sp>
      <p:sp>
        <p:nvSpPr>
          <p:cNvPr id="3" name="brief.topic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TOPIC</a:t>
            </a:r>
            <a:endParaRPr sz="1200" b="0" i="0">
              <a:solidFill>
                <a:srgbClr val="1F2A37"/>
              </a:solidFill>
              <a:latin typeface="Calibri"/>
            </a:endParaRPr>
          </a:p>
          <a:p>
            <a:endParaRPr sz="12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4" name="brief.learner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THE LEARNER PLAYS</a:t>
            </a:r>
            <a:endParaRPr sz="1200" b="0" i="0">
              <a:solidFill>
                <a:srgbClr val="1F2A37"/>
              </a:solidFill>
              <a:latin typeface="Calibri"/>
            </a:endParaRPr>
          </a:p>
          <a:p>
            <a:endParaRPr sz="12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5" name="brief.steps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STEPS, IN ORDER — ONE PER LINE, EACH STARTING WITH ITS MODE</a:t>
            </a:r>
            <a:endParaRPr sz="1200" b="0" i="0">
              <a:solidFill>
                <a:srgbClr val="1F2A37"/>
              </a:solidFill>
              <a:latin typeface="Calibri"/>
            </a:endParaRPr>
          </a:p>
          <a:p>
            <a:endParaRPr sz="12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6" name="brief.sources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SOURCE SLIDES OR DOCUMENTS</a:t>
            </a:r>
            <a:endParaRPr sz="1200" b="0" i="0">
              <a:solidFill>
                <a:srgbClr val="1F2A37"/>
              </a:solidFill>
              <a:latin typeface="Calibri"/>
            </a:endParaRPr>
          </a:p>
          <a:p>
            <a:endParaRPr sz="1200" b="0" i="0">
              <a:solidFill>
                <a:srgbClr val="1F2A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1F2A37"/>
                </a:solidFill>
                <a:latin typeface="Calibri"/>
              </a:rPr>
              <a:t>THE SITUATION</a:t>
            </a:r>
          </a:p>
        </p:txBody>
      </p:sp>
      <p:sp>
        <p:nvSpPr>
          <p:cNvPr id="3" name="situation.narrative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WHAT’S TRUE AS THE SCENARIO OPENS — WRITTEN TO THE LEARNER</a:t>
            </a:r>
            <a:endParaRPr sz="1100" b="0" i="0">
              <a:solidFill>
                <a:srgbClr val="1F2A37"/>
              </a:solidFill>
              <a:latin typeface="Calibri"/>
            </a:endParaRPr>
          </a:p>
          <a:p>
            <a:endParaRPr sz="11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4" name="situation.setting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SETTING</a:t>
            </a:r>
            <a:endParaRPr sz="1200" b="0" i="0">
              <a:solidFill>
                <a:srgbClr val="1F2A37"/>
              </a:solidFill>
              <a:latin typeface="Calibri"/>
            </a:endParaRPr>
          </a:p>
          <a:p>
            <a:endParaRPr sz="12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5" name="situation.cast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CAST — NAME — ROLE — DRIVER — NEVER DOES</a:t>
            </a:r>
            <a:endParaRPr sz="1100" b="0" i="0">
              <a:solidFill>
                <a:srgbClr val="1F2A37"/>
              </a:solidFill>
              <a:latin typeface="Calibri"/>
            </a:endParaRPr>
          </a:p>
          <a:p>
            <a:endParaRPr sz="1100" b="0" i="0">
              <a:solidFill>
                <a:srgbClr val="1F2A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1F2A37"/>
                </a:solidFill>
                <a:latin typeface="Calibri"/>
              </a:rPr>
              <a:t>THE TEACHING</a:t>
            </a:r>
          </a:p>
        </p:txBody>
      </p:sp>
      <p:sp>
        <p:nvSpPr>
          <p:cNvPr id="3" name="teaching.mustknows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MUST-KNOWS — 3 TO 6, ONE PER LINE</a:t>
            </a:r>
            <a:endParaRPr sz="1200" b="0" i="0">
              <a:solidFill>
                <a:srgbClr val="1F2A37"/>
              </a:solidFill>
              <a:latin typeface="Calibri"/>
            </a:endParaRPr>
          </a:p>
          <a:p>
            <a:endParaRPr sz="12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4" name="teaching.strongweak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STRONG HANDLING VS. WEAK</a:t>
            </a:r>
            <a:endParaRPr sz="1200" b="0" i="0">
              <a:solidFill>
                <a:srgbClr val="1F2A37"/>
              </a:solidFill>
              <a:latin typeface="Calibri"/>
            </a:endParaRPr>
          </a:p>
          <a:p>
            <a:endParaRPr sz="12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5" name="teaching.misconceptions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COMMON WRONG ANSWERS → THE REDIRECT</a:t>
            </a:r>
            <a:endParaRPr sz="1200" b="0" i="0">
              <a:solidFill>
                <a:srgbClr val="1F2A37"/>
              </a:solidFill>
              <a:latin typeface="Calibri"/>
            </a:endParaRPr>
          </a:p>
          <a:p>
            <a:endParaRPr sz="12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6" name="teaching.voice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COACH VOICE</a:t>
            </a:r>
            <a:endParaRPr sz="1200" b="0" i="0">
              <a:solidFill>
                <a:srgbClr val="1F2A37"/>
              </a:solidFill>
              <a:latin typeface="Calibri"/>
            </a:endParaRPr>
          </a:p>
          <a:p>
            <a:endParaRPr sz="1200" b="0" i="0">
              <a:solidFill>
                <a:srgbClr val="1F2A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1F2A37"/>
                </a:solidFill>
                <a:latin typeface="Calibri"/>
              </a:rPr>
              <a:t>THE OPENING</a:t>
            </a:r>
          </a:p>
        </p:txBody>
      </p:sp>
      <p:sp>
        <p:nvSpPr>
          <p:cNvPr id="3" name="opening.question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WARM-UP QUESTION — VERBATIM, THE COACH’S FIRST LINE</a:t>
            </a:r>
            <a:endParaRPr sz="1400" b="0" i="0">
              <a:solidFill>
                <a:srgbClr val="1F2A37"/>
              </a:solidFill>
              <a:latin typeface="Calibri"/>
            </a:endParaRPr>
          </a:p>
          <a:p>
            <a:endParaRPr sz="14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4" name="opening.turns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TURNS</a:t>
            </a:r>
            <a:endParaRPr sz="1400" b="0" i="0">
              <a:solidFill>
                <a:srgbClr val="1F2A37"/>
              </a:solidFill>
              <a:latin typeface="Calibri"/>
            </a:endParaRPr>
          </a:p>
          <a:p>
            <a:endParaRPr sz="14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5" name="opening.listen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LISTEN FOR — AND HOW TO ACKNOWLEDGE IT</a:t>
            </a:r>
            <a:endParaRPr sz="1200" b="0" i="0">
              <a:solidFill>
                <a:srgbClr val="1F2A37"/>
              </a:solidFill>
              <a:latin typeface="Calibri"/>
            </a:endParaRPr>
          </a:p>
          <a:p>
            <a:endParaRPr sz="1200" b="0" i="0">
              <a:solidFill>
                <a:srgbClr val="1F2A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 i="0">
                <a:solidFill>
                  <a:srgbClr val="1F2A37"/>
                </a:solidFill>
                <a:latin typeface="Calibri"/>
              </a:rPr>
              <a:t>STEP 1 · The story’s own name for this segment</a:t>
            </a:r>
          </a:p>
        </p:txBody>
      </p:sp>
      <p:sp>
        <p:nvSpPr>
          <p:cNvPr id="3" name="step.mode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MODE</a:t>
            </a:r>
            <a:endParaRPr sz="800" b="0" i="0">
              <a:solidFill>
                <a:srgbClr val="1F2A37"/>
              </a:solidFill>
              <a:latin typeface="Calibri"/>
            </a:endParaRPr>
          </a:p>
          <a:p>
            <a:endParaRPr sz="8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4" name="step.right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RIGHT ANSWER?</a:t>
            </a:r>
            <a:endParaRPr sz="800" b="0" i="0">
              <a:solidFill>
                <a:srgbClr val="1F2A37"/>
              </a:solidFill>
              <a:latin typeface="Calibri"/>
            </a:endParaRPr>
          </a:p>
          <a:p>
            <a:endParaRPr sz="8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5" name="step.turns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TURNS</a:t>
            </a:r>
            <a:endParaRPr sz="800" b="0" i="0">
              <a:solidFill>
                <a:srgbClr val="1F2A37"/>
              </a:solidFill>
              <a:latin typeface="Calibri"/>
            </a:endParaRPr>
          </a:p>
          <a:p>
            <a:endParaRPr sz="8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6" name="step.does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WHAT THE LEARNER DOES HERE — AND WHY NOW</a:t>
            </a:r>
            <a:endParaRPr sz="1000" b="0" i="0">
              <a:solidFill>
                <a:srgbClr val="1F2A37"/>
              </a:solidFill>
              <a:latin typeface="Calibri"/>
            </a:endParaRPr>
          </a:p>
          <a:p>
            <a:endParaRPr sz="10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7" name="step.opener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OPENER — VERBATIM</a:t>
            </a:r>
            <a:endParaRPr sz="1000" b="0" i="0">
              <a:solidFill>
                <a:srgbClr val="1F2A37"/>
              </a:solidFill>
              <a:latin typeface="Calibri"/>
            </a:endParaRPr>
          </a:p>
          <a:p>
            <a:endParaRPr sz="10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8" name="step.tier.unthoughtful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rPr sz="900" b="1" i="0" spc="60">
                <a:solidFill>
                  <a:srgbClr val="B54B3A"/>
                </a:solidFill>
                <a:latin typeface="Calibri"/>
              </a:rPr>
              <a:t>UNTHOUGHTFUL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Look for: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Respond: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Scene moves (roleplay only):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9" name="step.tier.neutral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sz="900" b="1" i="0" spc="60">
                <a:solidFill>
                  <a:srgbClr val="8A6D1F"/>
                </a:solidFill>
                <a:latin typeface="Calibri"/>
              </a:rPr>
              <a:t>NEUTRAL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Look for: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Respond: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Scene moves (roleplay only):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10" name="step.tier.strong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sz="900" b="1" i="0" spc="60">
                <a:solidFill>
                  <a:srgbClr val="2E7D4F"/>
                </a:solidFill>
                <a:latin typeface="Calibri"/>
              </a:rPr>
              <a:t>STRONG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Look for: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Respond: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Scene moves (roleplay only):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11" name="step.debrief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DEBRIEF LANDS — 2 TO 4 POINTS EVERY LEARNER HEARS, HOWEVER THE ATTEMPT WENT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 i="0">
                <a:solidFill>
                  <a:srgbClr val="1F2A37"/>
                </a:solidFill>
                <a:latin typeface="Calibri"/>
              </a:rPr>
              <a:t>STEP 1 · EXAMPLES (optional)</a:t>
            </a:r>
          </a:p>
        </p:txBody>
      </p:sp>
      <p:sp>
        <p:nvSpPr>
          <p:cNvPr id="3" name="example.tier.unthoughtful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sz="900" b="1" i="0" spc="60">
                <a:solidFill>
                  <a:srgbClr val="B54B3A"/>
                </a:solidFill>
                <a:latin typeface="Calibri"/>
              </a:rPr>
              <a:t>UNTHOUGHTFUL</a:t>
            </a:r>
            <a:endParaRPr sz="110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Learner:</a:t>
            </a:r>
            <a:endParaRPr sz="1100" b="0" i="0">
              <a:solidFill>
                <a:srgbClr val="1F2A37"/>
              </a:solidFill>
              <a:latin typeface="Calibri"/>
            </a:endParaRPr>
          </a:p>
          <a:p>
            <a:endParaRPr sz="110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Reply:</a:t>
            </a:r>
            <a:endParaRPr sz="1100" b="0" i="0">
              <a:solidFill>
                <a:srgbClr val="1F2A37"/>
              </a:solidFill>
              <a:latin typeface="Calibri"/>
            </a:endParaRPr>
          </a:p>
          <a:p>
            <a:endParaRPr sz="11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4" name="example.tier.neutral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sz="900" b="1" i="0" spc="60">
                <a:solidFill>
                  <a:srgbClr val="8A6D1F"/>
                </a:solidFill>
                <a:latin typeface="Calibri"/>
              </a:rPr>
              <a:t>NEUTRAL</a:t>
            </a:r>
            <a:endParaRPr sz="110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Learner:</a:t>
            </a:r>
            <a:endParaRPr sz="1100" b="0" i="0">
              <a:solidFill>
                <a:srgbClr val="1F2A37"/>
              </a:solidFill>
              <a:latin typeface="Calibri"/>
            </a:endParaRPr>
          </a:p>
          <a:p>
            <a:endParaRPr sz="110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Reply:</a:t>
            </a:r>
            <a:endParaRPr sz="1100" b="0" i="0">
              <a:solidFill>
                <a:srgbClr val="1F2A37"/>
              </a:solidFill>
              <a:latin typeface="Calibri"/>
            </a:endParaRPr>
          </a:p>
          <a:p>
            <a:endParaRPr sz="11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5" name="example.tier.strong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sz="900" b="1" i="0" spc="60">
                <a:solidFill>
                  <a:srgbClr val="2E7D4F"/>
                </a:solidFill>
                <a:latin typeface="Calibri"/>
              </a:rPr>
              <a:t>STRONG</a:t>
            </a:r>
            <a:endParaRPr sz="110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Learner:</a:t>
            </a:r>
            <a:endParaRPr sz="1100" b="0" i="0">
              <a:solidFill>
                <a:srgbClr val="1F2A37"/>
              </a:solidFill>
              <a:latin typeface="Calibri"/>
            </a:endParaRPr>
          </a:p>
          <a:p>
            <a:endParaRPr sz="110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Reply:</a:t>
            </a:r>
            <a:endParaRPr sz="1100" b="0" i="0">
              <a:solidFill>
                <a:srgbClr val="1F2A37"/>
              </a:solidFill>
              <a:latin typeface="Calibri"/>
            </a:endParaRPr>
          </a:p>
          <a:p>
            <a:endParaRPr sz="1100" b="0" i="0">
              <a:solidFill>
                <a:srgbClr val="1F2A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 i="0">
                <a:solidFill>
                  <a:srgbClr val="1F2A37"/>
                </a:solidFill>
                <a:latin typeface="Calibri"/>
              </a:rPr>
              <a:t>STEP 2 · The story’s own name for this segment</a:t>
            </a:r>
          </a:p>
        </p:txBody>
      </p:sp>
      <p:sp>
        <p:nvSpPr>
          <p:cNvPr id="3" name="step.mode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MODE</a:t>
            </a:r>
            <a:endParaRPr sz="800" b="0" i="0">
              <a:solidFill>
                <a:srgbClr val="1F2A37"/>
              </a:solidFill>
              <a:latin typeface="Calibri"/>
            </a:endParaRPr>
          </a:p>
          <a:p>
            <a:endParaRPr sz="8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4" name="step.right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RIGHT ANSWER?</a:t>
            </a:r>
            <a:endParaRPr sz="800" b="0" i="0">
              <a:solidFill>
                <a:srgbClr val="1F2A37"/>
              </a:solidFill>
              <a:latin typeface="Calibri"/>
            </a:endParaRPr>
          </a:p>
          <a:p>
            <a:endParaRPr sz="8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5" name="step.turns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TURNS</a:t>
            </a:r>
            <a:endParaRPr sz="800" b="0" i="0">
              <a:solidFill>
                <a:srgbClr val="1F2A37"/>
              </a:solidFill>
              <a:latin typeface="Calibri"/>
            </a:endParaRPr>
          </a:p>
          <a:p>
            <a:endParaRPr sz="8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6" name="step.does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WHAT THE LEARNER DOES HERE — AND WHY NOW</a:t>
            </a:r>
            <a:endParaRPr sz="1000" b="0" i="0">
              <a:solidFill>
                <a:srgbClr val="1F2A37"/>
              </a:solidFill>
              <a:latin typeface="Calibri"/>
            </a:endParaRPr>
          </a:p>
          <a:p>
            <a:endParaRPr sz="10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7" name="step.opener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OPENER — VERBATIM</a:t>
            </a:r>
            <a:endParaRPr sz="1000" b="0" i="0">
              <a:solidFill>
                <a:srgbClr val="1F2A37"/>
              </a:solidFill>
              <a:latin typeface="Calibri"/>
            </a:endParaRPr>
          </a:p>
          <a:p>
            <a:endParaRPr sz="10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8" name="step.tier.unthoughtful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rPr sz="900" b="1" i="0" spc="60">
                <a:solidFill>
                  <a:srgbClr val="B54B3A"/>
                </a:solidFill>
                <a:latin typeface="Calibri"/>
              </a:rPr>
              <a:t>UNTHOUGHTFUL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Look for: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Respond: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Scene moves (roleplay only):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9" name="step.tier.neutral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sz="900" b="1" i="0" spc="60">
                <a:solidFill>
                  <a:srgbClr val="8A6D1F"/>
                </a:solidFill>
                <a:latin typeface="Calibri"/>
              </a:rPr>
              <a:t>NEUTRAL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Look for: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Respond: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Scene moves (roleplay only):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10" name="step.tier.strong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sz="900" b="1" i="0" spc="60">
                <a:solidFill>
                  <a:srgbClr val="2E7D4F"/>
                </a:solidFill>
                <a:latin typeface="Calibri"/>
              </a:rPr>
              <a:t>STRONG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Look for: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Respond: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Scene moves (roleplay only):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11" name="step.debrief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DEBRIEF LANDS — 2 TO 4 POINTS EVERY LEARNER HEARS, HOWEVER THE ATTEMPT WENT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 i="0">
                <a:solidFill>
                  <a:srgbClr val="1F2A37"/>
                </a:solidFill>
                <a:latin typeface="Calibri"/>
              </a:rPr>
              <a:t>STEP 3 · The story’s own name for this segment</a:t>
            </a:r>
          </a:p>
        </p:txBody>
      </p:sp>
      <p:sp>
        <p:nvSpPr>
          <p:cNvPr id="3" name="step.mode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MODE</a:t>
            </a:r>
            <a:endParaRPr sz="800" b="0" i="0">
              <a:solidFill>
                <a:srgbClr val="1F2A37"/>
              </a:solidFill>
              <a:latin typeface="Calibri"/>
            </a:endParaRPr>
          </a:p>
          <a:p>
            <a:endParaRPr sz="8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4" name="step.right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RIGHT ANSWER?</a:t>
            </a:r>
            <a:endParaRPr sz="800" b="0" i="0">
              <a:solidFill>
                <a:srgbClr val="1F2A37"/>
              </a:solidFill>
              <a:latin typeface="Calibri"/>
            </a:endParaRPr>
          </a:p>
          <a:p>
            <a:endParaRPr sz="8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5" name="step.turns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TURNS</a:t>
            </a:r>
            <a:endParaRPr sz="800" b="0" i="0">
              <a:solidFill>
                <a:srgbClr val="1F2A37"/>
              </a:solidFill>
              <a:latin typeface="Calibri"/>
            </a:endParaRPr>
          </a:p>
          <a:p>
            <a:endParaRPr sz="8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6" name="step.does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WHAT THE LEARNER DOES HERE — AND WHY NOW</a:t>
            </a:r>
            <a:endParaRPr sz="1000" b="0" i="0">
              <a:solidFill>
                <a:srgbClr val="1F2A37"/>
              </a:solidFill>
              <a:latin typeface="Calibri"/>
            </a:endParaRPr>
          </a:p>
          <a:p>
            <a:endParaRPr sz="10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7" name="step.opener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OPENER — VERBATIM</a:t>
            </a:r>
            <a:endParaRPr sz="1000" b="0" i="0">
              <a:solidFill>
                <a:srgbClr val="1F2A37"/>
              </a:solidFill>
              <a:latin typeface="Calibri"/>
            </a:endParaRPr>
          </a:p>
          <a:p>
            <a:endParaRPr sz="10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8" name="step.tier.unthoughtful"/>
          <p:cNvSpPr>
            <a:spLocks noGrp="1"/>
          </p:cNvSpPr>
          <p:nvPr>
            <p:ph type="body" idx="15"/>
          </p:nvPr>
        </p:nvSpPr>
        <p:spPr/>
        <p:txBody>
          <a:bodyPr/>
          <a:lstStyle/>
          <a:p>
            <a:r>
              <a:rPr sz="900" b="1" i="0" spc="60">
                <a:solidFill>
                  <a:srgbClr val="B54B3A"/>
                </a:solidFill>
                <a:latin typeface="Calibri"/>
              </a:rPr>
              <a:t>UNTHOUGHTFUL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Look for: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Respond: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Scene moves (roleplay only):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9" name="step.tier.neutral"/>
          <p:cNvSpPr>
            <a:spLocks noGrp="1"/>
          </p:cNvSpPr>
          <p:nvPr>
            <p:ph type="body" idx="16"/>
          </p:nvPr>
        </p:nvSpPr>
        <p:spPr/>
        <p:txBody>
          <a:bodyPr/>
          <a:lstStyle/>
          <a:p>
            <a:r>
              <a:rPr sz="900" b="1" i="0" spc="60">
                <a:solidFill>
                  <a:srgbClr val="8A6D1F"/>
                </a:solidFill>
                <a:latin typeface="Calibri"/>
              </a:rPr>
              <a:t>NEUTRAL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Look for: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Respond: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Scene moves (roleplay only):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10" name="step.tier.strong"/>
          <p:cNvSpPr>
            <a:spLocks noGrp="1"/>
          </p:cNvSpPr>
          <p:nvPr>
            <p:ph type="body" idx="17"/>
          </p:nvPr>
        </p:nvSpPr>
        <p:spPr/>
        <p:txBody>
          <a:bodyPr/>
          <a:lstStyle/>
          <a:p>
            <a:r>
              <a:rPr sz="900" b="1" i="0" spc="60">
                <a:solidFill>
                  <a:srgbClr val="2E7D4F"/>
                </a:solidFill>
                <a:latin typeface="Calibri"/>
              </a:rPr>
              <a:t>STRONG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Look for: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Respond: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  <a:p>
            <a:pPr>
              <a:spcBef>
                <a:spcPts val="400"/>
              </a:spcBef>
            </a:pPr>
            <a:r>
              <a:rPr sz="950" b="1" i="0">
                <a:solidFill>
                  <a:srgbClr val="43505E"/>
                </a:solidFill>
                <a:latin typeface="Calibri"/>
              </a:rPr>
              <a:t>Scene moves (roleplay only):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11" name="step.debrief"/>
          <p:cNvSpPr>
            <a:spLocks noGrp="1"/>
          </p:cNvSpPr>
          <p:nvPr>
            <p:ph type="body" idx="18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DEBRIEF LANDS — 2 TO 4 POINTS EVERY LEARNER HEARS, HOWEVER THE ATTEMPT WENT</a:t>
            </a:r>
            <a:endParaRPr sz="950" b="0" i="0">
              <a:solidFill>
                <a:srgbClr val="1F2A37"/>
              </a:solidFill>
              <a:latin typeface="Calibri"/>
            </a:endParaRPr>
          </a:p>
          <a:p>
            <a:endParaRPr sz="950" b="0" i="0">
              <a:solidFill>
                <a:srgbClr val="1F2A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1F2A37"/>
                </a:solidFill>
                <a:latin typeface="Calibri"/>
              </a:rPr>
              <a:t>THE CLOSE</a:t>
            </a:r>
          </a:p>
        </p:txBody>
      </p:sp>
      <p:sp>
        <p:nvSpPr>
          <p:cNvPr id="3" name="close.components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IDEAL RESPONSE COMPONENTS — A HEADING, THEN ITS POINTS</a:t>
            </a:r>
            <a:endParaRPr sz="1050" b="0" i="0">
              <a:solidFill>
                <a:srgbClr val="1F2A37"/>
              </a:solidFill>
              <a:latin typeface="Calibri"/>
            </a:endParaRPr>
          </a:p>
          <a:p>
            <a:endParaRPr sz="105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4" name="close.summary"/>
          <p:cNvSpPr>
            <a:spLocks noGrp="1"/>
          </p:cNvSpPr>
          <p:nvPr>
            <p:ph type="body" idx="11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SUMMARY — VERBATIM</a:t>
            </a:r>
            <a:endParaRPr sz="1100" b="0" i="0">
              <a:solidFill>
                <a:srgbClr val="1F2A37"/>
              </a:solidFill>
              <a:latin typeface="Calibri"/>
            </a:endParaRPr>
          </a:p>
          <a:p>
            <a:endParaRPr sz="11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5" name="close.authorities"/>
          <p:cNvSpPr>
            <a:spLocks noGrp="1"/>
          </p:cNvSpPr>
          <p:nvPr>
            <p:ph type="body" idx="12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EXTERNAL AUTHORITIES</a:t>
            </a:r>
            <a:endParaRPr sz="1000" b="0" i="0">
              <a:solidFill>
                <a:srgbClr val="1F2A37"/>
              </a:solidFill>
              <a:latin typeface="Calibri"/>
            </a:endParaRPr>
          </a:p>
          <a:p>
            <a:endParaRPr sz="1000" b="0" i="0">
              <a:solidFill>
                <a:srgbClr val="1F2A37"/>
              </a:solidFill>
              <a:latin typeface="Calibri"/>
            </a:endParaRPr>
          </a:p>
        </p:txBody>
      </p:sp>
      <p:sp>
        <p:nvSpPr>
          <p:cNvPr id="6" name="close.internal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INTERNAL SOURCE SLIDES</a:t>
            </a:r>
            <a:endParaRPr sz="1000" b="0" i="0">
              <a:solidFill>
                <a:srgbClr val="1F2A37"/>
              </a:solidFill>
              <a:latin typeface="Calibri"/>
            </a:endParaRPr>
          </a:p>
          <a:p>
            <a:endParaRPr sz="1000" b="0" i="0">
              <a:solidFill>
                <a:srgbClr val="1F2A37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 i="0">
                <a:solidFill>
                  <a:srgbClr val="1F2A37"/>
                </a:solidFill>
                <a:latin typeface="Calibri"/>
              </a:rPr>
              <a:t>SOURCE MATERIAL</a:t>
            </a:r>
          </a:p>
        </p:txBody>
      </p:sp>
      <p:sp>
        <p:nvSpPr>
          <p:cNvPr id="3" name="source.text"/>
          <p:cNvSpPr>
            <a:spLocks noGrp="1"/>
          </p:cNvSpPr>
          <p:nvPr>
            <p:ph type="body" idx="10"/>
          </p:nvPr>
        </p:nvSpPr>
        <p:spPr/>
        <p:txBody>
          <a:bodyPr/>
          <a:lstStyle/>
          <a:p>
            <a:r>
              <a:rPr sz="900" b="1" i="0" spc="60">
                <a:solidFill>
                  <a:srgbClr val="0271CE"/>
                </a:solidFill>
                <a:latin typeface="Calibri"/>
              </a:rPr>
              <a:t>SOURCE TEXT</a:t>
            </a:r>
            <a:endParaRPr sz="1050" b="0" i="0">
              <a:solidFill>
                <a:srgbClr val="1F2A37"/>
              </a:solidFill>
              <a:latin typeface="Calibri"/>
            </a:endParaRPr>
          </a:p>
          <a:p>
            <a:endParaRPr sz="1050" b="0" i="0">
              <a:solidFill>
                <a:srgbClr val="1F2A37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Scenario Brief — template</dc:title>
  <dc:subject>Scenario Brief — the K&amp;A input to the Scenario Editor</dc:subject>
  <dc:creator>Aithera UX · Scenario Simulator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