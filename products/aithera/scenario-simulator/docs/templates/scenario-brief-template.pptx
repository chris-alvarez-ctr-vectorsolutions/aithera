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SCENARIO BRIEF — how to use this deck</a:t>
            </a:r>
          </a:p>
          <a:p/>
          <a:p>
            <a:r>
              <a:t>Every field is a PowerPoint placeholder. Type into the fields and keep the small label line at the top of each one. Do not add text boxes or tables — Outline view does not export them, so the editor would never see them.</a:t>
            </a:r>
          </a:p>
          <a:p/>
          <a:p>
            <a:r>
              <a:t>One slide per step: duplicate a STEP slide (Cmd/Ctrl+D) for each new step rather than inserting from the layout gallery. Delete INITIAL REFLECTION if the scenario has no warm-up. Delete EXAMPLES slides you don’t need — the wizard drafts examples itself.</a:t>
            </a:r>
          </a:p>
          <a:p/>
          <a:p>
            <a:r>
              <a:t>Verbatim fields are what the learner reads, word for word. Every other field is guidance for the coach.</a:t>
            </a:r>
          </a:p>
          <a:p/>
          <a:p>
            <a:r>
              <a:t>To hand off: View → Outline → select all → copy → paste into the Scenario Editor’s Start-from-scratch source box. The wizard reads the labels and pre-fills its interview; the AI drafts only what you left blank.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nel"/>
          <p:cNvSpPr/>
          <p:nvPr/>
        </p:nvSpPr>
        <p:spPr>
          <a:xfrm>
            <a:off x="457200" y="1097280"/>
            <a:ext cx="7040880" cy="4663440"/>
          </a:xfrm>
          <a:prstGeom prst="roundRect">
            <a:avLst>
              <a:gd name="adj" fmla="val 45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panel"/>
          <p:cNvSpPr/>
          <p:nvPr/>
        </p:nvSpPr>
        <p:spPr>
          <a:xfrm>
            <a:off x="8881567" y="384048"/>
            <a:ext cx="2852928" cy="329184"/>
          </a:xfrm>
          <a:prstGeom prst="roundRect">
            <a:avLst>
              <a:gd name="adj" fmla="val 4500"/>
            </a:avLst>
          </a:prstGeom>
          <a:solidFill>
            <a:srgbClr val="E3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"/>
          <p:cNvSpPr txBox="1"/>
          <p:nvPr/>
        </p:nvSpPr>
        <p:spPr>
          <a:xfrm>
            <a:off x="8881567" y="384048"/>
            <a:ext cx="2852928" cy="329184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900" b="0" i="0">
                <a:solidFill>
                  <a:srgbClr val="43505E"/>
                </a:solidFill>
                <a:latin typeface="Calibri"/>
              </a:rPr>
              <a:t>Cover  →  editor: Basics · Title</a:t>
            </a:r>
          </a:p>
        </p:txBody>
      </p:sp>
      <p:sp>
        <p:nvSpPr>
          <p:cNvPr id="6" name="help"/>
          <p:cNvSpPr txBox="1"/>
          <p:nvPr/>
        </p:nvSpPr>
        <p:spPr>
          <a:xfrm>
            <a:off x="457200" y="5486400"/>
            <a:ext cx="7040880" cy="274320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750" b="0" i="1">
                <a:solidFill>
                  <a:srgbClr val="6B7785"/>
                </a:solidFill>
                <a:latin typeface="Calibri"/>
              </a:rPr>
              <a:t>Working title — the draft proposes one if blank.  → editor: Basics · Title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457200" y="6510528"/>
            <a:ext cx="5943600" cy="274320"/>
          </a:xfrm>
          <a:prstGeom prst="rect">
            <a:avLst/>
          </a:prstGeom>
          <a:noFill/>
        </p:spPr>
        <p:txBody>
          <a:bodyPr wrap="square" lIns="109728" rIns="109728" tIns="27432" bIns="27432" anchor="t">
            <a:spAutoFit/>
          </a:bodyPr>
          <a:lstStyle/>
          <a:p>
            <a:r>
              <a:rPr sz="800" b="1" i="0">
                <a:solidFill>
                  <a:srgbClr val="6B7785"/>
                </a:solidFill>
                <a:latin typeface="Calibri"/>
              </a:rPr>
              <a:t>Scenario Brief · template v1</a:t>
            </a:r>
            <a:r>
              <a:rPr sz="800" b="0" i="0">
                <a:solidFill>
                  <a:srgbClr val="6B7785"/>
                </a:solidFill>
                <a:latin typeface="Calibri"/>
              </a:rPr>
              <a:t>  ·  Aithera Scenario Simulator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6309360" y="6510528"/>
            <a:ext cx="5422392" cy="274320"/>
          </a:xfrm>
          <a:prstGeom prst="rect">
            <a:avLst/>
          </a:prstGeom>
          <a:noFill/>
        </p:spPr>
        <p:txBody>
          <a:bodyPr wrap="square" lIns="109728" rIns="109728" tIns="27432" bIns="27432" anchor="t">
            <a:spAutoFit/>
          </a:bodyPr>
          <a:lstStyle/>
          <a:p>
            <a:r>
              <a:rPr sz="800" b="0" i="1">
                <a:solidFill>
                  <a:srgbClr val="6B7785"/>
                </a:solidFill>
                <a:latin typeface="Calibri"/>
              </a:rPr>
              <a:t>Fields are placeholders — type into them. Text boxes and tables are not exported.</a:t>
            </a:r>
          </a:p>
        </p:txBody>
      </p:sp>
      <p:sp>
        <p:nvSpPr>
          <p:cNvPr id="9" name="panel"/>
          <p:cNvSpPr/>
          <p:nvPr/>
        </p:nvSpPr>
        <p:spPr>
          <a:xfrm>
            <a:off x="7863840" y="1097280"/>
            <a:ext cx="3867912" cy="4663440"/>
          </a:xfrm>
          <a:prstGeom prst="roundRect">
            <a:avLst>
              <a:gd name="adj" fmla="val 4500"/>
            </a:avLst>
          </a:prstGeom>
          <a:solidFill>
            <a:srgbClr val="E3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howto"/>
          <p:cNvSpPr txBox="1"/>
          <p:nvPr/>
        </p:nvSpPr>
        <p:spPr>
          <a:xfrm>
            <a:off x="7863840" y="1097280"/>
            <a:ext cx="3867912" cy="4663440"/>
          </a:xfrm>
          <a:prstGeom prst="rect">
            <a:avLst/>
          </a:prstGeom>
          <a:noFill/>
        </p:spPr>
        <p:txBody>
          <a:bodyPr wrap="square" lIns="182880" rIns="182880" tIns="146304">
            <a:spAutoFit/>
          </a:bodyPr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HOW THIS BRIEF WORKS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1F2A37"/>
                </a:solidFill>
                <a:latin typeface="Calibri"/>
              </a:rPr>
              <a:t>Type into the fields.</a:t>
            </a:r>
            <a:r>
              <a:rPr sz="1000" b="0" i="0">
                <a:solidFill>
                  <a:srgbClr val="43505E"/>
                </a:solidFill>
                <a:latin typeface="Calibri"/>
              </a:rPr>
              <a:t> Every field is a placeholder. Outline view exports exactly what you type — and only that.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1F2A37"/>
                </a:solidFill>
                <a:latin typeface="Calibri"/>
              </a:rPr>
              <a:t>Keep the label line</a:t>
            </a:r>
            <a:r>
              <a:rPr sz="1000" b="0" i="0">
                <a:solidFill>
                  <a:srgbClr val="43505E"/>
                </a:solidFill>
                <a:latin typeface="Calibri"/>
              </a:rPr>
              <a:t> at the top of each field. It is how the editor knows what it is reading.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1F2A37"/>
                </a:solidFill>
                <a:latin typeface="Calibri"/>
              </a:rPr>
              <a:t>One idea per line</a:t>
            </a:r>
            <a:r>
              <a:rPr sz="1000" b="0" i="0">
                <a:solidFill>
                  <a:srgbClr val="43505E"/>
                </a:solidFill>
                <a:latin typeface="Calibri"/>
              </a:rPr>
              <a:t> in list fields. No bullets needed.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1F2A37"/>
                </a:solidFill>
                <a:latin typeface="Calibri"/>
              </a:rPr>
              <a:t>Quotes mean verbatim.</a:t>
            </a:r>
            <a:r>
              <a:rPr sz="1000" b="0" i="0">
                <a:solidFill>
                  <a:srgbClr val="43505E"/>
                </a:solidFill>
                <a:latin typeface="Calibri"/>
              </a:rPr>
              <a:t> A field marked verbatim is what the learner reads, word for word. Everything else is guidance for the coach.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1F2A37"/>
                </a:solidFill>
                <a:latin typeface="Calibri"/>
              </a:rPr>
              <a:t>Duplicate a step slide</a:t>
            </a:r>
            <a:r>
              <a:rPr sz="1000" b="0" i="0">
                <a:solidFill>
                  <a:srgbClr val="43505E"/>
                </a:solidFill>
                <a:latin typeface="Calibri"/>
              </a:rPr>
              <a:t> for each new step (⌘D). Don’t insert one from the layout gallery — it arrives without its labels.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1F2A37"/>
                </a:solidFill>
                <a:latin typeface="Calibri"/>
              </a:rPr>
              <a:t>No engine notes.</a:t>
            </a:r>
            <a:r>
              <a:rPr sz="1000" b="0" i="0">
                <a:solidFill>
                  <a:srgbClr val="43505E"/>
                </a:solidFill>
                <a:latin typeface="Calibri"/>
              </a:rPr>
              <a:t> Triggers, input types, partner labels and button behavior are fixed by the player.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1F2A37"/>
                </a:solidFill>
                <a:latin typeface="Calibri"/>
              </a:rPr>
              <a:t>Copy out:</a:t>
            </a:r>
            <a:r>
              <a:rPr sz="1000" b="0" i="0">
                <a:solidFill>
                  <a:srgbClr val="43505E"/>
                </a:solidFill>
                <a:latin typeface="Calibri"/>
              </a:rPr>
              <a:t> View → Outline → select all → paste into the editor’s Start-from-scratch source box.</a:t>
            </a:r>
          </a:p>
        </p:txBody>
      </p:sp>
      <p:sp>
        <p:nvSpPr>
          <p:cNvPr id="11" name="title"/>
          <p:cNvSpPr/>
          <p:nvPr>
            <p:ph type="title"/>
          </p:nvPr>
        </p:nvSpPr>
        <p:spPr>
          <a:xfrm>
            <a:off x="457200" y="274320"/>
            <a:ext cx="8241487" cy="640080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2400" b="1">
                <a:solidFill>
                  <a:srgbClr val="1F2A37"/>
                </a:solidFill>
                <a:latin typeface="Calibri"/>
              </a:defRPr>
            </a:lvl1pPr>
          </a:lstStyle>
          <a:p>
            <a:r>
              <a:rPr sz="2400" b="1" i="0">
                <a:solidFill>
                  <a:srgbClr val="1F2A37"/>
                </a:solidFill>
                <a:latin typeface="Calibri"/>
              </a:rPr>
              <a:t>SCENARIO BASICS</a:t>
            </a:r>
          </a:p>
        </p:txBody>
      </p:sp>
      <p:sp>
        <p:nvSpPr>
          <p:cNvPr id="12" name="cover.title"/>
          <p:cNvSpPr/>
          <p:nvPr>
            <p:ph type="body" idx="10"/>
          </p:nvPr>
        </p:nvSpPr>
        <p:spPr>
          <a:xfrm>
            <a:off x="457200" y="1097280"/>
            <a:ext cx="7040880" cy="4389120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2400" b="0">
                <a:solidFill>
                  <a:srgbClr val="1F2A37"/>
                </a:solidFill>
                <a:latin typeface="Calibri"/>
              </a:defRPr>
            </a:lvl1pPr>
            <a:lvl2pPr marL="228600" indent="-228600">
              <a:buChar char="•"/>
              <a:defRPr sz="2400">
                <a:latin typeface="Calibri"/>
              </a:defRPr>
            </a:lvl2pPr>
          </a:lstStyle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SCENARIO TITLE</a:t>
            </a:r>
          </a:p>
          <a:p>
            <a:r>
              <a:rPr sz="2400" b="0" i="1">
                <a:solidFill>
                  <a:srgbClr val="6B7785"/>
                </a:solidFill>
                <a:latin typeface="Calibri"/>
              </a:rPr>
              <a:t>Type here — keep the label line above.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rief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nel"/>
          <p:cNvSpPr/>
          <p:nvPr/>
        </p:nvSpPr>
        <p:spPr>
          <a:xfrm>
            <a:off x="457200" y="1097280"/>
            <a:ext cx="5532120" cy="5349240"/>
          </a:xfrm>
          <a:prstGeom prst="roundRect">
            <a:avLst>
              <a:gd name="adj" fmla="val 45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panel"/>
          <p:cNvSpPr/>
          <p:nvPr/>
        </p:nvSpPr>
        <p:spPr>
          <a:xfrm>
            <a:off x="6199632" y="1097280"/>
            <a:ext cx="5532120" cy="5349240"/>
          </a:xfrm>
          <a:prstGeom prst="roundRect">
            <a:avLst>
              <a:gd name="adj" fmla="val 45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panel"/>
          <p:cNvSpPr/>
          <p:nvPr/>
        </p:nvSpPr>
        <p:spPr>
          <a:xfrm>
            <a:off x="7871155" y="384048"/>
            <a:ext cx="3863340" cy="329184"/>
          </a:xfrm>
          <a:prstGeom prst="roundRect">
            <a:avLst>
              <a:gd name="adj" fmla="val 4500"/>
            </a:avLst>
          </a:prstGeom>
          <a:solidFill>
            <a:srgbClr val="E3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hip"/>
          <p:cNvSpPr txBox="1"/>
          <p:nvPr/>
        </p:nvSpPr>
        <p:spPr>
          <a:xfrm>
            <a:off x="7871155" y="384048"/>
            <a:ext cx="3863340" cy="329184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900" b="0" i="0">
                <a:solidFill>
                  <a:srgbClr val="43505E"/>
                </a:solidFill>
                <a:latin typeface="Calibri"/>
              </a:rPr>
              <a:t>Wizard step 1 · The brief  →  Editor · Basics</a:t>
            </a:r>
          </a:p>
        </p:txBody>
      </p:sp>
      <p:sp>
        <p:nvSpPr>
          <p:cNvPr id="7" name="help"/>
          <p:cNvSpPr txBox="1"/>
          <p:nvPr/>
        </p:nvSpPr>
        <p:spPr>
          <a:xfrm>
            <a:off x="457200" y="6172200"/>
            <a:ext cx="5532120" cy="274320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750" b="0" i="1">
                <a:solidFill>
                  <a:srgbClr val="6B7785"/>
                </a:solidFill>
                <a:latin typeface="Calibri"/>
              </a:rPr>
              <a:t>One line. Everything else builds on this.  → wizard: What is this scenario about?</a:t>
            </a:r>
          </a:p>
        </p:txBody>
      </p:sp>
      <p:sp>
        <p:nvSpPr>
          <p:cNvPr id="8" name="help"/>
          <p:cNvSpPr txBox="1"/>
          <p:nvPr/>
        </p:nvSpPr>
        <p:spPr>
          <a:xfrm>
            <a:off x="6199632" y="6172200"/>
            <a:ext cx="5532120" cy="274320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750" b="0" i="1">
                <a:solidFill>
                  <a:srgbClr val="6B7785"/>
                </a:solidFill>
                <a:latin typeface="Calibri"/>
              </a:rPr>
              <a:t>Their position in the situation — placed to notice, decide or act.  → wizard: Who does the learner play?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457200" y="6510528"/>
            <a:ext cx="5943600" cy="274320"/>
          </a:xfrm>
          <a:prstGeom prst="rect">
            <a:avLst/>
          </a:prstGeom>
          <a:noFill/>
        </p:spPr>
        <p:txBody>
          <a:bodyPr wrap="square" lIns="109728" rIns="109728" tIns="27432" bIns="27432" anchor="t">
            <a:spAutoFit/>
          </a:bodyPr>
          <a:lstStyle/>
          <a:p>
            <a:r>
              <a:rPr sz="800" b="1" i="0">
                <a:solidFill>
                  <a:srgbClr val="6B7785"/>
                </a:solidFill>
                <a:latin typeface="Calibri"/>
              </a:rPr>
              <a:t>Scenario Brief · template v1</a:t>
            </a:r>
            <a:r>
              <a:rPr sz="800" b="0" i="0">
                <a:solidFill>
                  <a:srgbClr val="6B7785"/>
                </a:solidFill>
                <a:latin typeface="Calibri"/>
              </a:rPr>
              <a:t>  ·  Aithera Scenario Simulator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6309360" y="6510528"/>
            <a:ext cx="5422392" cy="274320"/>
          </a:xfrm>
          <a:prstGeom prst="rect">
            <a:avLst/>
          </a:prstGeom>
          <a:noFill/>
        </p:spPr>
        <p:txBody>
          <a:bodyPr wrap="square" lIns="109728" rIns="109728" tIns="27432" bIns="27432" anchor="t">
            <a:spAutoFit/>
          </a:bodyPr>
          <a:lstStyle/>
          <a:p>
            <a:r>
              <a:rPr sz="800" b="0" i="1">
                <a:solidFill>
                  <a:srgbClr val="6B7785"/>
                </a:solidFill>
                <a:latin typeface="Calibri"/>
              </a:rPr>
              <a:t>Fields are placeholders — type into them. Text boxes and tables are not exported.</a:t>
            </a:r>
          </a:p>
        </p:txBody>
      </p:sp>
      <p:sp>
        <p:nvSpPr>
          <p:cNvPr id="11" name="title"/>
          <p:cNvSpPr/>
          <p:nvPr>
            <p:ph type="title"/>
          </p:nvPr>
        </p:nvSpPr>
        <p:spPr>
          <a:xfrm>
            <a:off x="457200" y="274320"/>
            <a:ext cx="7231075" cy="640080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2400" b="1">
                <a:solidFill>
                  <a:srgbClr val="1F2A37"/>
                </a:solidFill>
                <a:latin typeface="Calibri"/>
              </a:defRPr>
            </a:lvl1pPr>
          </a:lstStyle>
          <a:p>
            <a:r>
              <a:rPr sz="2400" b="1" i="0">
                <a:solidFill>
                  <a:srgbClr val="1F2A37"/>
                </a:solidFill>
                <a:latin typeface="Calibri"/>
              </a:rPr>
              <a:t>THE BRIEF</a:t>
            </a:r>
          </a:p>
        </p:txBody>
      </p:sp>
      <p:sp>
        <p:nvSpPr>
          <p:cNvPr id="12" name="brief.topic"/>
          <p:cNvSpPr/>
          <p:nvPr>
            <p:ph type="body" idx="10"/>
          </p:nvPr>
        </p:nvSpPr>
        <p:spPr>
          <a:xfrm>
            <a:off x="457200" y="1097280"/>
            <a:ext cx="5532120" cy="5074920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rgbClr val="1F2A37"/>
                </a:solidFill>
                <a:latin typeface="Calibri"/>
              </a:defRPr>
            </a:lvl1pPr>
            <a:lvl2pPr marL="228600" indent="-228600">
              <a:buChar char="•"/>
              <a:defRPr sz="1200">
                <a:latin typeface="Calibri"/>
              </a:defRPr>
            </a:lvl2pPr>
          </a:lstStyle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TOPIC</a:t>
            </a:r>
          </a:p>
          <a:p>
            <a:r>
              <a:rPr sz="1200" b="0" i="1">
                <a:solidFill>
                  <a:srgbClr val="6B7785"/>
                </a:solidFill>
                <a:latin typeface="Calibri"/>
              </a:rPr>
              <a:t>Type here — keep the label line above.</a:t>
            </a:r>
          </a:p>
        </p:txBody>
      </p:sp>
      <p:sp>
        <p:nvSpPr>
          <p:cNvPr id="13" name="brief.learner"/>
          <p:cNvSpPr/>
          <p:nvPr>
            <p:ph type="body" idx="11"/>
          </p:nvPr>
        </p:nvSpPr>
        <p:spPr>
          <a:xfrm>
            <a:off x="6199632" y="1097280"/>
            <a:ext cx="5532120" cy="5074920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rgbClr val="1F2A37"/>
                </a:solidFill>
                <a:latin typeface="Calibri"/>
              </a:defRPr>
            </a:lvl1pPr>
            <a:lvl2pPr marL="228600" indent="-228600">
              <a:buChar char="•"/>
              <a:defRPr sz="1200">
                <a:latin typeface="Calibri"/>
              </a:defRPr>
            </a:lvl2pPr>
          </a:lstStyle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THE LEARNER PLAYS</a:t>
            </a:r>
          </a:p>
          <a:p>
            <a:r>
              <a:rPr sz="1200" b="0" i="1">
                <a:solidFill>
                  <a:srgbClr val="6B7785"/>
                </a:solidFill>
                <a:latin typeface="Calibri"/>
              </a:rPr>
              <a:t>Type here — keep the label line above.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ituation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nel"/>
          <p:cNvSpPr/>
          <p:nvPr/>
        </p:nvSpPr>
        <p:spPr>
          <a:xfrm>
            <a:off x="457200" y="1097280"/>
            <a:ext cx="6903720" cy="5349240"/>
          </a:xfrm>
          <a:prstGeom prst="roundRect">
            <a:avLst>
              <a:gd name="adj" fmla="val 45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panel"/>
          <p:cNvSpPr/>
          <p:nvPr/>
        </p:nvSpPr>
        <p:spPr>
          <a:xfrm>
            <a:off x="7571231" y="1097280"/>
            <a:ext cx="4160520" cy="1234440"/>
          </a:xfrm>
          <a:prstGeom prst="roundRect">
            <a:avLst>
              <a:gd name="adj" fmla="val 45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panel"/>
          <p:cNvSpPr/>
          <p:nvPr/>
        </p:nvSpPr>
        <p:spPr>
          <a:xfrm>
            <a:off x="7571231" y="2560320"/>
            <a:ext cx="4160520" cy="3886200"/>
          </a:xfrm>
          <a:prstGeom prst="roundRect">
            <a:avLst>
              <a:gd name="adj" fmla="val 45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anel"/>
          <p:cNvSpPr/>
          <p:nvPr/>
        </p:nvSpPr>
        <p:spPr>
          <a:xfrm>
            <a:off x="7016191" y="384048"/>
            <a:ext cx="4718304" cy="329184"/>
          </a:xfrm>
          <a:prstGeom prst="roundRect">
            <a:avLst>
              <a:gd name="adj" fmla="val 4500"/>
            </a:avLst>
          </a:prstGeom>
          <a:solidFill>
            <a:srgbClr val="E3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hip"/>
          <p:cNvSpPr txBox="1"/>
          <p:nvPr/>
        </p:nvSpPr>
        <p:spPr>
          <a:xfrm>
            <a:off x="7016191" y="384048"/>
            <a:ext cx="4718304" cy="329184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900" b="0" i="0">
                <a:solidFill>
                  <a:srgbClr val="43505E"/>
                </a:solidFill>
                <a:latin typeface="Calibri"/>
              </a:rPr>
              <a:t>Wizard step 2 · The world  →  Editor · Situation &amp; world</a:t>
            </a:r>
          </a:p>
        </p:txBody>
      </p:sp>
      <p:sp>
        <p:nvSpPr>
          <p:cNvPr id="8" name="help"/>
          <p:cNvSpPr txBox="1"/>
          <p:nvPr/>
        </p:nvSpPr>
        <p:spPr>
          <a:xfrm>
            <a:off x="457200" y="6172200"/>
            <a:ext cx="6903720" cy="274320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750" b="1" i="0">
                <a:solidFill>
                  <a:srgbClr val="6B7785"/>
                </a:solidFill>
                <a:latin typeface="Calibri"/>
              </a:rPr>
              <a:t>VERBATIM  </a:t>
            </a:r>
            <a:r>
              <a:rPr sz="750" b="0" i="1">
                <a:solidFill>
                  <a:srgbClr val="6B7785"/>
                </a:solidFill>
                <a:latin typeface="Calibri"/>
              </a:rPr>
              <a:t>Second person, present tense. The learner reads it, and it is the coach’s only picture of the setup.  → v4: narrative</a:t>
            </a:r>
          </a:p>
        </p:txBody>
      </p:sp>
      <p:sp>
        <p:nvSpPr>
          <p:cNvPr id="9" name="help"/>
          <p:cNvSpPr txBox="1"/>
          <p:nvPr/>
        </p:nvSpPr>
        <p:spPr>
          <a:xfrm>
            <a:off x="7571231" y="2057400"/>
            <a:ext cx="4160520" cy="274320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750" b="0" i="1">
                <a:solidFill>
                  <a:srgbClr val="6B7785"/>
                </a:solidFill>
                <a:latin typeface="Calibri"/>
              </a:rPr>
              <a:t>Where this happens, in one line. The coach never sees it.  → v4: scene_world.setting</a:t>
            </a:r>
          </a:p>
        </p:txBody>
      </p:sp>
      <p:sp>
        <p:nvSpPr>
          <p:cNvPr id="10" name="help"/>
          <p:cNvSpPr txBox="1"/>
          <p:nvPr/>
        </p:nvSpPr>
        <p:spPr>
          <a:xfrm>
            <a:off x="7571231" y="6172200"/>
            <a:ext cx="4160520" cy="274320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750" b="0" i="1">
                <a:solidFill>
                  <a:srgbClr val="6B7785"/>
                </a:solidFill>
                <a:latin typeface="Calibri"/>
              </a:rPr>
              <a:t>Identity and disposition only; reactions go on the step.  → v4: scene_world.characters</a:t>
            </a:r>
          </a:p>
        </p:txBody>
      </p:sp>
      <p:sp>
        <p:nvSpPr>
          <p:cNvPr id="11" name="footer"/>
          <p:cNvSpPr txBox="1"/>
          <p:nvPr/>
        </p:nvSpPr>
        <p:spPr>
          <a:xfrm>
            <a:off x="457200" y="6510528"/>
            <a:ext cx="5943600" cy="274320"/>
          </a:xfrm>
          <a:prstGeom prst="rect">
            <a:avLst/>
          </a:prstGeom>
          <a:noFill/>
        </p:spPr>
        <p:txBody>
          <a:bodyPr wrap="square" lIns="109728" rIns="109728" tIns="27432" bIns="27432" anchor="t">
            <a:spAutoFit/>
          </a:bodyPr>
          <a:lstStyle/>
          <a:p>
            <a:r>
              <a:rPr sz="800" b="1" i="0">
                <a:solidFill>
                  <a:srgbClr val="6B7785"/>
                </a:solidFill>
                <a:latin typeface="Calibri"/>
              </a:rPr>
              <a:t>Scenario Brief · template v1</a:t>
            </a:r>
            <a:r>
              <a:rPr sz="800" b="0" i="0">
                <a:solidFill>
                  <a:srgbClr val="6B7785"/>
                </a:solidFill>
                <a:latin typeface="Calibri"/>
              </a:rPr>
              <a:t>  ·  Aithera Scenario Simulator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6309360" y="6510528"/>
            <a:ext cx="5422392" cy="274320"/>
          </a:xfrm>
          <a:prstGeom prst="rect">
            <a:avLst/>
          </a:prstGeom>
          <a:noFill/>
        </p:spPr>
        <p:txBody>
          <a:bodyPr wrap="square" lIns="109728" rIns="109728" tIns="27432" bIns="27432" anchor="t">
            <a:spAutoFit/>
          </a:bodyPr>
          <a:lstStyle/>
          <a:p>
            <a:r>
              <a:rPr sz="800" b="0" i="1">
                <a:solidFill>
                  <a:srgbClr val="6B7785"/>
                </a:solidFill>
                <a:latin typeface="Calibri"/>
              </a:rPr>
              <a:t>Fields are placeholders — type into them. Text boxes and tables are not exported.</a:t>
            </a:r>
          </a:p>
        </p:txBody>
      </p:sp>
      <p:sp>
        <p:nvSpPr>
          <p:cNvPr id="13" name="title"/>
          <p:cNvSpPr/>
          <p:nvPr>
            <p:ph type="title"/>
          </p:nvPr>
        </p:nvSpPr>
        <p:spPr>
          <a:xfrm>
            <a:off x="457200" y="274320"/>
            <a:ext cx="6376111" cy="640080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2400" b="1">
                <a:solidFill>
                  <a:srgbClr val="1F2A37"/>
                </a:solidFill>
                <a:latin typeface="Calibri"/>
              </a:defRPr>
            </a:lvl1pPr>
          </a:lstStyle>
          <a:p>
            <a:r>
              <a:rPr sz="2400" b="1" i="0">
                <a:solidFill>
                  <a:srgbClr val="1F2A37"/>
                </a:solidFill>
                <a:latin typeface="Calibri"/>
              </a:rPr>
              <a:t>THE SITUATION</a:t>
            </a:r>
          </a:p>
        </p:txBody>
      </p:sp>
      <p:sp>
        <p:nvSpPr>
          <p:cNvPr id="14" name="situation.narrative"/>
          <p:cNvSpPr/>
          <p:nvPr>
            <p:ph type="body" idx="10"/>
          </p:nvPr>
        </p:nvSpPr>
        <p:spPr>
          <a:xfrm>
            <a:off x="457200" y="1097280"/>
            <a:ext cx="6903720" cy="5074920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1100" b="0">
                <a:solidFill>
                  <a:srgbClr val="1F2A37"/>
                </a:solidFill>
                <a:latin typeface="Calibri"/>
              </a:defRPr>
            </a:lvl1pPr>
            <a:lvl2pPr marL="228600" indent="-228600">
              <a:buChar char="•"/>
              <a:defRPr sz="1100">
                <a:latin typeface="Calibri"/>
              </a:defRPr>
            </a:lvl2pPr>
          </a:lstStyle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WHAT’S TRUE AS THE SCENARIO OPENS — WRITTEN TO THE LEARNER</a:t>
            </a:r>
          </a:p>
          <a:p>
            <a:r>
              <a:rPr sz="1100" b="0" i="1">
                <a:solidFill>
                  <a:srgbClr val="6B7785"/>
                </a:solidFill>
                <a:latin typeface="Calibri"/>
              </a:rPr>
              <a:t>Type here — keep the label line above.</a:t>
            </a:r>
          </a:p>
        </p:txBody>
      </p:sp>
      <p:sp>
        <p:nvSpPr>
          <p:cNvPr id="15" name="situation.setting"/>
          <p:cNvSpPr/>
          <p:nvPr>
            <p:ph type="body" idx="11"/>
          </p:nvPr>
        </p:nvSpPr>
        <p:spPr>
          <a:xfrm>
            <a:off x="7571231" y="1097280"/>
            <a:ext cx="4160520" cy="960120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rgbClr val="1F2A37"/>
                </a:solidFill>
                <a:latin typeface="Calibri"/>
              </a:defRPr>
            </a:lvl1pPr>
            <a:lvl2pPr marL="228600" indent="-228600">
              <a:buChar char="•"/>
              <a:defRPr sz="1200">
                <a:latin typeface="Calibri"/>
              </a:defRPr>
            </a:lvl2pPr>
          </a:lstStyle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SETTING</a:t>
            </a:r>
          </a:p>
          <a:p>
            <a:r>
              <a:rPr sz="1200" b="0" i="1">
                <a:solidFill>
                  <a:srgbClr val="6B7785"/>
                </a:solidFill>
                <a:latin typeface="Calibri"/>
              </a:rPr>
              <a:t>Type here — keep the label line above.</a:t>
            </a:r>
          </a:p>
        </p:txBody>
      </p:sp>
      <p:sp>
        <p:nvSpPr>
          <p:cNvPr id="16" name="situation.cast"/>
          <p:cNvSpPr/>
          <p:nvPr>
            <p:ph type="body" idx="12"/>
          </p:nvPr>
        </p:nvSpPr>
        <p:spPr>
          <a:xfrm>
            <a:off x="7571231" y="2560320"/>
            <a:ext cx="4160520" cy="3611880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1100" b="0">
                <a:solidFill>
                  <a:srgbClr val="1F2A37"/>
                </a:solidFill>
                <a:latin typeface="Calibri"/>
              </a:defRPr>
            </a:lvl1pPr>
            <a:lvl2pPr marL="228600" indent="-228600">
              <a:buChar char="•"/>
              <a:defRPr sz="1100">
                <a:latin typeface="Calibri"/>
              </a:defRPr>
            </a:lvl2pPr>
          </a:lstStyle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CAST — NAME — ROLE — DRIVER — NEVER DOES</a:t>
            </a:r>
          </a:p>
          <a:p>
            <a:r>
              <a:rPr sz="1100" b="0" i="1">
                <a:solidFill>
                  <a:srgbClr val="6B7785"/>
                </a:solidFill>
                <a:latin typeface="Calibri"/>
              </a:rPr>
              <a:t>Type here — keep the label line above.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eaching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nel"/>
          <p:cNvSpPr/>
          <p:nvPr/>
        </p:nvSpPr>
        <p:spPr>
          <a:xfrm>
            <a:off x="457200" y="1097280"/>
            <a:ext cx="5532120" cy="3566160"/>
          </a:xfrm>
          <a:prstGeom prst="roundRect">
            <a:avLst>
              <a:gd name="adj" fmla="val 45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panel"/>
          <p:cNvSpPr/>
          <p:nvPr/>
        </p:nvSpPr>
        <p:spPr>
          <a:xfrm>
            <a:off x="457200" y="4892040"/>
            <a:ext cx="5532120" cy="1554480"/>
          </a:xfrm>
          <a:prstGeom prst="roundRect">
            <a:avLst>
              <a:gd name="adj" fmla="val 45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panel"/>
          <p:cNvSpPr/>
          <p:nvPr/>
        </p:nvSpPr>
        <p:spPr>
          <a:xfrm>
            <a:off x="6199632" y="1097280"/>
            <a:ext cx="5532120" cy="3520440"/>
          </a:xfrm>
          <a:prstGeom prst="roundRect">
            <a:avLst>
              <a:gd name="adj" fmla="val 45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anel"/>
          <p:cNvSpPr/>
          <p:nvPr/>
        </p:nvSpPr>
        <p:spPr>
          <a:xfrm>
            <a:off x="6199632" y="4846320"/>
            <a:ext cx="5532120" cy="1600200"/>
          </a:xfrm>
          <a:prstGeom prst="roundRect">
            <a:avLst>
              <a:gd name="adj" fmla="val 45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anel"/>
          <p:cNvSpPr/>
          <p:nvPr/>
        </p:nvSpPr>
        <p:spPr>
          <a:xfrm>
            <a:off x="5850331" y="384048"/>
            <a:ext cx="5884164" cy="329184"/>
          </a:xfrm>
          <a:prstGeom prst="roundRect">
            <a:avLst>
              <a:gd name="adj" fmla="val 4500"/>
            </a:avLst>
          </a:prstGeom>
          <a:solidFill>
            <a:srgbClr val="E3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hip"/>
          <p:cNvSpPr txBox="1"/>
          <p:nvPr/>
        </p:nvSpPr>
        <p:spPr>
          <a:xfrm>
            <a:off x="5850331" y="384048"/>
            <a:ext cx="5884164" cy="329184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900" b="0" i="0">
                <a:solidFill>
                  <a:srgbClr val="43505E"/>
                </a:solidFill>
                <a:latin typeface="Calibri"/>
              </a:rPr>
              <a:t>Wizard step 2 · The teaching  →  Editor · Teaching points + Coach voice</a:t>
            </a:r>
          </a:p>
        </p:txBody>
      </p:sp>
      <p:sp>
        <p:nvSpPr>
          <p:cNvPr id="9" name="help"/>
          <p:cNvSpPr txBox="1"/>
          <p:nvPr/>
        </p:nvSpPr>
        <p:spPr>
          <a:xfrm>
            <a:off x="457200" y="4389120"/>
            <a:ext cx="5532120" cy="274320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750" b="0" i="1">
                <a:solidFill>
                  <a:srgbClr val="6B7785"/>
                </a:solidFill>
                <a:latin typeface="Calibri"/>
              </a:rPr>
              <a:t>What every learner walks away knowing — the teaching points and the expert answer.  → v4: teaching_points</a:t>
            </a:r>
          </a:p>
        </p:txBody>
      </p:sp>
      <p:sp>
        <p:nvSpPr>
          <p:cNvPr id="10" name="help"/>
          <p:cNvSpPr txBox="1"/>
          <p:nvPr/>
        </p:nvSpPr>
        <p:spPr>
          <a:xfrm>
            <a:off x="457200" y="6172200"/>
            <a:ext cx="5532120" cy="274320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750" b="0" i="1">
                <a:solidFill>
                  <a:srgbClr val="6B7785"/>
                </a:solidFill>
                <a:latin typeface="Calibri"/>
              </a:rPr>
              <a:t>What separates a strong pass from a thin one. Feeds the grading tiers on every step.  → wizard</a:t>
            </a:r>
          </a:p>
        </p:txBody>
      </p:sp>
      <p:sp>
        <p:nvSpPr>
          <p:cNvPr id="11" name="help"/>
          <p:cNvSpPr txBox="1"/>
          <p:nvPr/>
        </p:nvSpPr>
        <p:spPr>
          <a:xfrm>
            <a:off x="6199632" y="4343400"/>
            <a:ext cx="5532120" cy="274320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750" b="0" i="1">
                <a:solidFill>
                  <a:srgbClr val="6B7785"/>
                </a:solidFill>
                <a:latin typeface="Calibri"/>
              </a:rPr>
              <a:t>The misconception in the learner’s words, an arrow, then the coach’s redirect.  → v4: misconceptions</a:t>
            </a:r>
          </a:p>
        </p:txBody>
      </p:sp>
      <p:sp>
        <p:nvSpPr>
          <p:cNvPr id="12" name="help"/>
          <p:cNvSpPr txBox="1"/>
          <p:nvPr/>
        </p:nvSpPr>
        <p:spPr>
          <a:xfrm>
            <a:off x="6199632" y="6172200"/>
            <a:ext cx="5532120" cy="274320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750" b="0" i="1">
                <a:solidFill>
                  <a:srgbClr val="6B7785"/>
                </a:solidFill>
                <a:latin typeface="Calibri"/>
              </a:rPr>
              <a:t>How the coach comes across — a stance, not engine rules.  → v4: coach_persona + tone_guidelines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457200" y="6510528"/>
            <a:ext cx="5943600" cy="274320"/>
          </a:xfrm>
          <a:prstGeom prst="rect">
            <a:avLst/>
          </a:prstGeom>
          <a:noFill/>
        </p:spPr>
        <p:txBody>
          <a:bodyPr wrap="square" lIns="109728" rIns="109728" tIns="27432" bIns="27432" anchor="t">
            <a:spAutoFit/>
          </a:bodyPr>
          <a:lstStyle/>
          <a:p>
            <a:r>
              <a:rPr sz="800" b="1" i="0">
                <a:solidFill>
                  <a:srgbClr val="6B7785"/>
                </a:solidFill>
                <a:latin typeface="Calibri"/>
              </a:rPr>
              <a:t>Scenario Brief · template v1</a:t>
            </a:r>
            <a:r>
              <a:rPr sz="800" b="0" i="0">
                <a:solidFill>
                  <a:srgbClr val="6B7785"/>
                </a:solidFill>
                <a:latin typeface="Calibri"/>
              </a:rPr>
              <a:t>  ·  Aithera Scenario Simulator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6309360" y="6510528"/>
            <a:ext cx="5422392" cy="274320"/>
          </a:xfrm>
          <a:prstGeom prst="rect">
            <a:avLst/>
          </a:prstGeom>
          <a:noFill/>
        </p:spPr>
        <p:txBody>
          <a:bodyPr wrap="square" lIns="109728" rIns="109728" tIns="27432" bIns="27432" anchor="t">
            <a:spAutoFit/>
          </a:bodyPr>
          <a:lstStyle/>
          <a:p>
            <a:r>
              <a:rPr sz="800" b="0" i="1">
                <a:solidFill>
                  <a:srgbClr val="6B7785"/>
                </a:solidFill>
                <a:latin typeface="Calibri"/>
              </a:rPr>
              <a:t>Fields are placeholders — type into them. Text boxes and tables are not exported.</a:t>
            </a:r>
          </a:p>
        </p:txBody>
      </p:sp>
      <p:sp>
        <p:nvSpPr>
          <p:cNvPr id="15" name="title"/>
          <p:cNvSpPr/>
          <p:nvPr>
            <p:ph type="title"/>
          </p:nvPr>
        </p:nvSpPr>
        <p:spPr>
          <a:xfrm>
            <a:off x="457200" y="274320"/>
            <a:ext cx="5210251" cy="640080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2400" b="1">
                <a:solidFill>
                  <a:srgbClr val="1F2A37"/>
                </a:solidFill>
                <a:latin typeface="Calibri"/>
              </a:defRPr>
            </a:lvl1pPr>
          </a:lstStyle>
          <a:p>
            <a:r>
              <a:rPr sz="2400" b="1" i="0">
                <a:solidFill>
                  <a:srgbClr val="1F2A37"/>
                </a:solidFill>
                <a:latin typeface="Calibri"/>
              </a:rPr>
              <a:t>CORE TOPICS</a:t>
            </a:r>
          </a:p>
        </p:txBody>
      </p:sp>
      <p:sp>
        <p:nvSpPr>
          <p:cNvPr id="16" name="teaching.mustknows"/>
          <p:cNvSpPr/>
          <p:nvPr>
            <p:ph type="body" idx="10"/>
          </p:nvPr>
        </p:nvSpPr>
        <p:spPr>
          <a:xfrm>
            <a:off x="457200" y="1097280"/>
            <a:ext cx="5532120" cy="3291840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rgbClr val="1F2A37"/>
                </a:solidFill>
                <a:latin typeface="Calibri"/>
              </a:defRPr>
            </a:lvl1pPr>
            <a:lvl2pPr marL="228600" indent="-228600">
              <a:buChar char="•"/>
              <a:defRPr sz="1200">
                <a:latin typeface="Calibri"/>
              </a:defRPr>
            </a:lvl2pPr>
          </a:lstStyle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MUST-KNOWS — ONE PER LINE</a:t>
            </a:r>
          </a:p>
          <a:p>
            <a:r>
              <a:rPr sz="1200" b="0" i="1">
                <a:solidFill>
                  <a:srgbClr val="6B7785"/>
                </a:solidFill>
                <a:latin typeface="Calibri"/>
              </a:rPr>
              <a:t>Type here — keep the label line above.</a:t>
            </a:r>
          </a:p>
        </p:txBody>
      </p:sp>
      <p:sp>
        <p:nvSpPr>
          <p:cNvPr id="17" name="teaching.strongweak"/>
          <p:cNvSpPr/>
          <p:nvPr>
            <p:ph type="body" idx="11"/>
          </p:nvPr>
        </p:nvSpPr>
        <p:spPr>
          <a:xfrm>
            <a:off x="457200" y="4892040"/>
            <a:ext cx="5532120" cy="1280160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rgbClr val="1F2A37"/>
                </a:solidFill>
                <a:latin typeface="Calibri"/>
              </a:defRPr>
            </a:lvl1pPr>
            <a:lvl2pPr marL="228600" indent="-228600">
              <a:buChar char="•"/>
              <a:defRPr sz="1200">
                <a:latin typeface="Calibri"/>
              </a:defRPr>
            </a:lvl2pPr>
          </a:lstStyle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STRONG HANDLING VS. WEAK</a:t>
            </a:r>
          </a:p>
          <a:p>
            <a:r>
              <a:rPr sz="1200" b="0" i="1">
                <a:solidFill>
                  <a:srgbClr val="6B7785"/>
                </a:solidFill>
                <a:latin typeface="Calibri"/>
              </a:rPr>
              <a:t>Type here — keep the label line above.</a:t>
            </a:r>
          </a:p>
        </p:txBody>
      </p:sp>
      <p:sp>
        <p:nvSpPr>
          <p:cNvPr id="18" name="teaching.misconceptions"/>
          <p:cNvSpPr/>
          <p:nvPr>
            <p:ph type="body" idx="12"/>
          </p:nvPr>
        </p:nvSpPr>
        <p:spPr>
          <a:xfrm>
            <a:off x="6199632" y="1097280"/>
            <a:ext cx="5532120" cy="3246120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rgbClr val="1F2A37"/>
                </a:solidFill>
                <a:latin typeface="Calibri"/>
              </a:defRPr>
            </a:lvl1pPr>
            <a:lvl2pPr marL="228600" indent="-228600">
              <a:buChar char="•"/>
              <a:defRPr sz="1200">
                <a:latin typeface="Calibri"/>
              </a:defRPr>
            </a:lvl2pPr>
          </a:lstStyle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COMMON WRONG ANSWERS → THE REDIRECT</a:t>
            </a:r>
          </a:p>
          <a:p>
            <a:r>
              <a:rPr sz="1200" b="0" i="1">
                <a:solidFill>
                  <a:srgbClr val="6B7785"/>
                </a:solidFill>
                <a:latin typeface="Calibri"/>
              </a:rPr>
              <a:t>Type here — keep the label line above.</a:t>
            </a:r>
          </a:p>
        </p:txBody>
      </p:sp>
      <p:sp>
        <p:nvSpPr>
          <p:cNvPr id="19" name="teaching.voice"/>
          <p:cNvSpPr/>
          <p:nvPr>
            <p:ph type="body" idx="13"/>
          </p:nvPr>
        </p:nvSpPr>
        <p:spPr>
          <a:xfrm>
            <a:off x="6199632" y="4846320"/>
            <a:ext cx="5532120" cy="1325880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rgbClr val="1F2A37"/>
                </a:solidFill>
                <a:latin typeface="Calibri"/>
              </a:defRPr>
            </a:lvl1pPr>
            <a:lvl2pPr marL="228600" indent="-228600">
              <a:buChar char="•"/>
              <a:defRPr sz="1200">
                <a:latin typeface="Calibri"/>
              </a:defRPr>
            </a:lvl2pPr>
          </a:lstStyle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COACH VOICE</a:t>
            </a:r>
          </a:p>
          <a:p>
            <a:r>
              <a:rPr sz="1200" b="0" i="1">
                <a:solidFill>
                  <a:srgbClr val="6B7785"/>
                </a:solidFill>
                <a:latin typeface="Calibri"/>
              </a:rPr>
              <a:t>Type here — keep the label line above.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Opening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nel"/>
          <p:cNvSpPr/>
          <p:nvPr/>
        </p:nvSpPr>
        <p:spPr>
          <a:xfrm>
            <a:off x="457200" y="1097280"/>
            <a:ext cx="7680960" cy="2148840"/>
          </a:xfrm>
          <a:prstGeom prst="roundRect">
            <a:avLst>
              <a:gd name="adj" fmla="val 45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panel"/>
          <p:cNvSpPr/>
          <p:nvPr/>
        </p:nvSpPr>
        <p:spPr>
          <a:xfrm>
            <a:off x="8348472" y="1097280"/>
            <a:ext cx="3383280" cy="2148840"/>
          </a:xfrm>
          <a:prstGeom prst="roundRect">
            <a:avLst>
              <a:gd name="adj" fmla="val 45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panel"/>
          <p:cNvSpPr/>
          <p:nvPr/>
        </p:nvSpPr>
        <p:spPr>
          <a:xfrm>
            <a:off x="457200" y="3474720"/>
            <a:ext cx="11274552" cy="2971800"/>
          </a:xfrm>
          <a:prstGeom prst="roundRect">
            <a:avLst>
              <a:gd name="adj" fmla="val 45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anel"/>
          <p:cNvSpPr/>
          <p:nvPr/>
        </p:nvSpPr>
        <p:spPr>
          <a:xfrm>
            <a:off x="5306263" y="384048"/>
            <a:ext cx="6428232" cy="329184"/>
          </a:xfrm>
          <a:prstGeom prst="roundRect">
            <a:avLst>
              <a:gd name="adj" fmla="val 4500"/>
            </a:avLst>
          </a:prstGeom>
          <a:solidFill>
            <a:srgbClr val="E3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hip"/>
          <p:cNvSpPr txBox="1"/>
          <p:nvPr/>
        </p:nvSpPr>
        <p:spPr>
          <a:xfrm>
            <a:off x="5306263" y="384048"/>
            <a:ext cx="6428232" cy="329184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900" b="0" i="0">
                <a:solidFill>
                  <a:srgbClr val="43505E"/>
                </a:solidFill>
                <a:latin typeface="Calibri"/>
              </a:rPr>
              <a:t>Optional warm-up · delete the slide to skip it  →  Editor · Opening reflection</a:t>
            </a:r>
          </a:p>
        </p:txBody>
      </p:sp>
      <p:sp>
        <p:nvSpPr>
          <p:cNvPr id="8" name="help"/>
          <p:cNvSpPr txBox="1"/>
          <p:nvPr/>
        </p:nvSpPr>
        <p:spPr>
          <a:xfrm>
            <a:off x="457200" y="2971800"/>
            <a:ext cx="7680960" cy="274320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750" b="1" i="0">
                <a:solidFill>
                  <a:srgbClr val="6B7785"/>
                </a:solidFill>
                <a:latin typeface="Calibri"/>
              </a:rPr>
              <a:t>VERBATIM  </a:t>
            </a:r>
            <a:r>
              <a:rPr sz="750" b="0" i="1">
                <a:solidFill>
                  <a:srgbClr val="6B7785"/>
                </a:solidFill>
                <a:latin typeface="Calibri"/>
              </a:rPr>
              <a:t>One ungraded gut-reaction question before the first step. In quotes = the learner reads exactly this.  → v4: opening</a:t>
            </a:r>
          </a:p>
        </p:txBody>
      </p:sp>
      <p:sp>
        <p:nvSpPr>
          <p:cNvPr id="9" name="help"/>
          <p:cNvSpPr txBox="1"/>
          <p:nvPr/>
        </p:nvSpPr>
        <p:spPr>
          <a:xfrm>
            <a:off x="8348472" y="2971800"/>
            <a:ext cx="3383280" cy="274320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750" b="0" i="1">
                <a:solidFill>
                  <a:srgbClr val="6B7785"/>
                </a:solidFill>
                <a:latin typeface="Calibri"/>
              </a:rPr>
              <a:t>1 or 2 learner turns. Calibrated, never graded.  → v4: opening.exit</a:t>
            </a:r>
          </a:p>
        </p:txBody>
      </p:sp>
      <p:sp>
        <p:nvSpPr>
          <p:cNvPr id="10" name="help"/>
          <p:cNvSpPr txBox="1"/>
          <p:nvPr/>
        </p:nvSpPr>
        <p:spPr>
          <a:xfrm>
            <a:off x="457200" y="6172200"/>
            <a:ext cx="11274552" cy="274320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750" b="0" i="1">
                <a:solidFill>
                  <a:srgbClr val="6B7785"/>
                </a:solidFill>
                <a:latin typeface="Calibri"/>
              </a:rPr>
              <a:t>Guidance for the coach: what a typical first answer contains (the misconception to expect), and how to acknowledge it without grading or previewing what comes next.  → v4: opening.levels</a:t>
            </a:r>
          </a:p>
        </p:txBody>
      </p:sp>
      <p:sp>
        <p:nvSpPr>
          <p:cNvPr id="11" name="footer"/>
          <p:cNvSpPr txBox="1"/>
          <p:nvPr/>
        </p:nvSpPr>
        <p:spPr>
          <a:xfrm>
            <a:off x="457200" y="6510528"/>
            <a:ext cx="5943600" cy="274320"/>
          </a:xfrm>
          <a:prstGeom prst="rect">
            <a:avLst/>
          </a:prstGeom>
          <a:noFill/>
        </p:spPr>
        <p:txBody>
          <a:bodyPr wrap="square" lIns="109728" rIns="109728" tIns="27432" bIns="27432" anchor="t">
            <a:spAutoFit/>
          </a:bodyPr>
          <a:lstStyle/>
          <a:p>
            <a:r>
              <a:rPr sz="800" b="1" i="0">
                <a:solidFill>
                  <a:srgbClr val="6B7785"/>
                </a:solidFill>
                <a:latin typeface="Calibri"/>
              </a:rPr>
              <a:t>Scenario Brief · template v1</a:t>
            </a:r>
            <a:r>
              <a:rPr sz="800" b="0" i="0">
                <a:solidFill>
                  <a:srgbClr val="6B7785"/>
                </a:solidFill>
                <a:latin typeface="Calibri"/>
              </a:rPr>
              <a:t>  ·  Aithera Scenario Simulator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6309360" y="6510528"/>
            <a:ext cx="5422392" cy="274320"/>
          </a:xfrm>
          <a:prstGeom prst="rect">
            <a:avLst/>
          </a:prstGeom>
          <a:noFill/>
        </p:spPr>
        <p:txBody>
          <a:bodyPr wrap="square" lIns="109728" rIns="109728" tIns="27432" bIns="27432" anchor="t">
            <a:spAutoFit/>
          </a:bodyPr>
          <a:lstStyle/>
          <a:p>
            <a:r>
              <a:rPr sz="800" b="0" i="1">
                <a:solidFill>
                  <a:srgbClr val="6B7785"/>
                </a:solidFill>
                <a:latin typeface="Calibri"/>
              </a:rPr>
              <a:t>Fields are placeholders — type into them. Text boxes and tables are not exported.</a:t>
            </a:r>
          </a:p>
        </p:txBody>
      </p:sp>
      <p:sp>
        <p:nvSpPr>
          <p:cNvPr id="13" name="title"/>
          <p:cNvSpPr/>
          <p:nvPr>
            <p:ph type="title"/>
          </p:nvPr>
        </p:nvSpPr>
        <p:spPr>
          <a:xfrm>
            <a:off x="457200" y="274320"/>
            <a:ext cx="4666183" cy="640080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2400" b="1">
                <a:solidFill>
                  <a:srgbClr val="1F2A37"/>
                </a:solidFill>
                <a:latin typeface="Calibri"/>
              </a:defRPr>
            </a:lvl1pPr>
          </a:lstStyle>
          <a:p>
            <a:r>
              <a:rPr sz="2400" b="1" i="0">
                <a:solidFill>
                  <a:srgbClr val="1F2A37"/>
                </a:solidFill>
                <a:latin typeface="Calibri"/>
              </a:rPr>
              <a:t>INITIAL REFLECTION</a:t>
            </a:r>
          </a:p>
        </p:txBody>
      </p:sp>
      <p:sp>
        <p:nvSpPr>
          <p:cNvPr id="14" name="opening.question"/>
          <p:cNvSpPr/>
          <p:nvPr>
            <p:ph type="body" idx="10"/>
          </p:nvPr>
        </p:nvSpPr>
        <p:spPr>
          <a:xfrm>
            <a:off x="457200" y="1097280"/>
            <a:ext cx="7680960" cy="1874520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1400" b="0">
                <a:solidFill>
                  <a:srgbClr val="1F2A37"/>
                </a:solidFill>
                <a:latin typeface="Calibri"/>
              </a:defRPr>
            </a:lvl1pPr>
            <a:lvl2pPr marL="228600" indent="-228600">
              <a:buChar char="•"/>
              <a:defRPr sz="1400">
                <a:latin typeface="Calibri"/>
              </a:defRPr>
            </a:lvl2pPr>
          </a:lstStyle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WARM-UP QUESTION — VERBATIM, THE COACH’S FIRST LINE</a:t>
            </a:r>
          </a:p>
          <a:p>
            <a:r>
              <a:rPr sz="1400" b="0" i="1">
                <a:solidFill>
                  <a:srgbClr val="6B7785"/>
                </a:solidFill>
                <a:latin typeface="Calibri"/>
              </a:rPr>
              <a:t>Type here — keep the label line above.</a:t>
            </a:r>
          </a:p>
        </p:txBody>
      </p:sp>
      <p:sp>
        <p:nvSpPr>
          <p:cNvPr id="15" name="opening.turns"/>
          <p:cNvSpPr/>
          <p:nvPr>
            <p:ph type="body" idx="11"/>
          </p:nvPr>
        </p:nvSpPr>
        <p:spPr>
          <a:xfrm>
            <a:off x="8348472" y="1097280"/>
            <a:ext cx="3383280" cy="1874520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1400" b="0">
                <a:solidFill>
                  <a:srgbClr val="1F2A37"/>
                </a:solidFill>
                <a:latin typeface="Calibri"/>
              </a:defRPr>
            </a:lvl1pPr>
            <a:lvl2pPr marL="228600" indent="-228600">
              <a:buChar char="•"/>
              <a:defRPr sz="1400">
                <a:latin typeface="Calibri"/>
              </a:defRPr>
            </a:lvl2pPr>
          </a:lstStyle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TURNS</a:t>
            </a:r>
          </a:p>
          <a:p>
            <a:r>
              <a:rPr sz="1400" b="0" i="1">
                <a:solidFill>
                  <a:srgbClr val="6B7785"/>
                </a:solidFill>
                <a:latin typeface="Calibri"/>
              </a:rPr>
              <a:t>Type here — keep the label line above.</a:t>
            </a:r>
          </a:p>
        </p:txBody>
      </p:sp>
      <p:sp>
        <p:nvSpPr>
          <p:cNvPr id="16" name="opening.listen"/>
          <p:cNvSpPr/>
          <p:nvPr>
            <p:ph type="body" idx="12"/>
          </p:nvPr>
        </p:nvSpPr>
        <p:spPr>
          <a:xfrm>
            <a:off x="457200" y="3474720"/>
            <a:ext cx="11274552" cy="2697480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rgbClr val="1F2A37"/>
                </a:solidFill>
                <a:latin typeface="Calibri"/>
              </a:defRPr>
            </a:lvl1pPr>
            <a:lvl2pPr marL="228600" indent="-228600">
              <a:buChar char="•"/>
              <a:defRPr sz="1200">
                <a:latin typeface="Calibri"/>
              </a:defRPr>
            </a:lvl2pPr>
          </a:lstStyle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LISTEN FOR</a:t>
            </a:r>
          </a:p>
          <a:p>
            <a:r>
              <a:rPr sz="1200" b="0" i="1">
                <a:solidFill>
                  <a:srgbClr val="6B7785"/>
                </a:solidFill>
                <a:latin typeface="Calibri"/>
              </a:rPr>
              <a:t>Type here — keep the label line above.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tep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nel"/>
          <p:cNvSpPr/>
          <p:nvPr/>
        </p:nvSpPr>
        <p:spPr>
          <a:xfrm>
            <a:off x="457200" y="1097280"/>
            <a:ext cx="2103120" cy="704088"/>
          </a:xfrm>
          <a:prstGeom prst="roundRect">
            <a:avLst>
              <a:gd name="adj" fmla="val 45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panel"/>
          <p:cNvSpPr/>
          <p:nvPr/>
        </p:nvSpPr>
        <p:spPr>
          <a:xfrm>
            <a:off x="2706624" y="1097280"/>
            <a:ext cx="2103120" cy="704088"/>
          </a:xfrm>
          <a:prstGeom prst="roundRect">
            <a:avLst>
              <a:gd name="adj" fmla="val 45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panel"/>
          <p:cNvSpPr/>
          <p:nvPr/>
        </p:nvSpPr>
        <p:spPr>
          <a:xfrm>
            <a:off x="4956048" y="1097280"/>
            <a:ext cx="1005840" cy="704088"/>
          </a:xfrm>
          <a:prstGeom prst="roundRect">
            <a:avLst>
              <a:gd name="adj" fmla="val 45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anel"/>
          <p:cNvSpPr/>
          <p:nvPr/>
        </p:nvSpPr>
        <p:spPr>
          <a:xfrm>
            <a:off x="457200" y="1847088"/>
            <a:ext cx="5504688" cy="960120"/>
          </a:xfrm>
          <a:prstGeom prst="roundRect">
            <a:avLst>
              <a:gd name="adj" fmla="val 45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anel"/>
          <p:cNvSpPr/>
          <p:nvPr/>
        </p:nvSpPr>
        <p:spPr>
          <a:xfrm>
            <a:off x="6172200" y="1097280"/>
            <a:ext cx="5559552" cy="1709928"/>
          </a:xfrm>
          <a:prstGeom prst="roundRect">
            <a:avLst>
              <a:gd name="adj" fmla="val 45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panel"/>
          <p:cNvSpPr/>
          <p:nvPr/>
        </p:nvSpPr>
        <p:spPr>
          <a:xfrm>
            <a:off x="457200" y="2926080"/>
            <a:ext cx="3612794" cy="2514600"/>
          </a:xfrm>
          <a:prstGeom prst="roundRect">
            <a:avLst>
              <a:gd name="adj" fmla="val 45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anel"/>
          <p:cNvSpPr/>
          <p:nvPr/>
        </p:nvSpPr>
        <p:spPr>
          <a:xfrm>
            <a:off x="4289450" y="2926080"/>
            <a:ext cx="3612794" cy="2514600"/>
          </a:xfrm>
          <a:prstGeom prst="roundRect">
            <a:avLst>
              <a:gd name="adj" fmla="val 45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panel"/>
          <p:cNvSpPr/>
          <p:nvPr/>
        </p:nvSpPr>
        <p:spPr>
          <a:xfrm>
            <a:off x="8121700" y="2926080"/>
            <a:ext cx="3612794" cy="2514600"/>
          </a:xfrm>
          <a:prstGeom prst="roundRect">
            <a:avLst>
              <a:gd name="adj" fmla="val 45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anel"/>
          <p:cNvSpPr/>
          <p:nvPr/>
        </p:nvSpPr>
        <p:spPr>
          <a:xfrm>
            <a:off x="457200" y="5532120"/>
            <a:ext cx="11274552" cy="941832"/>
          </a:xfrm>
          <a:prstGeom prst="roundRect">
            <a:avLst>
              <a:gd name="adj" fmla="val 45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anel"/>
          <p:cNvSpPr/>
          <p:nvPr/>
        </p:nvSpPr>
        <p:spPr>
          <a:xfrm>
            <a:off x="7249363" y="384048"/>
            <a:ext cx="4485132" cy="329184"/>
          </a:xfrm>
          <a:prstGeom prst="roundRect">
            <a:avLst>
              <a:gd name="adj" fmla="val 4500"/>
            </a:avLst>
          </a:prstGeom>
          <a:solidFill>
            <a:srgbClr val="E3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chip"/>
          <p:cNvSpPr txBox="1"/>
          <p:nvPr/>
        </p:nvSpPr>
        <p:spPr>
          <a:xfrm>
            <a:off x="7249363" y="384048"/>
            <a:ext cx="4485132" cy="329184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900" b="0" i="0">
                <a:solidFill>
                  <a:srgbClr val="43505E"/>
                </a:solidFill>
                <a:latin typeface="Calibri"/>
              </a:rPr>
              <a:t>Duplicate this slide for each step  →  Editor · Steps</a:t>
            </a:r>
          </a:p>
        </p:txBody>
      </p:sp>
      <p:sp>
        <p:nvSpPr>
          <p:cNvPr id="14" name="help"/>
          <p:cNvSpPr txBox="1"/>
          <p:nvPr/>
        </p:nvSpPr>
        <p:spPr>
          <a:xfrm>
            <a:off x="457200" y="1527048"/>
            <a:ext cx="2103120" cy="274320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750" b="0" i="1">
                <a:solidFill>
                  <a:srgbClr val="6B7785"/>
                </a:solidFill>
                <a:latin typeface="Calibri"/>
              </a:rPr>
              <a:t>coach · roleplay · observe</a:t>
            </a:r>
          </a:p>
        </p:txBody>
      </p:sp>
      <p:sp>
        <p:nvSpPr>
          <p:cNvPr id="15" name="help"/>
          <p:cNvSpPr txBox="1"/>
          <p:nvPr/>
        </p:nvSpPr>
        <p:spPr>
          <a:xfrm>
            <a:off x="2706624" y="1527048"/>
            <a:ext cx="2103120" cy="274320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750" b="0" i="1">
                <a:solidFill>
                  <a:srgbClr val="6B7785"/>
                </a:solidFill>
                <a:latin typeface="Calibri"/>
              </a:rPr>
              <a:t>Yes = the coach lands it. No = open.</a:t>
            </a:r>
          </a:p>
        </p:txBody>
      </p:sp>
      <p:sp>
        <p:nvSpPr>
          <p:cNvPr id="16" name="help"/>
          <p:cNvSpPr txBox="1"/>
          <p:nvPr/>
        </p:nvSpPr>
        <p:spPr>
          <a:xfrm>
            <a:off x="4956048" y="1527048"/>
            <a:ext cx="1005840" cy="274320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750" b="0" i="1">
                <a:solidFill>
                  <a:srgbClr val="6B7785"/>
                </a:solidFill>
                <a:latin typeface="Calibri"/>
              </a:rPr>
              <a:t>Learner turns.</a:t>
            </a:r>
          </a:p>
        </p:txBody>
      </p:sp>
      <p:sp>
        <p:nvSpPr>
          <p:cNvPr id="17" name="help"/>
          <p:cNvSpPr txBox="1"/>
          <p:nvPr/>
        </p:nvSpPr>
        <p:spPr>
          <a:xfrm>
            <a:off x="457200" y="2532888"/>
            <a:ext cx="5504688" cy="274320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750" b="0" i="1">
                <a:solidFill>
                  <a:srgbClr val="6B7785"/>
                </a:solidFill>
                <a:latin typeface="Calibri"/>
              </a:rPr>
              <a:t>Guidance for the coach: the task, and what must be done to complete the step.  → v4: practice.purpose</a:t>
            </a:r>
          </a:p>
        </p:txBody>
      </p:sp>
      <p:sp>
        <p:nvSpPr>
          <p:cNvPr id="18" name="help"/>
          <p:cNvSpPr txBox="1"/>
          <p:nvPr/>
        </p:nvSpPr>
        <p:spPr>
          <a:xfrm>
            <a:off x="6172200" y="2532888"/>
            <a:ext cx="5559552" cy="274320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750" b="1" i="0">
                <a:solidFill>
                  <a:srgbClr val="6B7785"/>
                </a:solidFill>
                <a:latin typeface="Calibri"/>
              </a:rPr>
              <a:t>VERBATIM  </a:t>
            </a:r>
            <a:r>
              <a:rPr sz="750" b="0" i="1">
                <a:solidFill>
                  <a:srgbClr val="6B7785"/>
                </a:solidFill>
                <a:latin typeface="Calibri"/>
              </a:rPr>
              <a:t>coach: the task line · roleplay: Narrator / Character lines · observe: the brief over the exhibit</a:t>
            </a:r>
          </a:p>
        </p:txBody>
      </p:sp>
      <p:sp>
        <p:nvSpPr>
          <p:cNvPr id="19" name="help"/>
          <p:cNvSpPr txBox="1"/>
          <p:nvPr/>
        </p:nvSpPr>
        <p:spPr>
          <a:xfrm>
            <a:off x="457200" y="5166360"/>
            <a:ext cx="3612794" cy="274320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750" b="0" i="1">
                <a:solidFill>
                  <a:srgbClr val="6B7785"/>
                </a:solidFill>
                <a:latin typeface="Calibri"/>
              </a:rPr>
              <a:t>Recognise it · respond · move the scene  → v4: levels</a:t>
            </a:r>
          </a:p>
        </p:txBody>
      </p:sp>
      <p:sp>
        <p:nvSpPr>
          <p:cNvPr id="20" name="help"/>
          <p:cNvSpPr txBox="1"/>
          <p:nvPr/>
        </p:nvSpPr>
        <p:spPr>
          <a:xfrm>
            <a:off x="4289450" y="5166360"/>
            <a:ext cx="3612794" cy="274320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750" b="0" i="1">
                <a:solidFill>
                  <a:srgbClr val="6B7785"/>
                </a:solidFill>
                <a:latin typeface="Calibri"/>
              </a:rPr>
              <a:t>Recognise it · respond · move the scene  → v4: levels</a:t>
            </a:r>
          </a:p>
        </p:txBody>
      </p:sp>
      <p:sp>
        <p:nvSpPr>
          <p:cNvPr id="21" name="help"/>
          <p:cNvSpPr txBox="1"/>
          <p:nvPr/>
        </p:nvSpPr>
        <p:spPr>
          <a:xfrm>
            <a:off x="8121700" y="5166360"/>
            <a:ext cx="3612794" cy="274320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750" b="0" i="1">
                <a:solidFill>
                  <a:srgbClr val="6B7785"/>
                </a:solidFill>
                <a:latin typeface="Calibri"/>
              </a:rPr>
              <a:t>Recognise it · respond · move the scene  → v4: levels</a:t>
            </a:r>
          </a:p>
        </p:txBody>
      </p:sp>
      <p:sp>
        <p:nvSpPr>
          <p:cNvPr id="22" name="help"/>
          <p:cNvSpPr txBox="1"/>
          <p:nvPr/>
        </p:nvSpPr>
        <p:spPr>
          <a:xfrm>
            <a:off x="457200" y="6199632"/>
            <a:ext cx="11274552" cy="274320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750" b="0" i="1">
                <a:solidFill>
                  <a:srgbClr val="6B7785"/>
                </a:solidFill>
                <a:latin typeface="Calibri"/>
              </a:rPr>
              <a:t>Guidance for the coach. One point per line, or separated by  ·   → v4: debrief.key_points</a:t>
            </a:r>
          </a:p>
        </p:txBody>
      </p:sp>
      <p:sp>
        <p:nvSpPr>
          <p:cNvPr id="23" name="footer"/>
          <p:cNvSpPr txBox="1"/>
          <p:nvPr/>
        </p:nvSpPr>
        <p:spPr>
          <a:xfrm>
            <a:off x="457200" y="6510528"/>
            <a:ext cx="5943600" cy="274320"/>
          </a:xfrm>
          <a:prstGeom prst="rect">
            <a:avLst/>
          </a:prstGeom>
          <a:noFill/>
        </p:spPr>
        <p:txBody>
          <a:bodyPr wrap="square" lIns="109728" rIns="109728" tIns="27432" bIns="27432" anchor="t">
            <a:spAutoFit/>
          </a:bodyPr>
          <a:lstStyle/>
          <a:p>
            <a:r>
              <a:rPr sz="800" b="1" i="0">
                <a:solidFill>
                  <a:srgbClr val="6B7785"/>
                </a:solidFill>
                <a:latin typeface="Calibri"/>
              </a:rPr>
              <a:t>Scenario Brief · template v1</a:t>
            </a:r>
            <a:r>
              <a:rPr sz="800" b="0" i="0">
                <a:solidFill>
                  <a:srgbClr val="6B7785"/>
                </a:solidFill>
                <a:latin typeface="Calibri"/>
              </a:rPr>
              <a:t>  ·  Aithera Scenario Simulator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309360" y="6510528"/>
            <a:ext cx="5422392" cy="274320"/>
          </a:xfrm>
          <a:prstGeom prst="rect">
            <a:avLst/>
          </a:prstGeom>
          <a:noFill/>
        </p:spPr>
        <p:txBody>
          <a:bodyPr wrap="square" lIns="109728" rIns="109728" tIns="27432" bIns="27432" anchor="t">
            <a:spAutoFit/>
          </a:bodyPr>
          <a:lstStyle/>
          <a:p>
            <a:r>
              <a:rPr sz="800" b="0" i="1">
                <a:solidFill>
                  <a:srgbClr val="6B7785"/>
                </a:solidFill>
                <a:latin typeface="Calibri"/>
              </a:rPr>
              <a:t>Fields are placeholders — type into them. Text boxes and tables are not exported.</a:t>
            </a:r>
          </a:p>
        </p:txBody>
      </p:sp>
      <p:sp>
        <p:nvSpPr>
          <p:cNvPr id="25" name="title"/>
          <p:cNvSpPr/>
          <p:nvPr>
            <p:ph type="title"/>
          </p:nvPr>
        </p:nvSpPr>
        <p:spPr>
          <a:xfrm>
            <a:off x="457200" y="274320"/>
            <a:ext cx="6609283" cy="640080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2400" b="1">
                <a:solidFill>
                  <a:srgbClr val="1F2A37"/>
                </a:solidFill>
                <a:latin typeface="Calibri"/>
              </a:defRPr>
            </a:lvl1pPr>
          </a:lstStyle>
          <a:p>
            <a:r>
              <a:rPr sz="2400" b="1" i="0">
                <a:solidFill>
                  <a:srgbClr val="1F2A37"/>
                </a:solidFill>
                <a:latin typeface="Calibri"/>
              </a:rPr>
              <a:t>STEP N · The story’s own name for this segment</a:t>
            </a:r>
          </a:p>
        </p:txBody>
      </p:sp>
      <p:sp>
        <p:nvSpPr>
          <p:cNvPr id="26" name="step.mode"/>
          <p:cNvSpPr/>
          <p:nvPr>
            <p:ph type="body" idx="10"/>
          </p:nvPr>
        </p:nvSpPr>
        <p:spPr>
          <a:xfrm>
            <a:off x="457200" y="1097280"/>
            <a:ext cx="2103120" cy="429768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1600" b="0">
                <a:solidFill>
                  <a:srgbClr val="1F2A37"/>
                </a:solidFill>
                <a:latin typeface="Calibri"/>
              </a:defRPr>
            </a:lvl1pPr>
            <a:lvl2pPr marL="228600" indent="-228600">
              <a:buChar char="•"/>
              <a:defRPr sz="1600">
                <a:latin typeface="Calibri"/>
              </a:defRPr>
            </a:lvl2pPr>
          </a:lstStyle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MODE</a:t>
            </a:r>
          </a:p>
          <a:p>
            <a:r>
              <a:rPr sz="1600" b="0" i="1">
                <a:solidFill>
                  <a:srgbClr val="6B7785"/>
                </a:solidFill>
                <a:latin typeface="Calibri"/>
              </a:rPr>
              <a:t>Type here — keep the label line above.</a:t>
            </a:r>
          </a:p>
        </p:txBody>
      </p:sp>
      <p:sp>
        <p:nvSpPr>
          <p:cNvPr id="27" name="step.right"/>
          <p:cNvSpPr/>
          <p:nvPr>
            <p:ph type="body" idx="11"/>
          </p:nvPr>
        </p:nvSpPr>
        <p:spPr>
          <a:xfrm>
            <a:off x="2706624" y="1097280"/>
            <a:ext cx="2103120" cy="429768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1100" b="0">
                <a:solidFill>
                  <a:srgbClr val="1F2A37"/>
                </a:solidFill>
                <a:latin typeface="Calibri"/>
              </a:defRPr>
            </a:lvl1pPr>
            <a:lvl2pPr marL="228600" indent="-228600">
              <a:buChar char="•"/>
              <a:defRPr sz="1100">
                <a:latin typeface="Calibri"/>
              </a:defRPr>
            </a:lvl2pPr>
          </a:lstStyle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IS THERE A RIGHT ANSWER?</a:t>
            </a:r>
          </a:p>
          <a:p>
            <a:r>
              <a:rPr sz="1100" b="0" i="1">
                <a:solidFill>
                  <a:srgbClr val="6B7785"/>
                </a:solidFill>
                <a:latin typeface="Calibri"/>
              </a:rPr>
              <a:t>Type here — keep the label line above.</a:t>
            </a:r>
          </a:p>
        </p:txBody>
      </p:sp>
      <p:sp>
        <p:nvSpPr>
          <p:cNvPr id="28" name="step.turns"/>
          <p:cNvSpPr/>
          <p:nvPr>
            <p:ph type="body" idx="12"/>
          </p:nvPr>
        </p:nvSpPr>
        <p:spPr>
          <a:xfrm>
            <a:off x="4956048" y="1097280"/>
            <a:ext cx="1005840" cy="429768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1100" b="0">
                <a:solidFill>
                  <a:srgbClr val="1F2A37"/>
                </a:solidFill>
                <a:latin typeface="Calibri"/>
              </a:defRPr>
            </a:lvl1pPr>
            <a:lvl2pPr marL="228600" indent="-228600">
              <a:buChar char="•"/>
              <a:defRPr sz="1100">
                <a:latin typeface="Calibri"/>
              </a:defRPr>
            </a:lvl2pPr>
          </a:lstStyle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TURNS</a:t>
            </a:r>
          </a:p>
          <a:p>
            <a:r>
              <a:rPr sz="1100" b="0" i="1">
                <a:solidFill>
                  <a:srgbClr val="6B7785"/>
                </a:solidFill>
                <a:latin typeface="Calibri"/>
              </a:rPr>
              <a:t>Type here — keep the label line above.</a:t>
            </a:r>
          </a:p>
        </p:txBody>
      </p:sp>
      <p:sp>
        <p:nvSpPr>
          <p:cNvPr id="29" name="step.does"/>
          <p:cNvSpPr/>
          <p:nvPr>
            <p:ph type="body" idx="13"/>
          </p:nvPr>
        </p:nvSpPr>
        <p:spPr>
          <a:xfrm>
            <a:off x="457200" y="1847088"/>
            <a:ext cx="5504688" cy="685800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1000" b="0">
                <a:solidFill>
                  <a:srgbClr val="1F2A37"/>
                </a:solidFill>
                <a:latin typeface="Calibri"/>
              </a:defRPr>
            </a:lvl1pPr>
            <a:lvl2pPr marL="228600" indent="-228600">
              <a:buChar char="•"/>
              <a:defRPr sz="1000">
                <a:latin typeface="Calibri"/>
              </a:defRPr>
            </a:lvl2pPr>
          </a:lstStyle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WHAT THE LEARNER DOES HERE — AND WHY NOW</a:t>
            </a:r>
          </a:p>
          <a:p>
            <a:r>
              <a:rPr sz="1000" b="0" i="1">
                <a:solidFill>
                  <a:srgbClr val="6B7785"/>
                </a:solidFill>
                <a:latin typeface="Calibri"/>
              </a:rPr>
              <a:t>Type here — keep the label line above.</a:t>
            </a:r>
          </a:p>
        </p:txBody>
      </p:sp>
      <p:sp>
        <p:nvSpPr>
          <p:cNvPr id="30" name="step.opener"/>
          <p:cNvSpPr/>
          <p:nvPr>
            <p:ph type="body" idx="14"/>
          </p:nvPr>
        </p:nvSpPr>
        <p:spPr>
          <a:xfrm>
            <a:off x="6172200" y="1097280"/>
            <a:ext cx="5559552" cy="1435608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1000" b="0">
                <a:solidFill>
                  <a:srgbClr val="1F2A37"/>
                </a:solidFill>
                <a:latin typeface="Calibri"/>
              </a:defRPr>
            </a:lvl1pPr>
            <a:lvl2pPr marL="228600" indent="-228600">
              <a:buChar char="•"/>
              <a:defRPr sz="1000">
                <a:latin typeface="Calibri"/>
              </a:defRPr>
            </a:lvl2pPr>
          </a:lstStyle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OPENER — VERBATIM</a:t>
            </a:r>
          </a:p>
          <a:p>
            <a:r>
              <a:rPr sz="1000" b="0" i="1">
                <a:solidFill>
                  <a:srgbClr val="6B7785"/>
                </a:solidFill>
                <a:latin typeface="Calibri"/>
              </a:rPr>
              <a:t>Type here — keep the label line above.</a:t>
            </a:r>
          </a:p>
        </p:txBody>
      </p:sp>
      <p:sp>
        <p:nvSpPr>
          <p:cNvPr id="31" name="step.tier.unthoughtful"/>
          <p:cNvSpPr/>
          <p:nvPr>
            <p:ph type="body" idx="15"/>
          </p:nvPr>
        </p:nvSpPr>
        <p:spPr>
          <a:xfrm>
            <a:off x="457200" y="2926080"/>
            <a:ext cx="3612794" cy="2240280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950" b="0">
                <a:solidFill>
                  <a:srgbClr val="1F2A37"/>
                </a:solidFill>
                <a:latin typeface="Calibri"/>
              </a:defRPr>
            </a:lvl1pPr>
            <a:lvl2pPr marL="228600" indent="-228600">
              <a:buChar char="•"/>
              <a:defRPr sz="950">
                <a:latin typeface="Calibri"/>
              </a:defRPr>
            </a:lvl2pPr>
          </a:lstStyle>
          <a:p>
            <a:r>
              <a:rPr sz="900" b="1" i="0" spc="60">
                <a:solidFill>
                  <a:srgbClr val="B54B3A"/>
                </a:solidFill>
                <a:latin typeface="Calibri"/>
              </a:rPr>
              <a:t>RESPONSE: UNTHOUGHTFUL</a:t>
            </a:r>
          </a:p>
          <a:p>
            <a:r>
              <a:rPr sz="950" b="0" i="1">
                <a:solidFill>
                  <a:srgbClr val="6B7785"/>
                </a:solidFill>
                <a:latin typeface="Calibri"/>
              </a:rPr>
              <a:t>Type here — keep the label line above.</a:t>
            </a:r>
          </a:p>
        </p:txBody>
      </p:sp>
      <p:sp>
        <p:nvSpPr>
          <p:cNvPr id="32" name="step.tier.neutral"/>
          <p:cNvSpPr/>
          <p:nvPr>
            <p:ph type="body" idx="16"/>
          </p:nvPr>
        </p:nvSpPr>
        <p:spPr>
          <a:xfrm>
            <a:off x="4289450" y="2926080"/>
            <a:ext cx="3612794" cy="2240280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950" b="0">
                <a:solidFill>
                  <a:srgbClr val="1F2A37"/>
                </a:solidFill>
                <a:latin typeface="Calibri"/>
              </a:defRPr>
            </a:lvl1pPr>
            <a:lvl2pPr marL="228600" indent="-228600">
              <a:buChar char="•"/>
              <a:defRPr sz="950">
                <a:latin typeface="Calibri"/>
              </a:defRPr>
            </a:lvl2pPr>
          </a:lstStyle>
          <a:p>
            <a:r>
              <a:rPr sz="900" b="1" i="0" spc="60">
                <a:solidFill>
                  <a:srgbClr val="8A6D1F"/>
                </a:solidFill>
                <a:latin typeface="Calibri"/>
              </a:rPr>
              <a:t>RESPONSE: NEUTRAL</a:t>
            </a:r>
          </a:p>
          <a:p>
            <a:r>
              <a:rPr sz="950" b="0" i="1">
                <a:solidFill>
                  <a:srgbClr val="6B7785"/>
                </a:solidFill>
                <a:latin typeface="Calibri"/>
              </a:rPr>
              <a:t>Type here — keep the label line above.</a:t>
            </a:r>
          </a:p>
        </p:txBody>
      </p:sp>
      <p:sp>
        <p:nvSpPr>
          <p:cNvPr id="33" name="step.tier.strong"/>
          <p:cNvSpPr/>
          <p:nvPr>
            <p:ph type="body" idx="17"/>
          </p:nvPr>
        </p:nvSpPr>
        <p:spPr>
          <a:xfrm>
            <a:off x="8121700" y="2926080"/>
            <a:ext cx="3612794" cy="2240280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950" b="0">
                <a:solidFill>
                  <a:srgbClr val="1F2A37"/>
                </a:solidFill>
                <a:latin typeface="Calibri"/>
              </a:defRPr>
            </a:lvl1pPr>
            <a:lvl2pPr marL="228600" indent="-228600">
              <a:buChar char="•"/>
              <a:defRPr sz="950">
                <a:latin typeface="Calibri"/>
              </a:defRPr>
            </a:lvl2pPr>
          </a:lstStyle>
          <a:p>
            <a:r>
              <a:rPr sz="900" b="1" i="0" spc="60">
                <a:solidFill>
                  <a:srgbClr val="2E7D4F"/>
                </a:solidFill>
                <a:latin typeface="Calibri"/>
              </a:rPr>
              <a:t>RESPONSE: STRONG</a:t>
            </a:r>
          </a:p>
          <a:p>
            <a:r>
              <a:rPr sz="950" b="0" i="1">
                <a:solidFill>
                  <a:srgbClr val="6B7785"/>
                </a:solidFill>
                <a:latin typeface="Calibri"/>
              </a:rPr>
              <a:t>Type here — keep the label line above.</a:t>
            </a:r>
          </a:p>
        </p:txBody>
      </p:sp>
      <p:sp>
        <p:nvSpPr>
          <p:cNvPr id="34" name="step.debrief"/>
          <p:cNvSpPr/>
          <p:nvPr>
            <p:ph type="body" idx="18"/>
          </p:nvPr>
        </p:nvSpPr>
        <p:spPr>
          <a:xfrm>
            <a:off x="457200" y="5532120"/>
            <a:ext cx="11274552" cy="667512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950" b="0">
                <a:solidFill>
                  <a:srgbClr val="1F2A37"/>
                </a:solidFill>
                <a:latin typeface="Calibri"/>
              </a:defRPr>
            </a:lvl1pPr>
            <a:lvl2pPr marL="228600" indent="-228600">
              <a:buChar char="•"/>
              <a:defRPr sz="950">
                <a:latin typeface="Calibri"/>
              </a:defRPr>
            </a:lvl2pPr>
          </a:lstStyle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DEBRIEF — 2 TO 4 POINTS EVERY LEARNER HEARS, HOWEVER THE ATTEMPT WENT</a:t>
            </a:r>
          </a:p>
          <a:p>
            <a:r>
              <a:rPr sz="950" b="0" i="1">
                <a:solidFill>
                  <a:srgbClr val="6B7785"/>
                </a:solidFill>
                <a:latin typeface="Calibri"/>
              </a:rPr>
              <a:t>Type here — keep the label line above.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xamples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nel"/>
          <p:cNvSpPr/>
          <p:nvPr/>
        </p:nvSpPr>
        <p:spPr>
          <a:xfrm>
            <a:off x="457200" y="1097280"/>
            <a:ext cx="3612794" cy="5349240"/>
          </a:xfrm>
          <a:prstGeom prst="roundRect">
            <a:avLst>
              <a:gd name="adj" fmla="val 45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panel"/>
          <p:cNvSpPr/>
          <p:nvPr/>
        </p:nvSpPr>
        <p:spPr>
          <a:xfrm>
            <a:off x="4289450" y="1097280"/>
            <a:ext cx="3612794" cy="5349240"/>
          </a:xfrm>
          <a:prstGeom prst="roundRect">
            <a:avLst>
              <a:gd name="adj" fmla="val 45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panel"/>
          <p:cNvSpPr/>
          <p:nvPr/>
        </p:nvSpPr>
        <p:spPr>
          <a:xfrm>
            <a:off x="8121700" y="1097280"/>
            <a:ext cx="3612794" cy="5349240"/>
          </a:xfrm>
          <a:prstGeom prst="roundRect">
            <a:avLst>
              <a:gd name="adj" fmla="val 45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anel"/>
          <p:cNvSpPr/>
          <p:nvPr/>
        </p:nvSpPr>
        <p:spPr>
          <a:xfrm>
            <a:off x="5928055" y="384048"/>
            <a:ext cx="5806440" cy="329184"/>
          </a:xfrm>
          <a:prstGeom prst="roundRect">
            <a:avLst>
              <a:gd name="adj" fmla="val 4500"/>
            </a:avLst>
          </a:prstGeom>
          <a:solidFill>
            <a:srgbClr val="E3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hip"/>
          <p:cNvSpPr txBox="1"/>
          <p:nvPr/>
        </p:nvSpPr>
        <p:spPr>
          <a:xfrm>
            <a:off x="5928055" y="384048"/>
            <a:ext cx="5806440" cy="329184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900" b="0" i="0">
                <a:solidFill>
                  <a:srgbClr val="43505E"/>
                </a:solidFill>
                <a:latin typeface="Calibri"/>
              </a:rPr>
              <a:t>Optional · one example per tier — the wizard drafts these if you don’t</a:t>
            </a:r>
          </a:p>
        </p:txBody>
      </p:sp>
      <p:sp>
        <p:nvSpPr>
          <p:cNvPr id="8" name="help"/>
          <p:cNvSpPr txBox="1"/>
          <p:nvPr/>
        </p:nvSpPr>
        <p:spPr>
          <a:xfrm>
            <a:off x="457200" y="6172200"/>
            <a:ext cx="3612794" cy="274320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750" b="0" i="1">
                <a:solidFill>
                  <a:srgbClr val="6B7785"/>
                </a:solidFill>
                <a:latin typeface="Calibri"/>
              </a:rPr>
              <a:t>One learner line and the reply they hear.  → v4: levels.example</a:t>
            </a:r>
          </a:p>
        </p:txBody>
      </p:sp>
      <p:sp>
        <p:nvSpPr>
          <p:cNvPr id="9" name="help"/>
          <p:cNvSpPr txBox="1"/>
          <p:nvPr/>
        </p:nvSpPr>
        <p:spPr>
          <a:xfrm>
            <a:off x="4289450" y="6172200"/>
            <a:ext cx="3612794" cy="274320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750" b="0" i="1">
                <a:solidFill>
                  <a:srgbClr val="6B7785"/>
                </a:solidFill>
                <a:latin typeface="Calibri"/>
              </a:rPr>
              <a:t>One learner line and the reply they hear.  → v4: levels.example</a:t>
            </a:r>
          </a:p>
        </p:txBody>
      </p:sp>
      <p:sp>
        <p:nvSpPr>
          <p:cNvPr id="10" name="help"/>
          <p:cNvSpPr txBox="1"/>
          <p:nvPr/>
        </p:nvSpPr>
        <p:spPr>
          <a:xfrm>
            <a:off x="8121700" y="6172200"/>
            <a:ext cx="3612794" cy="274320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750" b="0" i="1">
                <a:solidFill>
                  <a:srgbClr val="6B7785"/>
                </a:solidFill>
                <a:latin typeface="Calibri"/>
              </a:rPr>
              <a:t>One learner line and the reply they hear.  → v4: levels.example</a:t>
            </a:r>
          </a:p>
        </p:txBody>
      </p:sp>
      <p:sp>
        <p:nvSpPr>
          <p:cNvPr id="11" name="footer"/>
          <p:cNvSpPr txBox="1"/>
          <p:nvPr/>
        </p:nvSpPr>
        <p:spPr>
          <a:xfrm>
            <a:off x="457200" y="6510528"/>
            <a:ext cx="5943600" cy="274320"/>
          </a:xfrm>
          <a:prstGeom prst="rect">
            <a:avLst/>
          </a:prstGeom>
          <a:noFill/>
        </p:spPr>
        <p:txBody>
          <a:bodyPr wrap="square" lIns="109728" rIns="109728" tIns="27432" bIns="27432" anchor="t">
            <a:spAutoFit/>
          </a:bodyPr>
          <a:lstStyle/>
          <a:p>
            <a:r>
              <a:rPr sz="800" b="1" i="0">
                <a:solidFill>
                  <a:srgbClr val="6B7785"/>
                </a:solidFill>
                <a:latin typeface="Calibri"/>
              </a:rPr>
              <a:t>Scenario Brief · template v1</a:t>
            </a:r>
            <a:r>
              <a:rPr sz="800" b="0" i="0">
                <a:solidFill>
                  <a:srgbClr val="6B7785"/>
                </a:solidFill>
                <a:latin typeface="Calibri"/>
              </a:rPr>
              <a:t>  ·  Aithera Scenario Simulator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6309360" y="6510528"/>
            <a:ext cx="5422392" cy="274320"/>
          </a:xfrm>
          <a:prstGeom prst="rect">
            <a:avLst/>
          </a:prstGeom>
          <a:noFill/>
        </p:spPr>
        <p:txBody>
          <a:bodyPr wrap="square" lIns="109728" rIns="109728" tIns="27432" bIns="27432" anchor="t">
            <a:spAutoFit/>
          </a:bodyPr>
          <a:lstStyle/>
          <a:p>
            <a:r>
              <a:rPr sz="800" b="0" i="1">
                <a:solidFill>
                  <a:srgbClr val="6B7785"/>
                </a:solidFill>
                <a:latin typeface="Calibri"/>
              </a:rPr>
              <a:t>Fields are placeholders — type into them. Text boxes and tables are not exported.</a:t>
            </a:r>
          </a:p>
        </p:txBody>
      </p:sp>
      <p:sp>
        <p:nvSpPr>
          <p:cNvPr id="13" name="title"/>
          <p:cNvSpPr/>
          <p:nvPr>
            <p:ph type="title"/>
          </p:nvPr>
        </p:nvSpPr>
        <p:spPr>
          <a:xfrm>
            <a:off x="457200" y="274320"/>
            <a:ext cx="5287975" cy="640080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2400" b="1">
                <a:solidFill>
                  <a:srgbClr val="1F2A37"/>
                </a:solidFill>
                <a:latin typeface="Calibri"/>
              </a:defRPr>
            </a:lvl1pPr>
          </a:lstStyle>
          <a:p>
            <a:r>
              <a:rPr sz="2400" b="1" i="0">
                <a:solidFill>
                  <a:srgbClr val="1F2A37"/>
                </a:solidFill>
                <a:latin typeface="Calibri"/>
              </a:rPr>
              <a:t>STEP N · EXAMPLES (optional)</a:t>
            </a:r>
          </a:p>
        </p:txBody>
      </p:sp>
      <p:sp>
        <p:nvSpPr>
          <p:cNvPr id="14" name="example.tier.unthoughtful"/>
          <p:cNvSpPr/>
          <p:nvPr>
            <p:ph type="body" idx="10"/>
          </p:nvPr>
        </p:nvSpPr>
        <p:spPr>
          <a:xfrm>
            <a:off x="457200" y="1097280"/>
            <a:ext cx="3612794" cy="5074920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1100" b="0">
                <a:solidFill>
                  <a:srgbClr val="1F2A37"/>
                </a:solidFill>
                <a:latin typeface="Calibri"/>
              </a:defRPr>
            </a:lvl1pPr>
            <a:lvl2pPr marL="228600" indent="-228600">
              <a:buChar char="•"/>
              <a:defRPr sz="1100">
                <a:latin typeface="Calibri"/>
              </a:defRPr>
            </a:lvl2pPr>
          </a:lstStyle>
          <a:p>
            <a:r>
              <a:rPr sz="900" b="1" i="0" spc="60">
                <a:solidFill>
                  <a:srgbClr val="B54B3A"/>
                </a:solidFill>
                <a:latin typeface="Calibri"/>
              </a:rPr>
              <a:t>EXAMPLE RESPONSE: UNTHOUGHTFUL</a:t>
            </a:r>
          </a:p>
          <a:p>
            <a:r>
              <a:rPr sz="1100" b="0" i="1">
                <a:solidFill>
                  <a:srgbClr val="6B7785"/>
                </a:solidFill>
                <a:latin typeface="Calibri"/>
              </a:rPr>
              <a:t>Type here — keep the label line above.</a:t>
            </a:r>
          </a:p>
        </p:txBody>
      </p:sp>
      <p:sp>
        <p:nvSpPr>
          <p:cNvPr id="15" name="example.tier.neutral"/>
          <p:cNvSpPr/>
          <p:nvPr>
            <p:ph type="body" idx="11"/>
          </p:nvPr>
        </p:nvSpPr>
        <p:spPr>
          <a:xfrm>
            <a:off x="4289450" y="1097280"/>
            <a:ext cx="3612794" cy="5074920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1100" b="0">
                <a:solidFill>
                  <a:srgbClr val="1F2A37"/>
                </a:solidFill>
                <a:latin typeface="Calibri"/>
              </a:defRPr>
            </a:lvl1pPr>
            <a:lvl2pPr marL="228600" indent="-228600">
              <a:buChar char="•"/>
              <a:defRPr sz="1100">
                <a:latin typeface="Calibri"/>
              </a:defRPr>
            </a:lvl2pPr>
          </a:lstStyle>
          <a:p>
            <a:r>
              <a:rPr sz="900" b="1" i="0" spc="60">
                <a:solidFill>
                  <a:srgbClr val="8A6D1F"/>
                </a:solidFill>
                <a:latin typeface="Calibri"/>
              </a:rPr>
              <a:t>EXAMPLE RESPONSE: NEUTRAL</a:t>
            </a:r>
          </a:p>
          <a:p>
            <a:r>
              <a:rPr sz="1100" b="0" i="1">
                <a:solidFill>
                  <a:srgbClr val="6B7785"/>
                </a:solidFill>
                <a:latin typeface="Calibri"/>
              </a:rPr>
              <a:t>Type here — keep the label line above.</a:t>
            </a:r>
          </a:p>
        </p:txBody>
      </p:sp>
      <p:sp>
        <p:nvSpPr>
          <p:cNvPr id="16" name="example.tier.strong"/>
          <p:cNvSpPr/>
          <p:nvPr>
            <p:ph type="body" idx="12"/>
          </p:nvPr>
        </p:nvSpPr>
        <p:spPr>
          <a:xfrm>
            <a:off x="8121700" y="1097280"/>
            <a:ext cx="3612794" cy="5074920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1100" b="0">
                <a:solidFill>
                  <a:srgbClr val="1F2A37"/>
                </a:solidFill>
                <a:latin typeface="Calibri"/>
              </a:defRPr>
            </a:lvl1pPr>
            <a:lvl2pPr marL="228600" indent="-228600">
              <a:buChar char="•"/>
              <a:defRPr sz="1100">
                <a:latin typeface="Calibri"/>
              </a:defRPr>
            </a:lvl2pPr>
          </a:lstStyle>
          <a:p>
            <a:r>
              <a:rPr sz="900" b="1" i="0" spc="60">
                <a:solidFill>
                  <a:srgbClr val="2E7D4F"/>
                </a:solidFill>
                <a:latin typeface="Calibri"/>
              </a:rPr>
              <a:t>EXAMPLE RESPONSE: STRONG</a:t>
            </a:r>
          </a:p>
          <a:p>
            <a:r>
              <a:rPr sz="1100" b="0" i="1">
                <a:solidFill>
                  <a:srgbClr val="6B7785"/>
                </a:solidFill>
                <a:latin typeface="Calibri"/>
              </a:rPr>
              <a:t>Type here — keep the label line above.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lose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nel"/>
          <p:cNvSpPr/>
          <p:nvPr/>
        </p:nvSpPr>
        <p:spPr>
          <a:xfrm>
            <a:off x="457200" y="1097280"/>
            <a:ext cx="5532120" cy="5349240"/>
          </a:xfrm>
          <a:prstGeom prst="roundRect">
            <a:avLst>
              <a:gd name="adj" fmla="val 45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panel"/>
          <p:cNvSpPr/>
          <p:nvPr/>
        </p:nvSpPr>
        <p:spPr>
          <a:xfrm>
            <a:off x="6199632" y="1097280"/>
            <a:ext cx="5532120" cy="5349240"/>
          </a:xfrm>
          <a:prstGeom prst="roundRect">
            <a:avLst>
              <a:gd name="adj" fmla="val 45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panel"/>
          <p:cNvSpPr/>
          <p:nvPr/>
        </p:nvSpPr>
        <p:spPr>
          <a:xfrm>
            <a:off x="7249363" y="384048"/>
            <a:ext cx="4485132" cy="329184"/>
          </a:xfrm>
          <a:prstGeom prst="roundRect">
            <a:avLst>
              <a:gd name="adj" fmla="val 4500"/>
            </a:avLst>
          </a:prstGeom>
          <a:solidFill>
            <a:srgbClr val="E3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hip"/>
          <p:cNvSpPr txBox="1"/>
          <p:nvPr/>
        </p:nvSpPr>
        <p:spPr>
          <a:xfrm>
            <a:off x="7249363" y="384048"/>
            <a:ext cx="4485132" cy="329184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900" b="0" i="0">
                <a:solidFill>
                  <a:srgbClr val="43505E"/>
                </a:solidFill>
                <a:latin typeface="Calibri"/>
              </a:rPr>
              <a:t>Wizard · The expert answer  →  Editor · Expert answer</a:t>
            </a:r>
          </a:p>
        </p:txBody>
      </p:sp>
      <p:sp>
        <p:nvSpPr>
          <p:cNvPr id="7" name="help"/>
          <p:cNvSpPr txBox="1"/>
          <p:nvPr/>
        </p:nvSpPr>
        <p:spPr>
          <a:xfrm>
            <a:off x="457200" y="6172200"/>
            <a:ext cx="5532120" cy="274320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750" b="0" i="1">
                <a:solidFill>
                  <a:srgbClr val="6B7785"/>
                </a:solidFill>
                <a:latin typeface="Calibri"/>
              </a:rPr>
              <a:t>SME-validated statements; ships verbatim to every learner — the audit record.  → v4: component_groups</a:t>
            </a:r>
          </a:p>
        </p:txBody>
      </p:sp>
      <p:sp>
        <p:nvSpPr>
          <p:cNvPr id="8" name="help"/>
          <p:cNvSpPr txBox="1"/>
          <p:nvPr/>
        </p:nvSpPr>
        <p:spPr>
          <a:xfrm>
            <a:off x="6199632" y="6172200"/>
            <a:ext cx="5532120" cy="274320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750" b="1" i="0">
                <a:solidFill>
                  <a:srgbClr val="6B7785"/>
                </a:solidFill>
                <a:latin typeface="Calibri"/>
              </a:rPr>
              <a:t>VERBATIM  </a:t>
            </a:r>
            <a:r>
              <a:rPr sz="750" b="0" i="1">
                <a:solidFill>
                  <a:srgbClr val="6B7785"/>
                </a:solidFill>
                <a:latin typeface="Calibri"/>
              </a:rPr>
              <a:t>Two to four sentences tying the components together — the last thing the learner reads.  → v4: summary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457200" y="6510528"/>
            <a:ext cx="5943600" cy="274320"/>
          </a:xfrm>
          <a:prstGeom prst="rect">
            <a:avLst/>
          </a:prstGeom>
          <a:noFill/>
        </p:spPr>
        <p:txBody>
          <a:bodyPr wrap="square" lIns="109728" rIns="109728" tIns="27432" bIns="27432" anchor="t">
            <a:spAutoFit/>
          </a:bodyPr>
          <a:lstStyle/>
          <a:p>
            <a:r>
              <a:rPr sz="800" b="1" i="0">
                <a:solidFill>
                  <a:srgbClr val="6B7785"/>
                </a:solidFill>
                <a:latin typeface="Calibri"/>
              </a:rPr>
              <a:t>Scenario Brief · template v1</a:t>
            </a:r>
            <a:r>
              <a:rPr sz="800" b="0" i="0">
                <a:solidFill>
                  <a:srgbClr val="6B7785"/>
                </a:solidFill>
                <a:latin typeface="Calibri"/>
              </a:rPr>
              <a:t>  ·  Aithera Scenario Simulator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6309360" y="6510528"/>
            <a:ext cx="5422392" cy="274320"/>
          </a:xfrm>
          <a:prstGeom prst="rect">
            <a:avLst/>
          </a:prstGeom>
          <a:noFill/>
        </p:spPr>
        <p:txBody>
          <a:bodyPr wrap="square" lIns="109728" rIns="109728" tIns="27432" bIns="27432" anchor="t">
            <a:spAutoFit/>
          </a:bodyPr>
          <a:lstStyle/>
          <a:p>
            <a:r>
              <a:rPr sz="800" b="0" i="1">
                <a:solidFill>
                  <a:srgbClr val="6B7785"/>
                </a:solidFill>
                <a:latin typeface="Calibri"/>
              </a:rPr>
              <a:t>Fields are placeholders — type into them. Text boxes and tables are not exported.</a:t>
            </a:r>
          </a:p>
        </p:txBody>
      </p:sp>
      <p:sp>
        <p:nvSpPr>
          <p:cNvPr id="11" name="title"/>
          <p:cNvSpPr/>
          <p:nvPr>
            <p:ph type="title"/>
          </p:nvPr>
        </p:nvSpPr>
        <p:spPr>
          <a:xfrm>
            <a:off x="457200" y="274320"/>
            <a:ext cx="6609283" cy="640080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2400" b="1">
                <a:solidFill>
                  <a:srgbClr val="1F2A37"/>
                </a:solidFill>
                <a:latin typeface="Calibri"/>
              </a:defRPr>
            </a:lvl1pPr>
          </a:lstStyle>
          <a:p>
            <a:r>
              <a:rPr sz="2400" b="1" i="0">
                <a:solidFill>
                  <a:srgbClr val="1F2A37"/>
                </a:solidFill>
                <a:latin typeface="Calibri"/>
              </a:rPr>
              <a:t>THE CLOSE</a:t>
            </a:r>
          </a:p>
        </p:txBody>
      </p:sp>
      <p:sp>
        <p:nvSpPr>
          <p:cNvPr id="12" name="close.components"/>
          <p:cNvSpPr/>
          <p:nvPr>
            <p:ph type="body" idx="10"/>
          </p:nvPr>
        </p:nvSpPr>
        <p:spPr>
          <a:xfrm>
            <a:off x="457200" y="1097280"/>
            <a:ext cx="5532120" cy="5074920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1050" b="0">
                <a:solidFill>
                  <a:srgbClr val="1F2A37"/>
                </a:solidFill>
                <a:latin typeface="Calibri"/>
              </a:defRPr>
            </a:lvl1pPr>
            <a:lvl2pPr marL="228600" indent="-228600">
              <a:buChar char="•"/>
              <a:defRPr sz="1050">
                <a:latin typeface="Calibri"/>
              </a:defRPr>
            </a:lvl2pPr>
          </a:lstStyle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IDEAL RESPONSE COMPONENTS — A HEADING, THEN ITS POINTS</a:t>
            </a:r>
          </a:p>
          <a:p>
            <a:r>
              <a:rPr sz="1050" b="0" i="1">
                <a:solidFill>
                  <a:srgbClr val="6B7785"/>
                </a:solidFill>
                <a:latin typeface="Calibri"/>
              </a:rPr>
              <a:t>Type here — keep the label line above.</a:t>
            </a:r>
          </a:p>
        </p:txBody>
      </p:sp>
      <p:sp>
        <p:nvSpPr>
          <p:cNvPr id="13" name="close.summary"/>
          <p:cNvSpPr/>
          <p:nvPr>
            <p:ph type="body" idx="11"/>
          </p:nvPr>
        </p:nvSpPr>
        <p:spPr>
          <a:xfrm>
            <a:off x="6199632" y="1097280"/>
            <a:ext cx="5532120" cy="5074920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1100" b="0">
                <a:solidFill>
                  <a:srgbClr val="1F2A37"/>
                </a:solidFill>
                <a:latin typeface="Calibri"/>
              </a:defRPr>
            </a:lvl1pPr>
            <a:lvl2pPr marL="228600" indent="-228600">
              <a:buChar char="•"/>
              <a:defRPr sz="1100">
                <a:latin typeface="Calibri"/>
              </a:defRPr>
            </a:lvl2pPr>
          </a:lstStyle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SUMMARY — VERBATIM</a:t>
            </a:r>
          </a:p>
          <a:p>
            <a:r>
              <a:rPr sz="1100" b="0" i="1">
                <a:solidFill>
                  <a:srgbClr val="6B7785"/>
                </a:solidFill>
                <a:latin typeface="Calibri"/>
              </a:rPr>
              <a:t>Type here — keep the label line above.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ource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nel"/>
          <p:cNvSpPr/>
          <p:nvPr/>
        </p:nvSpPr>
        <p:spPr>
          <a:xfrm>
            <a:off x="457200" y="1097280"/>
            <a:ext cx="11274552" cy="5349240"/>
          </a:xfrm>
          <a:prstGeom prst="roundRect">
            <a:avLst>
              <a:gd name="adj" fmla="val 45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panel"/>
          <p:cNvSpPr/>
          <p:nvPr/>
        </p:nvSpPr>
        <p:spPr>
          <a:xfrm>
            <a:off x="6627571" y="384048"/>
            <a:ext cx="5106924" cy="329184"/>
          </a:xfrm>
          <a:prstGeom prst="roundRect">
            <a:avLst>
              <a:gd name="adj" fmla="val 4500"/>
            </a:avLst>
          </a:prstGeom>
          <a:solidFill>
            <a:srgbClr val="E3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"/>
          <p:cNvSpPr txBox="1"/>
          <p:nvPr/>
        </p:nvSpPr>
        <p:spPr>
          <a:xfrm>
            <a:off x="6627571" y="384048"/>
            <a:ext cx="5106924" cy="329184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900" b="0" i="0">
                <a:solidFill>
                  <a:srgbClr val="43505E"/>
                </a:solidFill>
                <a:latin typeface="Calibri"/>
              </a:rPr>
              <a:t>Optional · paste anything — the wizard mines it for specifics</a:t>
            </a:r>
          </a:p>
        </p:txBody>
      </p:sp>
      <p:sp>
        <p:nvSpPr>
          <p:cNvPr id="6" name="help"/>
          <p:cNvSpPr txBox="1"/>
          <p:nvPr/>
        </p:nvSpPr>
        <p:spPr>
          <a:xfrm>
            <a:off x="457200" y="6172200"/>
            <a:ext cx="11274552" cy="274320"/>
          </a:xfrm>
          <a:prstGeom prst="rect">
            <a:avLst/>
          </a:prstGeom>
          <a:noFill/>
        </p:spPr>
        <p:txBody>
          <a:bodyPr wrap="square" lIns="109728" rIns="109728" tIns="27432" bIns="27432" anchor="ctr">
            <a:spAutoFit/>
          </a:bodyPr>
          <a:lstStyle/>
          <a:p>
            <a:r>
              <a:rPr sz="750" b="0" i="1">
                <a:solidFill>
                  <a:srgbClr val="6B7785"/>
                </a:solidFill>
                <a:latin typeface="Calibri"/>
              </a:rPr>
              <a:t>The static scenario this replaces, the slide outline, a policy excerpt, SME notes. Add more slides if it runs long.  → wizard: Source material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457200" y="6510528"/>
            <a:ext cx="5943600" cy="274320"/>
          </a:xfrm>
          <a:prstGeom prst="rect">
            <a:avLst/>
          </a:prstGeom>
          <a:noFill/>
        </p:spPr>
        <p:txBody>
          <a:bodyPr wrap="square" lIns="109728" rIns="109728" tIns="27432" bIns="27432" anchor="t">
            <a:spAutoFit/>
          </a:bodyPr>
          <a:lstStyle/>
          <a:p>
            <a:r>
              <a:rPr sz="800" b="1" i="0">
                <a:solidFill>
                  <a:srgbClr val="6B7785"/>
                </a:solidFill>
                <a:latin typeface="Calibri"/>
              </a:rPr>
              <a:t>Scenario Brief · template v1</a:t>
            </a:r>
            <a:r>
              <a:rPr sz="800" b="0" i="0">
                <a:solidFill>
                  <a:srgbClr val="6B7785"/>
                </a:solidFill>
                <a:latin typeface="Calibri"/>
              </a:rPr>
              <a:t>  ·  Aithera Scenario Simulator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6309360" y="6510528"/>
            <a:ext cx="5422392" cy="274320"/>
          </a:xfrm>
          <a:prstGeom prst="rect">
            <a:avLst/>
          </a:prstGeom>
          <a:noFill/>
        </p:spPr>
        <p:txBody>
          <a:bodyPr wrap="square" lIns="109728" rIns="109728" tIns="27432" bIns="27432" anchor="t">
            <a:spAutoFit/>
          </a:bodyPr>
          <a:lstStyle/>
          <a:p>
            <a:r>
              <a:rPr sz="800" b="0" i="1">
                <a:solidFill>
                  <a:srgbClr val="6B7785"/>
                </a:solidFill>
                <a:latin typeface="Calibri"/>
              </a:rPr>
              <a:t>Fields are placeholders — type into them. Text boxes and tables are not exported.</a:t>
            </a:r>
          </a:p>
        </p:txBody>
      </p:sp>
      <p:sp>
        <p:nvSpPr>
          <p:cNvPr id="9" name="title"/>
          <p:cNvSpPr/>
          <p:nvPr>
            <p:ph type="title"/>
          </p:nvPr>
        </p:nvSpPr>
        <p:spPr>
          <a:xfrm>
            <a:off x="457200" y="274320"/>
            <a:ext cx="5987491" cy="640080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2400" b="1">
                <a:solidFill>
                  <a:srgbClr val="1F2A37"/>
                </a:solidFill>
                <a:latin typeface="Calibri"/>
              </a:defRPr>
            </a:lvl1pPr>
          </a:lstStyle>
          <a:p>
            <a:r>
              <a:rPr sz="2400" b="1" i="0">
                <a:solidFill>
                  <a:srgbClr val="1F2A37"/>
                </a:solidFill>
                <a:latin typeface="Calibri"/>
              </a:rPr>
              <a:t>SOURCE MATERIAL</a:t>
            </a:r>
          </a:p>
        </p:txBody>
      </p:sp>
      <p:sp>
        <p:nvSpPr>
          <p:cNvPr id="10" name="source.text"/>
          <p:cNvSpPr/>
          <p:nvPr>
            <p:ph type="body" idx="10"/>
          </p:nvPr>
        </p:nvSpPr>
        <p:spPr>
          <a:xfrm>
            <a:off x="457200" y="1097280"/>
            <a:ext cx="11274552" cy="5074920"/>
          </a:xfrm>
          <a:prstGeom prst="rect">
            <a:avLst/>
          </a:prstGeom>
          <a:noFill/>
        </p:spPr>
        <p:txBody>
          <a:bodyPr wrap="square" lIns="109728" rIns="109728" tIns="64008" anchor="t">
            <a:normAutofit/>
          </a:bodyPr>
          <a:lstStyle>
            <a:lvl1pPr marL="0" indent="0">
              <a:spcBef>
                <a:spcPts val="200"/>
              </a:spcBef>
              <a:buNone/>
              <a:defRPr sz="1050" b="0">
                <a:solidFill>
                  <a:srgbClr val="1F2A37"/>
                </a:solidFill>
                <a:latin typeface="Calibri"/>
              </a:defRPr>
            </a:lvl1pPr>
            <a:lvl2pPr marL="228600" indent="-228600">
              <a:buChar char="•"/>
              <a:defRPr sz="1050">
                <a:latin typeface="Calibri"/>
              </a:defRPr>
            </a:lvl2pPr>
          </a:lstStyle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SOURCE TEXT</a:t>
            </a:r>
          </a:p>
          <a:p>
            <a:r>
              <a:rPr sz="1050" b="0" i="1">
                <a:solidFill>
                  <a:srgbClr val="6B7785"/>
                </a:solidFill>
                <a:latin typeface="Calibri"/>
              </a:rPr>
              <a:t>Type here — keep the label line above.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2A37"/>
                </a:solidFill>
                <a:latin typeface="Calibri"/>
              </a:rPr>
              <a:t>SCENARIO BASICS</a:t>
            </a:r>
          </a:p>
        </p:txBody>
      </p:sp>
      <p:sp>
        <p:nvSpPr>
          <p:cNvPr id="3" name="cover.title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SCENARIO TITLE</a:t>
            </a:r>
            <a:endParaRPr sz="2400" b="0" i="0">
              <a:solidFill>
                <a:srgbClr val="1F2A37"/>
              </a:solidFill>
              <a:latin typeface="Calibri"/>
            </a:endParaRPr>
          </a:p>
          <a:p>
            <a:endParaRPr sz="2400" b="0" i="0">
              <a:solidFill>
                <a:srgbClr val="1F2A37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2A37"/>
                </a:solidFill>
                <a:latin typeface="Calibri"/>
              </a:rPr>
              <a:t>THE BRIEF</a:t>
            </a:r>
          </a:p>
        </p:txBody>
      </p:sp>
      <p:sp>
        <p:nvSpPr>
          <p:cNvPr id="3" name="brief.topic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TOPIC</a:t>
            </a:r>
            <a:endParaRPr sz="1200" b="0" i="0">
              <a:solidFill>
                <a:srgbClr val="1F2A37"/>
              </a:solidFill>
              <a:latin typeface="Calibri"/>
            </a:endParaRPr>
          </a:p>
          <a:p>
            <a:endParaRPr sz="120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4" name="brief.learner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THE LEARNER PLAYS</a:t>
            </a:r>
            <a:endParaRPr sz="1200" b="0" i="0">
              <a:solidFill>
                <a:srgbClr val="1F2A37"/>
              </a:solidFill>
              <a:latin typeface="Calibri"/>
            </a:endParaRPr>
          </a:p>
          <a:p>
            <a:endParaRPr sz="1200" b="0" i="0">
              <a:solidFill>
                <a:srgbClr val="1F2A37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2A37"/>
                </a:solidFill>
                <a:latin typeface="Calibri"/>
              </a:rPr>
              <a:t>THE SITUATION</a:t>
            </a:r>
          </a:p>
        </p:txBody>
      </p:sp>
      <p:sp>
        <p:nvSpPr>
          <p:cNvPr id="3" name="situation.narrative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WHAT’S TRUE AS THE SCENARIO OPENS — WRITTEN TO THE LEARNER</a:t>
            </a:r>
            <a:endParaRPr sz="1100" b="0" i="0">
              <a:solidFill>
                <a:srgbClr val="1F2A37"/>
              </a:solidFill>
              <a:latin typeface="Calibri"/>
            </a:endParaRPr>
          </a:p>
          <a:p>
            <a:endParaRPr sz="110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4" name="situation.setting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SETTING</a:t>
            </a:r>
            <a:endParaRPr sz="1200" b="0" i="0">
              <a:solidFill>
                <a:srgbClr val="1F2A37"/>
              </a:solidFill>
              <a:latin typeface="Calibri"/>
            </a:endParaRPr>
          </a:p>
          <a:p>
            <a:endParaRPr sz="120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5" name="situation.cast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CAST — NAME — ROLE — DRIVER — NEVER DOES</a:t>
            </a:r>
            <a:endParaRPr sz="1100" b="0" i="0">
              <a:solidFill>
                <a:srgbClr val="1F2A37"/>
              </a:solidFill>
              <a:latin typeface="Calibri"/>
            </a:endParaRPr>
          </a:p>
          <a:p>
            <a:endParaRPr sz="1100" b="0" i="0">
              <a:solidFill>
                <a:srgbClr val="1F2A37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2A37"/>
                </a:solidFill>
                <a:latin typeface="Calibri"/>
              </a:rPr>
              <a:t>CORE TOPICS</a:t>
            </a:r>
          </a:p>
        </p:txBody>
      </p:sp>
      <p:sp>
        <p:nvSpPr>
          <p:cNvPr id="3" name="teaching.mustknows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MUST-KNOWS — ONE PER LINE</a:t>
            </a:r>
            <a:endParaRPr sz="1200" b="0" i="0">
              <a:solidFill>
                <a:srgbClr val="1F2A37"/>
              </a:solidFill>
              <a:latin typeface="Calibri"/>
            </a:endParaRPr>
          </a:p>
          <a:p>
            <a:endParaRPr sz="120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4" name="teaching.strongweak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STRONG HANDLING VS. WEAK</a:t>
            </a:r>
            <a:endParaRPr sz="1200" b="0" i="0">
              <a:solidFill>
                <a:srgbClr val="1F2A37"/>
              </a:solidFill>
              <a:latin typeface="Calibri"/>
            </a:endParaRPr>
          </a:p>
          <a:p>
            <a:endParaRPr sz="120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5" name="teaching.misconceptions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COMMON WRONG ANSWERS → THE REDIRECT</a:t>
            </a:r>
            <a:endParaRPr sz="1200" b="0" i="0">
              <a:solidFill>
                <a:srgbClr val="1F2A37"/>
              </a:solidFill>
              <a:latin typeface="Calibri"/>
            </a:endParaRPr>
          </a:p>
          <a:p>
            <a:endParaRPr sz="120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6" name="teaching.voice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COACH VOICE</a:t>
            </a:r>
            <a:endParaRPr sz="1200" b="0" i="0">
              <a:solidFill>
                <a:srgbClr val="1F2A37"/>
              </a:solidFill>
              <a:latin typeface="Calibri"/>
            </a:endParaRPr>
          </a:p>
          <a:p>
            <a:endParaRPr sz="1200" b="0" i="0">
              <a:solidFill>
                <a:srgbClr val="1F2A37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2A37"/>
                </a:solidFill>
                <a:latin typeface="Calibri"/>
              </a:rPr>
              <a:t>INITIAL REFLECTION</a:t>
            </a:r>
          </a:p>
        </p:txBody>
      </p:sp>
      <p:sp>
        <p:nvSpPr>
          <p:cNvPr id="3" name="opening.question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WARM-UP QUESTION — VERBATIM, THE COACH’S FIRST LINE</a:t>
            </a:r>
            <a:endParaRPr sz="1400" b="0" i="0">
              <a:solidFill>
                <a:srgbClr val="1F2A37"/>
              </a:solidFill>
              <a:latin typeface="Calibri"/>
            </a:endParaRPr>
          </a:p>
          <a:p>
            <a:endParaRPr sz="140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4" name="opening.turns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TURNS</a:t>
            </a:r>
            <a:endParaRPr sz="1400" b="0" i="0">
              <a:solidFill>
                <a:srgbClr val="1F2A37"/>
              </a:solidFill>
              <a:latin typeface="Calibri"/>
            </a:endParaRPr>
          </a:p>
          <a:p>
            <a:endParaRPr sz="140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5" name="opening.listen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LISTEN FOR</a:t>
            </a:r>
            <a:endParaRPr sz="1200" b="0" i="0">
              <a:solidFill>
                <a:srgbClr val="1F2A37"/>
              </a:solidFill>
              <a:latin typeface="Calibri"/>
            </a:endParaRPr>
          </a:p>
          <a:p>
            <a:endParaRPr sz="1200" b="0" i="0">
              <a:solidFill>
                <a:srgbClr val="1F2A37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 i="0">
                <a:solidFill>
                  <a:srgbClr val="1F2A37"/>
                </a:solidFill>
                <a:latin typeface="Calibri"/>
              </a:rPr>
              <a:t>STEP 1 · The story’s own name for this segment</a:t>
            </a:r>
          </a:p>
        </p:txBody>
      </p:sp>
      <p:sp>
        <p:nvSpPr>
          <p:cNvPr id="3" name="step.mode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MODE</a:t>
            </a:r>
            <a:endParaRPr sz="800" b="0" i="0">
              <a:solidFill>
                <a:srgbClr val="1F2A37"/>
              </a:solidFill>
              <a:latin typeface="Calibri"/>
            </a:endParaRPr>
          </a:p>
          <a:p>
            <a:endParaRPr sz="80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4" name="step.right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IS THERE A RIGHT ANSWER?</a:t>
            </a:r>
            <a:endParaRPr sz="800" b="0" i="0">
              <a:solidFill>
                <a:srgbClr val="1F2A37"/>
              </a:solidFill>
              <a:latin typeface="Calibri"/>
            </a:endParaRPr>
          </a:p>
          <a:p>
            <a:endParaRPr sz="80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5" name="step.turns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TURNS</a:t>
            </a:r>
            <a:endParaRPr sz="800" b="0" i="0">
              <a:solidFill>
                <a:srgbClr val="1F2A37"/>
              </a:solidFill>
              <a:latin typeface="Calibri"/>
            </a:endParaRPr>
          </a:p>
          <a:p>
            <a:endParaRPr sz="80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6" name="step.does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WHAT THE LEARNER DOES HERE — AND WHY NOW</a:t>
            </a:r>
            <a:endParaRPr sz="1000" b="0" i="0">
              <a:solidFill>
                <a:srgbClr val="1F2A37"/>
              </a:solidFill>
              <a:latin typeface="Calibri"/>
            </a:endParaRPr>
          </a:p>
          <a:p>
            <a:endParaRPr sz="100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7" name="step.opener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OPENER — VERBATIM</a:t>
            </a:r>
            <a:endParaRPr sz="1000" b="0" i="0">
              <a:solidFill>
                <a:srgbClr val="1F2A37"/>
              </a:solidFill>
              <a:latin typeface="Calibri"/>
            </a:endParaRPr>
          </a:p>
          <a:p>
            <a:endParaRPr sz="100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8" name="step.tier.unthoughtful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sz="900" b="1" i="0" spc="60">
                <a:solidFill>
                  <a:srgbClr val="B54B3A"/>
                </a:solidFill>
                <a:latin typeface="Calibri"/>
              </a:rPr>
              <a:t>RESPONSE: UNTHOUGHTFUL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Look for: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endParaRPr sz="95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Respond: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endParaRPr sz="95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Scene moves (roleplay only):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endParaRPr sz="95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9" name="step.tier.neutral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sz="900" b="1" i="0" spc="60">
                <a:solidFill>
                  <a:srgbClr val="8A6D1F"/>
                </a:solidFill>
                <a:latin typeface="Calibri"/>
              </a:rPr>
              <a:t>RESPONSE: NEUTRAL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Look for: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endParaRPr sz="95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Respond: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endParaRPr sz="95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Scene moves (roleplay only):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endParaRPr sz="95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10" name="step.tier.strong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rPr sz="900" b="1" i="0" spc="60">
                <a:solidFill>
                  <a:srgbClr val="2E7D4F"/>
                </a:solidFill>
                <a:latin typeface="Calibri"/>
              </a:rPr>
              <a:t>RESPONSE: STRONG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Look for: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endParaRPr sz="95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Respond: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endParaRPr sz="95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Scene moves (roleplay only):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endParaRPr sz="95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11" name="step.debrief"/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DEBRIEF — 2 TO 4 POINTS EVERY LEARNER HEARS, HOWEVER THE ATTEMPT WENT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endParaRPr sz="950" b="0" i="0">
              <a:solidFill>
                <a:srgbClr val="1F2A37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 i="0">
                <a:solidFill>
                  <a:srgbClr val="1F2A37"/>
                </a:solidFill>
                <a:latin typeface="Calibri"/>
              </a:rPr>
              <a:t>STEP 1 · EXAMPLES (optional)</a:t>
            </a:r>
          </a:p>
        </p:txBody>
      </p:sp>
      <p:sp>
        <p:nvSpPr>
          <p:cNvPr id="3" name="example.tier.unthoughtful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900" b="1" i="0" spc="60">
                <a:solidFill>
                  <a:srgbClr val="B54B3A"/>
                </a:solidFill>
                <a:latin typeface="Calibri"/>
              </a:rPr>
              <a:t>EXAMPLE RESPONSE: UNTHOUGHTFUL</a:t>
            </a:r>
            <a:endParaRPr sz="110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Learner:</a:t>
            </a:r>
            <a:endParaRPr sz="1100" b="0" i="0">
              <a:solidFill>
                <a:srgbClr val="1F2A37"/>
              </a:solidFill>
              <a:latin typeface="Calibri"/>
            </a:endParaRPr>
          </a:p>
          <a:p>
            <a:endParaRPr sz="110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Reply:</a:t>
            </a:r>
            <a:endParaRPr sz="1100" b="0" i="0">
              <a:solidFill>
                <a:srgbClr val="1F2A37"/>
              </a:solidFill>
              <a:latin typeface="Calibri"/>
            </a:endParaRPr>
          </a:p>
          <a:p>
            <a:endParaRPr sz="110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4" name="example.tier.neutral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900" b="1" i="0" spc="60">
                <a:solidFill>
                  <a:srgbClr val="8A6D1F"/>
                </a:solidFill>
                <a:latin typeface="Calibri"/>
              </a:rPr>
              <a:t>EXAMPLE RESPONSE: NEUTRAL</a:t>
            </a:r>
            <a:endParaRPr sz="110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Learner:</a:t>
            </a:r>
            <a:endParaRPr sz="1100" b="0" i="0">
              <a:solidFill>
                <a:srgbClr val="1F2A37"/>
              </a:solidFill>
              <a:latin typeface="Calibri"/>
            </a:endParaRPr>
          </a:p>
          <a:p>
            <a:endParaRPr sz="110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Reply:</a:t>
            </a:r>
            <a:endParaRPr sz="1100" b="0" i="0">
              <a:solidFill>
                <a:srgbClr val="1F2A37"/>
              </a:solidFill>
              <a:latin typeface="Calibri"/>
            </a:endParaRPr>
          </a:p>
          <a:p>
            <a:endParaRPr sz="110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5" name="example.tier.strong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sz="900" b="1" i="0" spc="60">
                <a:solidFill>
                  <a:srgbClr val="2E7D4F"/>
                </a:solidFill>
                <a:latin typeface="Calibri"/>
              </a:rPr>
              <a:t>EXAMPLE RESPONSE: STRONG</a:t>
            </a:r>
            <a:endParaRPr sz="110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Learner:</a:t>
            </a:r>
            <a:endParaRPr sz="1100" b="0" i="0">
              <a:solidFill>
                <a:srgbClr val="1F2A37"/>
              </a:solidFill>
              <a:latin typeface="Calibri"/>
            </a:endParaRPr>
          </a:p>
          <a:p>
            <a:endParaRPr sz="110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Reply:</a:t>
            </a:r>
            <a:endParaRPr sz="1100" b="0" i="0">
              <a:solidFill>
                <a:srgbClr val="1F2A37"/>
              </a:solidFill>
              <a:latin typeface="Calibri"/>
            </a:endParaRPr>
          </a:p>
          <a:p>
            <a:endParaRPr sz="1100" b="0" i="0">
              <a:solidFill>
                <a:srgbClr val="1F2A37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 i="0">
                <a:solidFill>
                  <a:srgbClr val="1F2A37"/>
                </a:solidFill>
                <a:latin typeface="Calibri"/>
              </a:rPr>
              <a:t>STEP 2 · The story’s own name for this segment</a:t>
            </a:r>
          </a:p>
        </p:txBody>
      </p:sp>
      <p:sp>
        <p:nvSpPr>
          <p:cNvPr id="3" name="step.mode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MODE</a:t>
            </a:r>
            <a:endParaRPr sz="800" b="0" i="0">
              <a:solidFill>
                <a:srgbClr val="1F2A37"/>
              </a:solidFill>
              <a:latin typeface="Calibri"/>
            </a:endParaRPr>
          </a:p>
          <a:p>
            <a:endParaRPr sz="80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4" name="step.right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IS THERE A RIGHT ANSWER?</a:t>
            </a:r>
            <a:endParaRPr sz="800" b="0" i="0">
              <a:solidFill>
                <a:srgbClr val="1F2A37"/>
              </a:solidFill>
              <a:latin typeface="Calibri"/>
            </a:endParaRPr>
          </a:p>
          <a:p>
            <a:endParaRPr sz="80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5" name="step.turns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TURNS</a:t>
            </a:r>
            <a:endParaRPr sz="800" b="0" i="0">
              <a:solidFill>
                <a:srgbClr val="1F2A37"/>
              </a:solidFill>
              <a:latin typeface="Calibri"/>
            </a:endParaRPr>
          </a:p>
          <a:p>
            <a:endParaRPr sz="80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6" name="step.does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WHAT THE LEARNER DOES HERE — AND WHY NOW</a:t>
            </a:r>
            <a:endParaRPr sz="1000" b="0" i="0">
              <a:solidFill>
                <a:srgbClr val="1F2A37"/>
              </a:solidFill>
              <a:latin typeface="Calibri"/>
            </a:endParaRPr>
          </a:p>
          <a:p>
            <a:endParaRPr sz="100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7" name="step.opener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OPENER — VERBATIM</a:t>
            </a:r>
            <a:endParaRPr sz="1000" b="0" i="0">
              <a:solidFill>
                <a:srgbClr val="1F2A37"/>
              </a:solidFill>
              <a:latin typeface="Calibri"/>
            </a:endParaRPr>
          </a:p>
          <a:p>
            <a:endParaRPr sz="100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8" name="step.tier.unthoughtful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sz="900" b="1" i="0" spc="60">
                <a:solidFill>
                  <a:srgbClr val="B54B3A"/>
                </a:solidFill>
                <a:latin typeface="Calibri"/>
              </a:rPr>
              <a:t>RESPONSE: UNTHOUGHTFUL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Look for: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endParaRPr sz="95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Respond: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endParaRPr sz="95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Scene moves (roleplay only):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endParaRPr sz="95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9" name="step.tier.neutral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sz="900" b="1" i="0" spc="60">
                <a:solidFill>
                  <a:srgbClr val="8A6D1F"/>
                </a:solidFill>
                <a:latin typeface="Calibri"/>
              </a:rPr>
              <a:t>RESPONSE: NEUTRAL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Look for: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endParaRPr sz="95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Respond: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endParaRPr sz="95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Scene moves (roleplay only):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endParaRPr sz="95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10" name="step.tier.strong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rPr sz="900" b="1" i="0" spc="60">
                <a:solidFill>
                  <a:srgbClr val="2E7D4F"/>
                </a:solidFill>
                <a:latin typeface="Calibri"/>
              </a:rPr>
              <a:t>RESPONSE: STRONG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Look for: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endParaRPr sz="95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Respond: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endParaRPr sz="95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Scene moves (roleplay only):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endParaRPr sz="95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11" name="step.debrief"/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DEBRIEF — 2 TO 4 POINTS EVERY LEARNER HEARS, HOWEVER THE ATTEMPT WENT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endParaRPr sz="950" b="0" i="0">
              <a:solidFill>
                <a:srgbClr val="1F2A37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 i="0">
                <a:solidFill>
                  <a:srgbClr val="1F2A37"/>
                </a:solidFill>
                <a:latin typeface="Calibri"/>
              </a:rPr>
              <a:t>STEP 3 · The story’s own name for this segment</a:t>
            </a:r>
          </a:p>
        </p:txBody>
      </p:sp>
      <p:sp>
        <p:nvSpPr>
          <p:cNvPr id="3" name="step.mode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MODE</a:t>
            </a:r>
            <a:endParaRPr sz="800" b="0" i="0">
              <a:solidFill>
                <a:srgbClr val="1F2A37"/>
              </a:solidFill>
              <a:latin typeface="Calibri"/>
            </a:endParaRPr>
          </a:p>
          <a:p>
            <a:endParaRPr sz="80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4" name="step.right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IS THERE A RIGHT ANSWER?</a:t>
            </a:r>
            <a:endParaRPr sz="800" b="0" i="0">
              <a:solidFill>
                <a:srgbClr val="1F2A37"/>
              </a:solidFill>
              <a:latin typeface="Calibri"/>
            </a:endParaRPr>
          </a:p>
          <a:p>
            <a:endParaRPr sz="80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5" name="step.turns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TURNS</a:t>
            </a:r>
            <a:endParaRPr sz="800" b="0" i="0">
              <a:solidFill>
                <a:srgbClr val="1F2A37"/>
              </a:solidFill>
              <a:latin typeface="Calibri"/>
            </a:endParaRPr>
          </a:p>
          <a:p>
            <a:endParaRPr sz="80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6" name="step.does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WHAT THE LEARNER DOES HERE — AND WHY NOW</a:t>
            </a:r>
            <a:endParaRPr sz="1000" b="0" i="0">
              <a:solidFill>
                <a:srgbClr val="1F2A37"/>
              </a:solidFill>
              <a:latin typeface="Calibri"/>
            </a:endParaRPr>
          </a:p>
          <a:p>
            <a:endParaRPr sz="100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7" name="step.opener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OPENER — VERBATIM</a:t>
            </a:r>
            <a:endParaRPr sz="1000" b="0" i="0">
              <a:solidFill>
                <a:srgbClr val="1F2A37"/>
              </a:solidFill>
              <a:latin typeface="Calibri"/>
            </a:endParaRPr>
          </a:p>
          <a:p>
            <a:endParaRPr sz="100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8" name="step.tier.unthoughtful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sz="900" b="1" i="0" spc="60">
                <a:solidFill>
                  <a:srgbClr val="B54B3A"/>
                </a:solidFill>
                <a:latin typeface="Calibri"/>
              </a:rPr>
              <a:t>RESPONSE: UNTHOUGHTFUL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Look for: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endParaRPr sz="95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Respond: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endParaRPr sz="95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Scene moves (roleplay only):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endParaRPr sz="95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9" name="step.tier.neutral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sz="900" b="1" i="0" spc="60">
                <a:solidFill>
                  <a:srgbClr val="8A6D1F"/>
                </a:solidFill>
                <a:latin typeface="Calibri"/>
              </a:rPr>
              <a:t>RESPONSE: NEUTRAL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Look for: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endParaRPr sz="95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Respond: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endParaRPr sz="95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Scene moves (roleplay only):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endParaRPr sz="95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10" name="step.tier.strong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rPr sz="900" b="1" i="0" spc="60">
                <a:solidFill>
                  <a:srgbClr val="2E7D4F"/>
                </a:solidFill>
                <a:latin typeface="Calibri"/>
              </a:rPr>
              <a:t>RESPONSE: STRONG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Look for: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endParaRPr sz="95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Respond: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endParaRPr sz="950" b="0" i="0">
              <a:solidFill>
                <a:srgbClr val="1F2A37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43505E"/>
                </a:solidFill>
                <a:latin typeface="Calibri"/>
              </a:rPr>
              <a:t>Scene moves (roleplay only):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endParaRPr sz="95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11" name="step.debrief"/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DEBRIEF — 2 TO 4 POINTS EVERY LEARNER HEARS, HOWEVER THE ATTEMPT WENT</a:t>
            </a:r>
            <a:endParaRPr sz="950" b="0" i="0">
              <a:solidFill>
                <a:srgbClr val="1F2A37"/>
              </a:solidFill>
              <a:latin typeface="Calibri"/>
            </a:endParaRPr>
          </a:p>
          <a:p>
            <a:endParaRPr sz="950" b="0" i="0">
              <a:solidFill>
                <a:srgbClr val="1F2A37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2A37"/>
                </a:solidFill>
                <a:latin typeface="Calibri"/>
              </a:rPr>
              <a:t>THE CLOSE</a:t>
            </a:r>
          </a:p>
        </p:txBody>
      </p:sp>
      <p:sp>
        <p:nvSpPr>
          <p:cNvPr id="3" name="close.components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IDEAL RESPONSE COMPONENTS — A HEADING, THEN ITS POINTS</a:t>
            </a:r>
            <a:endParaRPr sz="1050" b="0" i="0">
              <a:solidFill>
                <a:srgbClr val="1F2A37"/>
              </a:solidFill>
              <a:latin typeface="Calibri"/>
            </a:endParaRPr>
          </a:p>
          <a:p>
            <a:endParaRPr sz="1050" b="0" i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4" name="close.summary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SUMMARY — VERBATIM</a:t>
            </a:r>
            <a:endParaRPr sz="1100" b="0" i="0">
              <a:solidFill>
                <a:srgbClr val="1F2A37"/>
              </a:solidFill>
              <a:latin typeface="Calibri"/>
            </a:endParaRPr>
          </a:p>
          <a:p>
            <a:endParaRPr sz="1100" b="0" i="0">
              <a:solidFill>
                <a:srgbClr val="1F2A37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2A37"/>
                </a:solidFill>
                <a:latin typeface="Calibri"/>
              </a:rPr>
              <a:t>SOURCE MATERIAL</a:t>
            </a:r>
          </a:p>
        </p:txBody>
      </p:sp>
      <p:sp>
        <p:nvSpPr>
          <p:cNvPr id="3" name="source.text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900" b="1" i="0" spc="60">
                <a:solidFill>
                  <a:srgbClr val="0271CE"/>
                </a:solidFill>
                <a:latin typeface="Calibri"/>
              </a:rPr>
              <a:t>SOURCE TEXT</a:t>
            </a:r>
            <a:endParaRPr sz="1050" b="0" i="0">
              <a:solidFill>
                <a:srgbClr val="1F2A37"/>
              </a:solidFill>
              <a:latin typeface="Calibri"/>
            </a:endParaRPr>
          </a:p>
          <a:p>
            <a:endParaRPr sz="1050" b="0" i="0">
              <a:solidFill>
                <a:srgbClr val="1F2A37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Scenario Brief — template</dc:title>
  <dc:subject>Scenario Brief — the K&amp;A input to the Scenario Editor</dc:subject>
  <dc:creator>Aithera UX · Scenario Simulator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