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BRIEF — how to use this deck</a:t>
            </a:r>
          </a:p>
          <a:p/>
          <a:p>
            <a:r>
              <a:t>Every field is a PowerPoint placeholder. Type into the fields and keep the small label line at the top of each one. Do not add text boxes or tables — Outline view does not export them, so the editor would never see them.</a:t>
            </a:r>
          </a:p>
          <a:p/>
          <a:p>
            <a:r>
              <a:t>One slide per step: duplicate a STEP slide (Cmd/Ctrl+D) for each new step rather than inserting from the layout gallery. Delete THE OPENING if the scenario has no warm-up. Delete EXAMPLES slides you don’t need — the wizard drafts examples itself.</a:t>
            </a:r>
          </a:p>
          <a:p/>
          <a:p>
            <a:r>
              <a:t>Verbatim fields are what the learner reads, word for word. Every other field is guidance for the coach.</a:t>
            </a:r>
          </a:p>
          <a:p/>
          <a:p>
            <a:r>
              <a:t>To hand off: View → Outline → select all → copy → paste into the Scenario Editor’s Start-from-scratch source box. The wizard reads the labels and pre-fills its interview; the AI drafts only what you left blank.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2" name=""/>
        <p:cNvGrpSpPr/>
        <p:nvPr/>
      </p:nvGrpSpPr>
      <p:grpSpPr>
        <a:xfrm>
          <a:off x="0" y="0"/>
          <a:ext cx="0" cy="0"/>
          <a:chOff x="0" y="0"/>
          <a:chExt cx="0" cy="0"/>
        </a:xfrm>
      </p:grpSpPr>
      <p:sp>
        <p:nvSpPr>
          <p:cNvPr id="3" name="panel"/>
          <p:cNvSpPr/>
          <p:nvPr/>
        </p:nvSpPr>
        <p:spPr>
          <a:xfrm>
            <a:off x="457200" y="1097280"/>
            <a:ext cx="7040880" cy="13716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457200" y="2651760"/>
            <a:ext cx="7040880" cy="914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457200" y="3749039"/>
            <a:ext cx="3383280" cy="914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4114800" y="3749039"/>
            <a:ext cx="3383280" cy="914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nel"/>
          <p:cNvSpPr/>
          <p:nvPr/>
        </p:nvSpPr>
        <p:spPr>
          <a:xfrm>
            <a:off x="457200" y="4846320"/>
            <a:ext cx="7040880" cy="914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nel"/>
          <p:cNvSpPr/>
          <p:nvPr/>
        </p:nvSpPr>
        <p:spPr>
          <a:xfrm>
            <a:off x="7948879" y="384048"/>
            <a:ext cx="3785616"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hip"/>
          <p:cNvSpPr txBox="1"/>
          <p:nvPr/>
        </p:nvSpPr>
        <p:spPr>
          <a:xfrm>
            <a:off x="7948879" y="384048"/>
            <a:ext cx="3785616" cy="329184"/>
          </a:xfrm>
          <a:prstGeom prst="rect">
            <a:avLst/>
          </a:prstGeom>
          <a:noFill/>
        </p:spPr>
        <p:txBody>
          <a:bodyPr wrap="square" lIns="109728" rIns="109728" tIns="27432" bIns="27432" anchor="ctr">
            <a:spAutoFit/>
          </a:bodyPr>
          <a:lstStyle/>
          <a:p>
            <a:r>
              <a:rPr sz="900" b="0" i="0">
                <a:solidFill>
                  <a:srgbClr val="43505E"/>
                </a:solidFill>
                <a:latin typeface="Calibri"/>
              </a:rPr>
              <a:t>Cover · the team’s own record — not imported</a:t>
            </a:r>
          </a:p>
        </p:txBody>
      </p:sp>
      <p:sp>
        <p:nvSpPr>
          <p:cNvPr id="10" name="help"/>
          <p:cNvSpPr txBox="1"/>
          <p:nvPr/>
        </p:nvSpPr>
        <p:spPr>
          <a:xfrm>
            <a:off x="457200" y="2194560"/>
            <a:ext cx="7040880" cy="274320"/>
          </a:xfrm>
          <a:prstGeom prst="rect">
            <a:avLst/>
          </a:prstGeom>
          <a:noFill/>
        </p:spPr>
        <p:txBody>
          <a:bodyPr wrap="square" lIns="109728" rIns="109728" tIns="27432" bIns="27432" anchor="ctr">
            <a:spAutoFit/>
          </a:bodyPr>
          <a:lstStyle/>
          <a:p>
            <a:r>
              <a:rPr sz="750" b="0" i="1">
                <a:solidFill>
                  <a:srgbClr val="6B7785"/>
                </a:solidFill>
                <a:latin typeface="Calibri"/>
              </a:rPr>
              <a:t>Working title — the draft proposes one if blank.  → editor: Basics · Title</a:t>
            </a:r>
          </a:p>
        </p:txBody>
      </p:sp>
      <p:sp>
        <p:nvSpPr>
          <p:cNvPr id="11" name="help"/>
          <p:cNvSpPr txBox="1"/>
          <p:nvPr/>
        </p:nvSpPr>
        <p:spPr>
          <a:xfrm>
            <a:off x="457200" y="3291840"/>
            <a:ext cx="7040880" cy="274320"/>
          </a:xfrm>
          <a:prstGeom prst="rect">
            <a:avLst/>
          </a:prstGeom>
          <a:noFill/>
        </p:spPr>
        <p:txBody>
          <a:bodyPr wrap="square" lIns="109728" rIns="109728" tIns="27432" bIns="27432" anchor="ctr">
            <a:spAutoFit/>
          </a:bodyPr>
          <a:lstStyle/>
          <a:p>
            <a:r>
              <a:rPr sz="750" b="0" i="1">
                <a:solidFill>
                  <a:srgbClr val="6B7785"/>
                </a:solidFill>
                <a:latin typeface="Calibri"/>
              </a:rPr>
              <a:t>The course or program, with its code. Sets the register.  → wizard: The training it lives inside</a:t>
            </a:r>
          </a:p>
        </p:txBody>
      </p:sp>
      <p:sp>
        <p:nvSpPr>
          <p:cNvPr id="12" name="help"/>
          <p:cNvSpPr txBox="1"/>
          <p:nvPr/>
        </p:nvSpPr>
        <p:spPr>
          <a:xfrm>
            <a:off x="457200" y="4389120"/>
            <a:ext cx="3383280" cy="274320"/>
          </a:xfrm>
          <a:prstGeom prst="rect">
            <a:avLst/>
          </a:prstGeom>
          <a:noFill/>
        </p:spPr>
        <p:txBody>
          <a:bodyPr wrap="square" lIns="109728" rIns="109728" tIns="27432" bIns="27432" anchor="ctr">
            <a:spAutoFit/>
          </a:bodyPr>
          <a:lstStyle/>
          <a:p>
            <a:r>
              <a:rPr sz="750" b="0" i="1">
                <a:solidFill>
                  <a:srgbClr val="6B7785"/>
                </a:solidFill>
                <a:latin typeface="Calibri"/>
              </a:rPr>
              <a:t>Who to ask about this brief.</a:t>
            </a:r>
          </a:p>
        </p:txBody>
      </p:sp>
      <p:sp>
        <p:nvSpPr>
          <p:cNvPr id="13" name="help"/>
          <p:cNvSpPr txBox="1"/>
          <p:nvPr/>
        </p:nvSpPr>
        <p:spPr>
          <a:xfrm>
            <a:off x="4114800" y="4389120"/>
            <a:ext cx="3383280" cy="274320"/>
          </a:xfrm>
          <a:prstGeom prst="rect">
            <a:avLst/>
          </a:prstGeom>
          <a:noFill/>
        </p:spPr>
        <p:txBody>
          <a:bodyPr wrap="square" lIns="109728" rIns="109728" tIns="27432" bIns="27432" anchor="ctr">
            <a:spAutoFit/>
          </a:bodyPr>
          <a:lstStyle/>
          <a:p>
            <a:r>
              <a:rPr sz="750" b="0" i="1">
                <a:solidFill>
                  <a:srgbClr val="6B7785"/>
                </a:solidFill>
                <a:latin typeface="Calibri"/>
              </a:rPr>
              <a:t>Your own versioning. PowerPoint keeps the history.</a:t>
            </a:r>
          </a:p>
        </p:txBody>
      </p:sp>
      <p:sp>
        <p:nvSpPr>
          <p:cNvPr id="14" name="help"/>
          <p:cNvSpPr txBox="1"/>
          <p:nvPr/>
        </p:nvSpPr>
        <p:spPr>
          <a:xfrm>
            <a:off x="457200" y="5486400"/>
            <a:ext cx="7040880" cy="274320"/>
          </a:xfrm>
          <a:prstGeom prst="rect">
            <a:avLst/>
          </a:prstGeom>
          <a:noFill/>
        </p:spPr>
        <p:txBody>
          <a:bodyPr wrap="square" lIns="109728" rIns="109728" tIns="27432" bIns="27432" anchor="ctr">
            <a:spAutoFit/>
          </a:bodyPr>
          <a:lstStyle/>
          <a:p>
            <a:r>
              <a:rPr sz="750" b="0" i="1">
                <a:solidFill>
                  <a:srgbClr val="6B7785"/>
                </a:solidFill>
                <a:latin typeface="Calibri"/>
              </a:rPr>
              <a:t>Draft · SME review · Ready for the editor · Drafted in the editor</a:t>
            </a:r>
          </a:p>
        </p:txBody>
      </p:sp>
      <p:sp>
        <p:nvSpPr>
          <p:cNvPr id="15"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6"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7" name="panel"/>
          <p:cNvSpPr/>
          <p:nvPr/>
        </p:nvSpPr>
        <p:spPr>
          <a:xfrm>
            <a:off x="7863840" y="1097280"/>
            <a:ext cx="3867912" cy="4663440"/>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owto"/>
          <p:cNvSpPr txBox="1"/>
          <p:nvPr/>
        </p:nvSpPr>
        <p:spPr>
          <a:xfrm>
            <a:off x="7863840" y="1097280"/>
            <a:ext cx="3867912" cy="4663440"/>
          </a:xfrm>
          <a:prstGeom prst="rect">
            <a:avLst/>
          </a:prstGeom>
          <a:noFill/>
        </p:spPr>
        <p:txBody>
          <a:bodyPr wrap="square" lIns="182880" rIns="182880" tIns="146304">
            <a:spAutoFit/>
          </a:bodyPr>
          <a:lstStyle/>
          <a:p>
            <a:r>
              <a:rPr sz="900" b="1" i="0" spc="60">
                <a:solidFill>
                  <a:srgbClr val="0271CE"/>
                </a:solidFill>
                <a:latin typeface="Calibri"/>
              </a:rPr>
              <a:t>HOW THIS BRIEF WORKS</a:t>
            </a:r>
          </a:p>
          <a:p>
            <a:pPr>
              <a:spcBef>
                <a:spcPts val="500"/>
              </a:spcBef>
            </a:pPr>
            <a:r>
              <a:rPr sz="1000" b="1" i="0">
                <a:solidFill>
                  <a:srgbClr val="1F2A37"/>
                </a:solidFill>
                <a:latin typeface="Calibri"/>
              </a:rPr>
              <a:t>Type into the fields.</a:t>
            </a:r>
            <a:r>
              <a:rPr sz="1000" b="0" i="0">
                <a:solidFill>
                  <a:srgbClr val="43505E"/>
                </a:solidFill>
                <a:latin typeface="Calibri"/>
              </a:rPr>
              <a:t> Every field is a placeholder. Outline view exports exactly what you type — and only that.</a:t>
            </a:r>
          </a:p>
          <a:p>
            <a:pPr>
              <a:spcBef>
                <a:spcPts val="500"/>
              </a:spcBef>
            </a:pPr>
            <a:r>
              <a:rPr sz="1000" b="1" i="0">
                <a:solidFill>
                  <a:srgbClr val="1F2A37"/>
                </a:solidFill>
                <a:latin typeface="Calibri"/>
              </a:rPr>
              <a:t>Keep the label line</a:t>
            </a:r>
            <a:r>
              <a:rPr sz="1000" b="0" i="0">
                <a:solidFill>
                  <a:srgbClr val="43505E"/>
                </a:solidFill>
                <a:latin typeface="Calibri"/>
              </a:rPr>
              <a:t> at the top of each field. It is how the editor knows what it is reading.</a:t>
            </a:r>
          </a:p>
          <a:p>
            <a:pPr>
              <a:spcBef>
                <a:spcPts val="500"/>
              </a:spcBef>
            </a:pPr>
            <a:r>
              <a:rPr sz="1000" b="1" i="0">
                <a:solidFill>
                  <a:srgbClr val="1F2A37"/>
                </a:solidFill>
                <a:latin typeface="Calibri"/>
              </a:rPr>
              <a:t>One idea per line</a:t>
            </a:r>
            <a:r>
              <a:rPr sz="1000" b="0" i="0">
                <a:solidFill>
                  <a:srgbClr val="43505E"/>
                </a:solidFill>
                <a:latin typeface="Calibri"/>
              </a:rPr>
              <a:t> in list fields. No bullets needed.</a:t>
            </a:r>
          </a:p>
          <a:p>
            <a:pPr>
              <a:spcBef>
                <a:spcPts val="500"/>
              </a:spcBef>
            </a:pPr>
            <a:r>
              <a:rPr sz="1000" b="1" i="0">
                <a:solidFill>
                  <a:srgbClr val="1F2A37"/>
                </a:solidFill>
                <a:latin typeface="Calibri"/>
              </a:rPr>
              <a:t>Quotes mean verbatim.</a:t>
            </a:r>
            <a:r>
              <a:rPr sz="1000" b="0" i="0">
                <a:solidFill>
                  <a:srgbClr val="43505E"/>
                </a:solidFill>
                <a:latin typeface="Calibri"/>
              </a:rPr>
              <a:t> A field marked verbatim is what the learner reads, word for word. Everything else is guidance for the coach.</a:t>
            </a:r>
          </a:p>
          <a:p>
            <a:pPr>
              <a:spcBef>
                <a:spcPts val="500"/>
              </a:spcBef>
            </a:pPr>
            <a:r>
              <a:rPr sz="1000" b="1" i="0">
                <a:solidFill>
                  <a:srgbClr val="1F2A37"/>
                </a:solidFill>
                <a:latin typeface="Calibri"/>
              </a:rPr>
              <a:t>Duplicate a step slide</a:t>
            </a:r>
            <a:r>
              <a:rPr sz="1000" b="0" i="0">
                <a:solidFill>
                  <a:srgbClr val="43505E"/>
                </a:solidFill>
                <a:latin typeface="Calibri"/>
              </a:rPr>
              <a:t> for each new step (⌘D). Don’t insert one from the layout gallery — it arrives without its labels.</a:t>
            </a:r>
          </a:p>
          <a:p>
            <a:pPr>
              <a:spcBef>
                <a:spcPts val="500"/>
              </a:spcBef>
            </a:pPr>
            <a:r>
              <a:rPr sz="1000" b="1" i="0">
                <a:solidFill>
                  <a:srgbClr val="1F2A37"/>
                </a:solidFill>
                <a:latin typeface="Calibri"/>
              </a:rPr>
              <a:t>No engine notes.</a:t>
            </a:r>
            <a:r>
              <a:rPr sz="1000" b="0" i="0">
                <a:solidFill>
                  <a:srgbClr val="43505E"/>
                </a:solidFill>
                <a:latin typeface="Calibri"/>
              </a:rPr>
              <a:t> Triggers, input types, partner labels and button behavior are fixed by the player.</a:t>
            </a:r>
          </a:p>
          <a:p>
            <a:pPr>
              <a:spcBef>
                <a:spcPts val="500"/>
              </a:spcBef>
            </a:pPr>
            <a:r>
              <a:rPr sz="1000" b="1" i="0">
                <a:solidFill>
                  <a:srgbClr val="1F2A37"/>
                </a:solidFill>
                <a:latin typeface="Calibri"/>
              </a:rPr>
              <a:t>Copy out:</a:t>
            </a:r>
            <a:r>
              <a:rPr sz="1000" b="0" i="0">
                <a:solidFill>
                  <a:srgbClr val="43505E"/>
                </a:solidFill>
                <a:latin typeface="Calibri"/>
              </a:rPr>
              <a:t> View → Outline → select all → paste into the editor’s Start-from-scratch source box.</a:t>
            </a:r>
          </a:p>
        </p:txBody>
      </p:sp>
      <p:sp>
        <p:nvSpPr>
          <p:cNvPr id="19" name="title"/>
          <p:cNvSpPr/>
          <p:nvPr>
            <p:ph type="title"/>
          </p:nvPr>
        </p:nvSpPr>
        <p:spPr>
          <a:xfrm>
            <a:off x="457200" y="274320"/>
            <a:ext cx="7308799"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SCENARIO BRIEF</a:t>
            </a:r>
          </a:p>
        </p:txBody>
      </p:sp>
      <p:sp>
        <p:nvSpPr>
          <p:cNvPr id="20" name="cover.title"/>
          <p:cNvSpPr/>
          <p:nvPr>
            <p:ph type="body" idx="10"/>
          </p:nvPr>
        </p:nvSpPr>
        <p:spPr>
          <a:xfrm>
            <a:off x="457200" y="1097280"/>
            <a:ext cx="7040880" cy="1097280"/>
          </a:xfrm>
          <a:prstGeom prst="rect">
            <a:avLst/>
          </a:prstGeom>
          <a:noFill/>
        </p:spPr>
        <p:txBody>
          <a:bodyPr wrap="square" lIns="109728" rIns="109728" tIns="64008" anchor="t">
            <a:normAutofit/>
          </a:bodyPr>
          <a:lstStyle>
            <a:lvl1pPr marL="0" indent="0">
              <a:spcBef>
                <a:spcPts val="200"/>
              </a:spcBef>
              <a:buNone/>
              <a:defRPr sz="2400" b="0">
                <a:solidFill>
                  <a:srgbClr val="1F2A37"/>
                </a:solidFill>
                <a:latin typeface="Calibri"/>
              </a:defRPr>
            </a:lvl1pPr>
            <a:lvl2pPr marL="228600" indent="-228600">
              <a:buChar char="•"/>
              <a:defRPr sz="2400">
                <a:latin typeface="Calibri"/>
              </a:defRPr>
            </a:lvl2pPr>
          </a:lstStyle>
          <a:p>
            <a:r>
              <a:rPr sz="900" b="1" i="0" spc="60">
                <a:solidFill>
                  <a:srgbClr val="0271CE"/>
                </a:solidFill>
                <a:latin typeface="Calibri"/>
              </a:rPr>
              <a:t>SCENARIO TITLE</a:t>
            </a:r>
          </a:p>
          <a:p>
            <a:r>
              <a:rPr sz="2400" b="0" i="1">
                <a:solidFill>
                  <a:srgbClr val="6B7785"/>
                </a:solidFill>
                <a:latin typeface="Calibri"/>
              </a:rPr>
              <a:t>Type here — keep the label line above.</a:t>
            </a:r>
          </a:p>
        </p:txBody>
      </p:sp>
      <p:sp>
        <p:nvSpPr>
          <p:cNvPr id="21" name="cover.training"/>
          <p:cNvSpPr/>
          <p:nvPr>
            <p:ph type="body" idx="11"/>
          </p:nvPr>
        </p:nvSpPr>
        <p:spPr>
          <a:xfrm>
            <a:off x="457200" y="2651760"/>
            <a:ext cx="7040880" cy="64008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TRAINING IT LIVES INSIDE</a:t>
            </a:r>
          </a:p>
          <a:p>
            <a:r>
              <a:rPr sz="1400" b="0" i="1">
                <a:solidFill>
                  <a:srgbClr val="6B7785"/>
                </a:solidFill>
                <a:latin typeface="Calibri"/>
              </a:rPr>
              <a:t>Type here — keep the label line above.</a:t>
            </a:r>
          </a:p>
        </p:txBody>
      </p:sp>
      <p:sp>
        <p:nvSpPr>
          <p:cNvPr id="22" name="cover.owner"/>
          <p:cNvSpPr/>
          <p:nvPr>
            <p:ph type="body" idx="12"/>
          </p:nvPr>
        </p:nvSpPr>
        <p:spPr>
          <a:xfrm>
            <a:off x="457200" y="3749039"/>
            <a:ext cx="3383280" cy="64008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OWNER</a:t>
            </a:r>
          </a:p>
          <a:p>
            <a:r>
              <a:rPr sz="1400" b="0" i="1">
                <a:solidFill>
                  <a:srgbClr val="6B7785"/>
                </a:solidFill>
                <a:latin typeface="Calibri"/>
              </a:rPr>
              <a:t>Type here — keep the label line above.</a:t>
            </a:r>
          </a:p>
        </p:txBody>
      </p:sp>
      <p:sp>
        <p:nvSpPr>
          <p:cNvPr id="23" name="cover.version"/>
          <p:cNvSpPr/>
          <p:nvPr>
            <p:ph type="body" idx="13"/>
          </p:nvPr>
        </p:nvSpPr>
        <p:spPr>
          <a:xfrm>
            <a:off x="4114800" y="3749039"/>
            <a:ext cx="3383280" cy="64008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VERSION · DATE</a:t>
            </a:r>
          </a:p>
          <a:p>
            <a:r>
              <a:rPr sz="1400" b="0" i="1">
                <a:solidFill>
                  <a:srgbClr val="6B7785"/>
                </a:solidFill>
                <a:latin typeface="Calibri"/>
              </a:rPr>
              <a:t>Type here — keep the label line above.</a:t>
            </a:r>
          </a:p>
        </p:txBody>
      </p:sp>
      <p:sp>
        <p:nvSpPr>
          <p:cNvPr id="24" name="cover.status"/>
          <p:cNvSpPr/>
          <p:nvPr>
            <p:ph type="body" idx="14"/>
          </p:nvPr>
        </p:nvSpPr>
        <p:spPr>
          <a:xfrm>
            <a:off x="457200" y="4846320"/>
            <a:ext cx="7040880" cy="64008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STATUS</a:t>
            </a:r>
          </a:p>
          <a:p>
            <a:r>
              <a:rPr sz="1400" b="0" i="1">
                <a:solidFill>
                  <a:srgbClr val="6B7785"/>
                </a:solidFill>
                <a:latin typeface="Calibri"/>
              </a:rPr>
              <a:t>Type here — keep the label line above.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rief">
    <p:spTree>
      <p:nvGrpSpPr>
        <p:cNvPr id="2" name=""/>
        <p:cNvGrpSpPr/>
        <p:nvPr/>
      </p:nvGrpSpPr>
      <p:grpSpPr>
        <a:xfrm>
          <a:off x="0" y="0"/>
          <a:ext cx="0" cy="0"/>
          <a:chOff x="0" y="0"/>
          <a:chExt cx="0" cy="0"/>
        </a:xfrm>
      </p:grpSpPr>
      <p:sp>
        <p:nvSpPr>
          <p:cNvPr id="3" name="panel"/>
          <p:cNvSpPr/>
          <p:nvPr/>
        </p:nvSpPr>
        <p:spPr>
          <a:xfrm>
            <a:off x="457200" y="1097280"/>
            <a:ext cx="5532120" cy="11430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6199632" y="1097280"/>
            <a:ext cx="5532120" cy="11430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457200" y="2468880"/>
            <a:ext cx="7040880" cy="3977639"/>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7708392" y="2468880"/>
            <a:ext cx="4023360" cy="3977639"/>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nel"/>
          <p:cNvSpPr/>
          <p:nvPr/>
        </p:nvSpPr>
        <p:spPr>
          <a:xfrm>
            <a:off x="7249363" y="384048"/>
            <a:ext cx="4485132"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hip"/>
          <p:cNvSpPr txBox="1"/>
          <p:nvPr/>
        </p:nvSpPr>
        <p:spPr>
          <a:xfrm>
            <a:off x="7249363" y="384048"/>
            <a:ext cx="4485132" cy="329184"/>
          </a:xfrm>
          <a:prstGeom prst="rect">
            <a:avLst/>
          </a:prstGeom>
          <a:noFill/>
        </p:spPr>
        <p:txBody>
          <a:bodyPr wrap="square" lIns="109728" rIns="109728" tIns="27432" bIns="27432" anchor="ctr">
            <a:spAutoFit/>
          </a:bodyPr>
          <a:lstStyle/>
          <a:p>
            <a:r>
              <a:rPr sz="900" b="0" i="0">
                <a:solidFill>
                  <a:srgbClr val="43505E"/>
                </a:solidFill>
                <a:latin typeface="Calibri"/>
              </a:rPr>
              <a:t>Wizard step 1 · The brief  →  Editor · Basics + Steps</a:t>
            </a:r>
          </a:p>
        </p:txBody>
      </p:sp>
      <p:sp>
        <p:nvSpPr>
          <p:cNvPr id="9" name="help"/>
          <p:cNvSpPr txBox="1"/>
          <p:nvPr/>
        </p:nvSpPr>
        <p:spPr>
          <a:xfrm>
            <a:off x="457200" y="196596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One line. Everything else builds on this.  → wizard: What is this scenario about?</a:t>
            </a:r>
          </a:p>
        </p:txBody>
      </p:sp>
      <p:sp>
        <p:nvSpPr>
          <p:cNvPr id="10" name="help"/>
          <p:cNvSpPr txBox="1"/>
          <p:nvPr/>
        </p:nvSpPr>
        <p:spPr>
          <a:xfrm>
            <a:off x="6199632" y="196596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Their position in the situation — placed to notice, decide or act.  → wizard: Who does the learner play?</a:t>
            </a:r>
          </a:p>
        </p:txBody>
      </p:sp>
      <p:sp>
        <p:nvSpPr>
          <p:cNvPr id="11" name="help"/>
          <p:cNvSpPr txBox="1"/>
          <p:nvPr/>
        </p:nvSpPr>
        <p:spPr>
          <a:xfrm>
            <a:off x="457200" y="6172200"/>
            <a:ext cx="7040880" cy="274320"/>
          </a:xfrm>
          <a:prstGeom prst="rect">
            <a:avLst/>
          </a:prstGeom>
          <a:noFill/>
        </p:spPr>
        <p:txBody>
          <a:bodyPr wrap="square" lIns="109728" rIns="109728" tIns="27432" bIns="27432" anchor="ctr">
            <a:spAutoFit/>
          </a:bodyPr>
          <a:lstStyle/>
          <a:p>
            <a:r>
              <a:rPr sz="750" b="0" i="1">
                <a:solidFill>
                  <a:srgbClr val="6B7785"/>
                </a:solidFill>
                <a:latin typeface="Calibri"/>
              </a:rPr>
              <a:t>coach: / roleplay: / observe: then what happens, e.g. “coach: does this qualify as harassment?”  → wizard: The steps</a:t>
            </a:r>
          </a:p>
        </p:txBody>
      </p:sp>
      <p:sp>
        <p:nvSpPr>
          <p:cNvPr id="12" name="help"/>
          <p:cNvSpPr txBox="1"/>
          <p:nvPr/>
        </p:nvSpPr>
        <p:spPr>
          <a:xfrm>
            <a:off x="7708392" y="6172200"/>
            <a:ext cx="4023360" cy="274320"/>
          </a:xfrm>
          <a:prstGeom prst="rect">
            <a:avLst/>
          </a:prstGeom>
          <a:noFill/>
        </p:spPr>
        <p:txBody>
          <a:bodyPr wrap="square" lIns="109728" rIns="109728" tIns="27432" bIns="27432" anchor="ctr">
            <a:spAutoFit/>
          </a:bodyPr>
          <a:lstStyle/>
          <a:p>
            <a:r>
              <a:rPr sz="750" b="0" i="1">
                <a:solidFill>
                  <a:srgbClr val="6B7785"/>
                </a:solidFill>
                <a:latin typeface="Calibri"/>
              </a:rPr>
              <a:t>Course file, slide numbers, policies. Paste the text on a SOURCE MATERIAL slide.</a:t>
            </a:r>
          </a:p>
        </p:txBody>
      </p:sp>
      <p:sp>
        <p:nvSpPr>
          <p:cNvPr id="13"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4"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5" name="title"/>
          <p:cNvSpPr/>
          <p:nvPr>
            <p:ph type="title"/>
          </p:nvPr>
        </p:nvSpPr>
        <p:spPr>
          <a:xfrm>
            <a:off x="457200" y="274320"/>
            <a:ext cx="6609283"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THE BRIEF</a:t>
            </a:r>
          </a:p>
        </p:txBody>
      </p:sp>
      <p:sp>
        <p:nvSpPr>
          <p:cNvPr id="16" name="brief.topic"/>
          <p:cNvSpPr/>
          <p:nvPr>
            <p:ph type="body" idx="10"/>
          </p:nvPr>
        </p:nvSpPr>
        <p:spPr>
          <a:xfrm>
            <a:off x="457200" y="1097280"/>
            <a:ext cx="5532120" cy="86868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TOPIC</a:t>
            </a:r>
          </a:p>
          <a:p>
            <a:r>
              <a:rPr sz="1200" b="0" i="1">
                <a:solidFill>
                  <a:srgbClr val="6B7785"/>
                </a:solidFill>
                <a:latin typeface="Calibri"/>
              </a:rPr>
              <a:t>Type here — keep the label line above.</a:t>
            </a:r>
          </a:p>
        </p:txBody>
      </p:sp>
      <p:sp>
        <p:nvSpPr>
          <p:cNvPr id="17" name="brief.learner"/>
          <p:cNvSpPr/>
          <p:nvPr>
            <p:ph type="body" idx="11"/>
          </p:nvPr>
        </p:nvSpPr>
        <p:spPr>
          <a:xfrm>
            <a:off x="6199632" y="1097280"/>
            <a:ext cx="5532120" cy="86868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THE LEARNER PLAYS</a:t>
            </a:r>
          </a:p>
          <a:p>
            <a:r>
              <a:rPr sz="1200" b="0" i="1">
                <a:solidFill>
                  <a:srgbClr val="6B7785"/>
                </a:solidFill>
                <a:latin typeface="Calibri"/>
              </a:rPr>
              <a:t>Type here — keep the label line above.</a:t>
            </a:r>
          </a:p>
        </p:txBody>
      </p:sp>
      <p:sp>
        <p:nvSpPr>
          <p:cNvPr id="18" name="brief.steps"/>
          <p:cNvSpPr/>
          <p:nvPr>
            <p:ph type="body" idx="12"/>
          </p:nvPr>
        </p:nvSpPr>
        <p:spPr>
          <a:xfrm>
            <a:off x="457200" y="2468880"/>
            <a:ext cx="7040880" cy="370332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STEPS, IN ORDER — ONE PER LINE, EACH STARTING WITH ITS MODE</a:t>
            </a:r>
          </a:p>
          <a:p>
            <a:r>
              <a:rPr sz="1200" b="0" i="1">
                <a:solidFill>
                  <a:srgbClr val="6B7785"/>
                </a:solidFill>
                <a:latin typeface="Calibri"/>
              </a:rPr>
              <a:t>Type here — keep the label line above.</a:t>
            </a:r>
          </a:p>
        </p:txBody>
      </p:sp>
      <p:sp>
        <p:nvSpPr>
          <p:cNvPr id="19" name="brief.sources"/>
          <p:cNvSpPr/>
          <p:nvPr>
            <p:ph type="body" idx="13"/>
          </p:nvPr>
        </p:nvSpPr>
        <p:spPr>
          <a:xfrm>
            <a:off x="7708392" y="2468880"/>
            <a:ext cx="4023360" cy="370332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SOURCE SLIDES OR DOCUMENTS</a:t>
            </a:r>
          </a:p>
          <a:p>
            <a:r>
              <a:rPr sz="1200" b="0" i="1">
                <a:solidFill>
                  <a:srgbClr val="6B7785"/>
                </a:solidFill>
                <a:latin typeface="Calibri"/>
              </a:rPr>
              <a:t>Type here — keep the label line above.</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ituation">
    <p:spTree>
      <p:nvGrpSpPr>
        <p:cNvPr id="2" name=""/>
        <p:cNvGrpSpPr/>
        <p:nvPr/>
      </p:nvGrpSpPr>
      <p:grpSpPr>
        <a:xfrm>
          <a:off x="0" y="0"/>
          <a:ext cx="0" cy="0"/>
          <a:chOff x="0" y="0"/>
          <a:chExt cx="0" cy="0"/>
        </a:xfrm>
      </p:grpSpPr>
      <p:sp>
        <p:nvSpPr>
          <p:cNvPr id="3" name="panel"/>
          <p:cNvSpPr/>
          <p:nvPr/>
        </p:nvSpPr>
        <p:spPr>
          <a:xfrm>
            <a:off x="457200" y="1097280"/>
            <a:ext cx="6903720"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7571231" y="1097280"/>
            <a:ext cx="4160520" cy="12344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7571231" y="2560320"/>
            <a:ext cx="4160520" cy="38862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7016191" y="384048"/>
            <a:ext cx="4718304"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hip"/>
          <p:cNvSpPr txBox="1"/>
          <p:nvPr/>
        </p:nvSpPr>
        <p:spPr>
          <a:xfrm>
            <a:off x="7016191" y="384048"/>
            <a:ext cx="4718304" cy="329184"/>
          </a:xfrm>
          <a:prstGeom prst="rect">
            <a:avLst/>
          </a:prstGeom>
          <a:noFill/>
        </p:spPr>
        <p:txBody>
          <a:bodyPr wrap="square" lIns="109728" rIns="109728" tIns="27432" bIns="27432" anchor="ctr">
            <a:spAutoFit/>
          </a:bodyPr>
          <a:lstStyle/>
          <a:p>
            <a:r>
              <a:rPr sz="900" b="0" i="0">
                <a:solidFill>
                  <a:srgbClr val="43505E"/>
                </a:solidFill>
                <a:latin typeface="Calibri"/>
              </a:rPr>
              <a:t>Wizard step 2 · The world  →  Editor · Situation &amp; world</a:t>
            </a:r>
          </a:p>
        </p:txBody>
      </p:sp>
      <p:sp>
        <p:nvSpPr>
          <p:cNvPr id="8" name="help"/>
          <p:cNvSpPr txBox="1"/>
          <p:nvPr/>
        </p:nvSpPr>
        <p:spPr>
          <a:xfrm>
            <a:off x="457200" y="6172200"/>
            <a:ext cx="6903720" cy="274320"/>
          </a:xfrm>
          <a:prstGeom prst="rect">
            <a:avLst/>
          </a:prstGeom>
          <a:noFill/>
        </p:spPr>
        <p:txBody>
          <a:bodyPr wrap="square" lIns="109728" rIns="109728" tIns="27432" bIns="27432" anchor="ctr">
            <a:spAutoFit/>
          </a:bodyPr>
          <a:lstStyle/>
          <a:p>
            <a:r>
              <a:rPr sz="750" b="1" i="0">
                <a:solidFill>
                  <a:srgbClr val="6B7785"/>
                </a:solidFill>
                <a:latin typeface="Calibri"/>
              </a:rPr>
              <a:t>VERBATIM  </a:t>
            </a:r>
            <a:r>
              <a:rPr sz="750" b="0" i="1">
                <a:solidFill>
                  <a:srgbClr val="6B7785"/>
                </a:solidFill>
                <a:latin typeface="Calibri"/>
              </a:rPr>
              <a:t>Second person, present tense. The learner reads it, and it is the coach’s only picture of the setup.  → v4: narrative</a:t>
            </a:r>
          </a:p>
        </p:txBody>
      </p:sp>
      <p:sp>
        <p:nvSpPr>
          <p:cNvPr id="9" name="help"/>
          <p:cNvSpPr txBox="1"/>
          <p:nvPr/>
        </p:nvSpPr>
        <p:spPr>
          <a:xfrm>
            <a:off x="7571231" y="2057400"/>
            <a:ext cx="4160520" cy="274320"/>
          </a:xfrm>
          <a:prstGeom prst="rect">
            <a:avLst/>
          </a:prstGeom>
          <a:noFill/>
        </p:spPr>
        <p:txBody>
          <a:bodyPr wrap="square" lIns="109728" rIns="109728" tIns="27432" bIns="27432" anchor="ctr">
            <a:spAutoFit/>
          </a:bodyPr>
          <a:lstStyle/>
          <a:p>
            <a:r>
              <a:rPr sz="750" b="0" i="1">
                <a:solidFill>
                  <a:srgbClr val="6B7785"/>
                </a:solidFill>
                <a:latin typeface="Calibri"/>
              </a:rPr>
              <a:t>Where this happens, in one line. The coach never sees it.  → v4: scene_world.setting</a:t>
            </a:r>
          </a:p>
        </p:txBody>
      </p:sp>
      <p:sp>
        <p:nvSpPr>
          <p:cNvPr id="10" name="help"/>
          <p:cNvSpPr txBox="1"/>
          <p:nvPr/>
        </p:nvSpPr>
        <p:spPr>
          <a:xfrm>
            <a:off x="7571231" y="6172200"/>
            <a:ext cx="4160520" cy="274320"/>
          </a:xfrm>
          <a:prstGeom prst="rect">
            <a:avLst/>
          </a:prstGeom>
          <a:noFill/>
        </p:spPr>
        <p:txBody>
          <a:bodyPr wrap="square" lIns="109728" rIns="109728" tIns="27432" bIns="27432" anchor="ctr">
            <a:spAutoFit/>
          </a:bodyPr>
          <a:lstStyle/>
          <a:p>
            <a:r>
              <a:rPr sz="750" b="0" i="1">
                <a:solidFill>
                  <a:srgbClr val="6B7785"/>
                </a:solidFill>
                <a:latin typeface="Calibri"/>
              </a:rPr>
              <a:t>Identity and disposition only; reactions go on the step.  → v4: scene_world.characters</a:t>
            </a:r>
          </a:p>
        </p:txBody>
      </p:sp>
      <p:sp>
        <p:nvSpPr>
          <p:cNvPr id="11"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2"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3" name="title"/>
          <p:cNvSpPr/>
          <p:nvPr>
            <p:ph type="title"/>
          </p:nvPr>
        </p:nvSpPr>
        <p:spPr>
          <a:xfrm>
            <a:off x="457200" y="274320"/>
            <a:ext cx="6376111"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THE SITUATION</a:t>
            </a:r>
          </a:p>
        </p:txBody>
      </p:sp>
      <p:sp>
        <p:nvSpPr>
          <p:cNvPr id="14" name="situation.narrative"/>
          <p:cNvSpPr/>
          <p:nvPr>
            <p:ph type="body" idx="10"/>
          </p:nvPr>
        </p:nvSpPr>
        <p:spPr>
          <a:xfrm>
            <a:off x="457200" y="1097280"/>
            <a:ext cx="6903720" cy="507492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WHAT’S TRUE AS THE SCENARIO OPENS — WRITTEN TO THE LEARNER</a:t>
            </a:r>
          </a:p>
          <a:p>
            <a:r>
              <a:rPr sz="1100" b="0" i="1">
                <a:solidFill>
                  <a:srgbClr val="6B7785"/>
                </a:solidFill>
                <a:latin typeface="Calibri"/>
              </a:rPr>
              <a:t>Type here — keep the label line above.</a:t>
            </a:r>
          </a:p>
        </p:txBody>
      </p:sp>
      <p:sp>
        <p:nvSpPr>
          <p:cNvPr id="15" name="situation.setting"/>
          <p:cNvSpPr/>
          <p:nvPr>
            <p:ph type="body" idx="11"/>
          </p:nvPr>
        </p:nvSpPr>
        <p:spPr>
          <a:xfrm>
            <a:off x="7571231" y="1097280"/>
            <a:ext cx="4160520" cy="96012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SETTING</a:t>
            </a:r>
          </a:p>
          <a:p>
            <a:r>
              <a:rPr sz="1200" b="0" i="1">
                <a:solidFill>
                  <a:srgbClr val="6B7785"/>
                </a:solidFill>
                <a:latin typeface="Calibri"/>
              </a:rPr>
              <a:t>Type here — keep the label line above.</a:t>
            </a:r>
          </a:p>
        </p:txBody>
      </p:sp>
      <p:sp>
        <p:nvSpPr>
          <p:cNvPr id="16" name="situation.cast"/>
          <p:cNvSpPr/>
          <p:nvPr>
            <p:ph type="body" idx="12"/>
          </p:nvPr>
        </p:nvSpPr>
        <p:spPr>
          <a:xfrm>
            <a:off x="7571231" y="2560320"/>
            <a:ext cx="4160520" cy="361188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CAST — NAME — ROLE — DRIVER — NEVER DOES</a:t>
            </a:r>
          </a:p>
          <a:p>
            <a:r>
              <a:rPr sz="1100" b="0" i="1">
                <a:solidFill>
                  <a:srgbClr val="6B7785"/>
                </a:solidFill>
                <a:latin typeface="Calibri"/>
              </a:rPr>
              <a:t>Type here — keep the label line above.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eaching">
    <p:spTree>
      <p:nvGrpSpPr>
        <p:cNvPr id="2" name=""/>
        <p:cNvGrpSpPr/>
        <p:nvPr/>
      </p:nvGrpSpPr>
      <p:grpSpPr>
        <a:xfrm>
          <a:off x="0" y="0"/>
          <a:ext cx="0" cy="0"/>
          <a:chOff x="0" y="0"/>
          <a:chExt cx="0" cy="0"/>
        </a:xfrm>
      </p:grpSpPr>
      <p:sp>
        <p:nvSpPr>
          <p:cNvPr id="3" name="panel"/>
          <p:cNvSpPr/>
          <p:nvPr/>
        </p:nvSpPr>
        <p:spPr>
          <a:xfrm>
            <a:off x="457200" y="1097280"/>
            <a:ext cx="5532120" cy="27432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457200" y="4069080"/>
            <a:ext cx="5532120" cy="23774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6199632" y="1097280"/>
            <a:ext cx="5532120" cy="35204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6199632" y="4846320"/>
            <a:ext cx="5532120" cy="16002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nel"/>
          <p:cNvSpPr/>
          <p:nvPr/>
        </p:nvSpPr>
        <p:spPr>
          <a:xfrm>
            <a:off x="5850331" y="384048"/>
            <a:ext cx="5884164"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hip"/>
          <p:cNvSpPr txBox="1"/>
          <p:nvPr/>
        </p:nvSpPr>
        <p:spPr>
          <a:xfrm>
            <a:off x="5850331" y="384048"/>
            <a:ext cx="5884164" cy="329184"/>
          </a:xfrm>
          <a:prstGeom prst="rect">
            <a:avLst/>
          </a:prstGeom>
          <a:noFill/>
        </p:spPr>
        <p:txBody>
          <a:bodyPr wrap="square" lIns="109728" rIns="109728" tIns="27432" bIns="27432" anchor="ctr">
            <a:spAutoFit/>
          </a:bodyPr>
          <a:lstStyle/>
          <a:p>
            <a:r>
              <a:rPr sz="900" b="0" i="0">
                <a:solidFill>
                  <a:srgbClr val="43505E"/>
                </a:solidFill>
                <a:latin typeface="Calibri"/>
              </a:rPr>
              <a:t>Wizard step 2 · The teaching  →  Editor · Teaching points + Coach voice</a:t>
            </a:r>
          </a:p>
        </p:txBody>
      </p:sp>
      <p:sp>
        <p:nvSpPr>
          <p:cNvPr id="9" name="help"/>
          <p:cNvSpPr txBox="1"/>
          <p:nvPr/>
        </p:nvSpPr>
        <p:spPr>
          <a:xfrm>
            <a:off x="457200" y="356616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What every learner walks away knowing — the teaching points and the expert answer.  → v4: teaching_points</a:t>
            </a:r>
          </a:p>
        </p:txBody>
      </p:sp>
      <p:sp>
        <p:nvSpPr>
          <p:cNvPr id="10" name="help"/>
          <p:cNvSpPr txBox="1"/>
          <p:nvPr/>
        </p:nvSpPr>
        <p:spPr>
          <a:xfrm>
            <a:off x="457200" y="617220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What separates a strong pass from a thin one. Feeds the grading tiers on every step.  → wizard</a:t>
            </a:r>
          </a:p>
        </p:txBody>
      </p:sp>
      <p:sp>
        <p:nvSpPr>
          <p:cNvPr id="11" name="help"/>
          <p:cNvSpPr txBox="1"/>
          <p:nvPr/>
        </p:nvSpPr>
        <p:spPr>
          <a:xfrm>
            <a:off x="6199632" y="434340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The misconception in the learner’s words, an arrow, then the coach’s redirect.  → v4: misconceptions</a:t>
            </a:r>
          </a:p>
        </p:txBody>
      </p:sp>
      <p:sp>
        <p:nvSpPr>
          <p:cNvPr id="12" name="help"/>
          <p:cNvSpPr txBox="1"/>
          <p:nvPr/>
        </p:nvSpPr>
        <p:spPr>
          <a:xfrm>
            <a:off x="6199632" y="617220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How the coach comes across — a stance, not engine rules.  → v4: coach_persona + tone_guidelines</a:t>
            </a:r>
          </a:p>
        </p:txBody>
      </p:sp>
      <p:sp>
        <p:nvSpPr>
          <p:cNvPr id="13"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4"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5" name="title"/>
          <p:cNvSpPr/>
          <p:nvPr>
            <p:ph type="title"/>
          </p:nvPr>
        </p:nvSpPr>
        <p:spPr>
          <a:xfrm>
            <a:off x="457200" y="274320"/>
            <a:ext cx="5210251"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THE TEACHING</a:t>
            </a:r>
          </a:p>
        </p:txBody>
      </p:sp>
      <p:sp>
        <p:nvSpPr>
          <p:cNvPr id="16" name="teaching.mustknows"/>
          <p:cNvSpPr/>
          <p:nvPr>
            <p:ph type="body" idx="10"/>
          </p:nvPr>
        </p:nvSpPr>
        <p:spPr>
          <a:xfrm>
            <a:off x="457200" y="1097280"/>
            <a:ext cx="5532120" cy="246888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MUST-KNOWS — 3 TO 6, ONE PER LINE</a:t>
            </a:r>
          </a:p>
          <a:p>
            <a:r>
              <a:rPr sz="1200" b="0" i="1">
                <a:solidFill>
                  <a:srgbClr val="6B7785"/>
                </a:solidFill>
                <a:latin typeface="Calibri"/>
              </a:rPr>
              <a:t>Type here — keep the label line above.</a:t>
            </a:r>
          </a:p>
        </p:txBody>
      </p:sp>
      <p:sp>
        <p:nvSpPr>
          <p:cNvPr id="17" name="teaching.strongweak"/>
          <p:cNvSpPr/>
          <p:nvPr>
            <p:ph type="body" idx="11"/>
          </p:nvPr>
        </p:nvSpPr>
        <p:spPr>
          <a:xfrm>
            <a:off x="457200" y="4069080"/>
            <a:ext cx="5532120" cy="210312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STRONG HANDLING VS. WEAK</a:t>
            </a:r>
          </a:p>
          <a:p>
            <a:r>
              <a:rPr sz="1200" b="0" i="1">
                <a:solidFill>
                  <a:srgbClr val="6B7785"/>
                </a:solidFill>
                <a:latin typeface="Calibri"/>
              </a:rPr>
              <a:t>Type here — keep the label line above.</a:t>
            </a:r>
          </a:p>
        </p:txBody>
      </p:sp>
      <p:sp>
        <p:nvSpPr>
          <p:cNvPr id="18" name="teaching.misconceptions"/>
          <p:cNvSpPr/>
          <p:nvPr>
            <p:ph type="body" idx="12"/>
          </p:nvPr>
        </p:nvSpPr>
        <p:spPr>
          <a:xfrm>
            <a:off x="6199632" y="1097280"/>
            <a:ext cx="5532120" cy="324612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COMMON WRONG ANSWERS → THE REDIRECT</a:t>
            </a:r>
          </a:p>
          <a:p>
            <a:r>
              <a:rPr sz="1200" b="0" i="1">
                <a:solidFill>
                  <a:srgbClr val="6B7785"/>
                </a:solidFill>
                <a:latin typeface="Calibri"/>
              </a:rPr>
              <a:t>Type here — keep the label line above.</a:t>
            </a:r>
          </a:p>
        </p:txBody>
      </p:sp>
      <p:sp>
        <p:nvSpPr>
          <p:cNvPr id="19" name="teaching.voice"/>
          <p:cNvSpPr/>
          <p:nvPr>
            <p:ph type="body" idx="13"/>
          </p:nvPr>
        </p:nvSpPr>
        <p:spPr>
          <a:xfrm>
            <a:off x="6199632" y="4846320"/>
            <a:ext cx="5532120" cy="132588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COACH VOICE</a:t>
            </a:r>
          </a:p>
          <a:p>
            <a:r>
              <a:rPr sz="1200" b="0" i="1">
                <a:solidFill>
                  <a:srgbClr val="6B7785"/>
                </a:solidFill>
                <a:latin typeface="Calibri"/>
              </a:rPr>
              <a:t>Type here — keep the label line above.</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Opening">
    <p:spTree>
      <p:nvGrpSpPr>
        <p:cNvPr id="2" name=""/>
        <p:cNvGrpSpPr/>
        <p:nvPr/>
      </p:nvGrpSpPr>
      <p:grpSpPr>
        <a:xfrm>
          <a:off x="0" y="0"/>
          <a:ext cx="0" cy="0"/>
          <a:chOff x="0" y="0"/>
          <a:chExt cx="0" cy="0"/>
        </a:xfrm>
      </p:grpSpPr>
      <p:sp>
        <p:nvSpPr>
          <p:cNvPr id="3" name="panel"/>
          <p:cNvSpPr/>
          <p:nvPr/>
        </p:nvSpPr>
        <p:spPr>
          <a:xfrm>
            <a:off x="457200" y="1097280"/>
            <a:ext cx="7680960" cy="21488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8348472" y="1097280"/>
            <a:ext cx="3383280" cy="21488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457200" y="3474720"/>
            <a:ext cx="11274552" cy="29718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5306263" y="384048"/>
            <a:ext cx="6428232"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hip"/>
          <p:cNvSpPr txBox="1"/>
          <p:nvPr/>
        </p:nvSpPr>
        <p:spPr>
          <a:xfrm>
            <a:off x="5306263" y="384048"/>
            <a:ext cx="6428232" cy="329184"/>
          </a:xfrm>
          <a:prstGeom prst="rect">
            <a:avLst/>
          </a:prstGeom>
          <a:noFill/>
        </p:spPr>
        <p:txBody>
          <a:bodyPr wrap="square" lIns="109728" rIns="109728" tIns="27432" bIns="27432" anchor="ctr">
            <a:spAutoFit/>
          </a:bodyPr>
          <a:lstStyle/>
          <a:p>
            <a:r>
              <a:rPr sz="900" b="0" i="0">
                <a:solidFill>
                  <a:srgbClr val="43505E"/>
                </a:solidFill>
                <a:latin typeface="Calibri"/>
              </a:rPr>
              <a:t>Optional warm-up · delete the slide to skip it  →  Editor · Opening reflection</a:t>
            </a:r>
          </a:p>
        </p:txBody>
      </p:sp>
      <p:sp>
        <p:nvSpPr>
          <p:cNvPr id="8" name="help"/>
          <p:cNvSpPr txBox="1"/>
          <p:nvPr/>
        </p:nvSpPr>
        <p:spPr>
          <a:xfrm>
            <a:off x="457200" y="2971800"/>
            <a:ext cx="7680960" cy="274320"/>
          </a:xfrm>
          <a:prstGeom prst="rect">
            <a:avLst/>
          </a:prstGeom>
          <a:noFill/>
        </p:spPr>
        <p:txBody>
          <a:bodyPr wrap="square" lIns="109728" rIns="109728" tIns="27432" bIns="27432" anchor="ctr">
            <a:spAutoFit/>
          </a:bodyPr>
          <a:lstStyle/>
          <a:p>
            <a:r>
              <a:rPr sz="750" b="1" i="0">
                <a:solidFill>
                  <a:srgbClr val="6B7785"/>
                </a:solidFill>
                <a:latin typeface="Calibri"/>
              </a:rPr>
              <a:t>VERBATIM  </a:t>
            </a:r>
            <a:r>
              <a:rPr sz="750" b="0" i="1">
                <a:solidFill>
                  <a:srgbClr val="6B7785"/>
                </a:solidFill>
                <a:latin typeface="Calibri"/>
              </a:rPr>
              <a:t>One ungraded gut-reaction question before the first step. In quotes = the learner reads exactly this.  → v4: opening</a:t>
            </a:r>
          </a:p>
        </p:txBody>
      </p:sp>
      <p:sp>
        <p:nvSpPr>
          <p:cNvPr id="9" name="help"/>
          <p:cNvSpPr txBox="1"/>
          <p:nvPr/>
        </p:nvSpPr>
        <p:spPr>
          <a:xfrm>
            <a:off x="8348472" y="2971800"/>
            <a:ext cx="3383280" cy="274320"/>
          </a:xfrm>
          <a:prstGeom prst="rect">
            <a:avLst/>
          </a:prstGeom>
          <a:noFill/>
        </p:spPr>
        <p:txBody>
          <a:bodyPr wrap="square" lIns="109728" rIns="109728" tIns="27432" bIns="27432" anchor="ctr">
            <a:spAutoFit/>
          </a:bodyPr>
          <a:lstStyle/>
          <a:p>
            <a:r>
              <a:rPr sz="750" b="0" i="1">
                <a:solidFill>
                  <a:srgbClr val="6B7785"/>
                </a:solidFill>
                <a:latin typeface="Calibri"/>
              </a:rPr>
              <a:t>1 or 2 learner turns. Calibrated, never graded.  → v4: opening.exit</a:t>
            </a:r>
          </a:p>
        </p:txBody>
      </p:sp>
      <p:sp>
        <p:nvSpPr>
          <p:cNvPr id="10" name="help"/>
          <p:cNvSpPr txBox="1"/>
          <p:nvPr/>
        </p:nvSpPr>
        <p:spPr>
          <a:xfrm>
            <a:off x="457200" y="6172200"/>
            <a:ext cx="11274552" cy="274320"/>
          </a:xfrm>
          <a:prstGeom prst="rect">
            <a:avLst/>
          </a:prstGeom>
          <a:noFill/>
        </p:spPr>
        <p:txBody>
          <a:bodyPr wrap="square" lIns="109728" rIns="109728" tIns="27432" bIns="27432" anchor="ctr">
            <a:spAutoFit/>
          </a:bodyPr>
          <a:lstStyle/>
          <a:p>
            <a:r>
              <a:rPr sz="750" b="0" i="1">
                <a:solidFill>
                  <a:srgbClr val="6B7785"/>
                </a:solidFill>
                <a:latin typeface="Calibri"/>
              </a:rPr>
              <a:t>Guidance for the coach: what a typical first answer contains (the misconception to expect), and how to acknowledge it without grading or previewing what comes next.  → v4: opening.levels</a:t>
            </a:r>
          </a:p>
        </p:txBody>
      </p:sp>
      <p:sp>
        <p:nvSpPr>
          <p:cNvPr id="11"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2"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3" name="title"/>
          <p:cNvSpPr/>
          <p:nvPr>
            <p:ph type="title"/>
          </p:nvPr>
        </p:nvSpPr>
        <p:spPr>
          <a:xfrm>
            <a:off x="457200" y="274320"/>
            <a:ext cx="4666183"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THE OPENING</a:t>
            </a:r>
          </a:p>
        </p:txBody>
      </p:sp>
      <p:sp>
        <p:nvSpPr>
          <p:cNvPr id="14" name="opening.question"/>
          <p:cNvSpPr/>
          <p:nvPr>
            <p:ph type="body" idx="10"/>
          </p:nvPr>
        </p:nvSpPr>
        <p:spPr>
          <a:xfrm>
            <a:off x="457200" y="1097280"/>
            <a:ext cx="7680960" cy="187452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WARM-UP QUESTION — VERBATIM, THE COACH’S FIRST LINE</a:t>
            </a:r>
          </a:p>
          <a:p>
            <a:r>
              <a:rPr sz="1400" b="0" i="1">
                <a:solidFill>
                  <a:srgbClr val="6B7785"/>
                </a:solidFill>
                <a:latin typeface="Calibri"/>
              </a:rPr>
              <a:t>Type here — keep the label line above.</a:t>
            </a:r>
          </a:p>
        </p:txBody>
      </p:sp>
      <p:sp>
        <p:nvSpPr>
          <p:cNvPr id="15" name="opening.turns"/>
          <p:cNvSpPr/>
          <p:nvPr>
            <p:ph type="body" idx="11"/>
          </p:nvPr>
        </p:nvSpPr>
        <p:spPr>
          <a:xfrm>
            <a:off x="8348472" y="1097280"/>
            <a:ext cx="3383280" cy="1874520"/>
          </a:xfrm>
          <a:prstGeom prst="rect">
            <a:avLst/>
          </a:prstGeom>
          <a:noFill/>
        </p:spPr>
        <p:txBody>
          <a:bodyPr wrap="square" lIns="109728" rIns="109728" tIns="64008" anchor="t">
            <a:normAutofit/>
          </a:bodyPr>
          <a:lstStyle>
            <a:lvl1pPr marL="0" indent="0">
              <a:spcBef>
                <a:spcPts val="200"/>
              </a:spcBef>
              <a:buNone/>
              <a:defRPr sz="1400" b="0">
                <a:solidFill>
                  <a:srgbClr val="1F2A37"/>
                </a:solidFill>
                <a:latin typeface="Calibri"/>
              </a:defRPr>
            </a:lvl1pPr>
            <a:lvl2pPr marL="228600" indent="-228600">
              <a:buChar char="•"/>
              <a:defRPr sz="1400">
                <a:latin typeface="Calibri"/>
              </a:defRPr>
            </a:lvl2pPr>
          </a:lstStyle>
          <a:p>
            <a:r>
              <a:rPr sz="900" b="1" i="0" spc="60">
                <a:solidFill>
                  <a:srgbClr val="0271CE"/>
                </a:solidFill>
                <a:latin typeface="Calibri"/>
              </a:rPr>
              <a:t>TURNS</a:t>
            </a:r>
          </a:p>
          <a:p>
            <a:r>
              <a:rPr sz="1400" b="0" i="1">
                <a:solidFill>
                  <a:srgbClr val="6B7785"/>
                </a:solidFill>
                <a:latin typeface="Calibri"/>
              </a:rPr>
              <a:t>Type here — keep the label line above.</a:t>
            </a:r>
          </a:p>
        </p:txBody>
      </p:sp>
      <p:sp>
        <p:nvSpPr>
          <p:cNvPr id="16" name="opening.listen"/>
          <p:cNvSpPr/>
          <p:nvPr>
            <p:ph type="body" idx="12"/>
          </p:nvPr>
        </p:nvSpPr>
        <p:spPr>
          <a:xfrm>
            <a:off x="457200" y="3474720"/>
            <a:ext cx="11274552" cy="2697480"/>
          </a:xfrm>
          <a:prstGeom prst="rect">
            <a:avLst/>
          </a:prstGeom>
          <a:noFill/>
        </p:spPr>
        <p:txBody>
          <a:bodyPr wrap="square" lIns="109728" rIns="109728" tIns="64008" anchor="t">
            <a:normAutofit/>
          </a:bodyPr>
          <a:lstStyle>
            <a:lvl1pPr marL="0" indent="0">
              <a:spcBef>
                <a:spcPts val="200"/>
              </a:spcBef>
              <a:buNone/>
              <a:defRPr sz="1200" b="0">
                <a:solidFill>
                  <a:srgbClr val="1F2A37"/>
                </a:solidFill>
                <a:latin typeface="Calibri"/>
              </a:defRPr>
            </a:lvl1pPr>
            <a:lvl2pPr marL="228600" indent="-228600">
              <a:buChar char="•"/>
              <a:defRPr sz="1200">
                <a:latin typeface="Calibri"/>
              </a:defRPr>
            </a:lvl2pPr>
          </a:lstStyle>
          <a:p>
            <a:r>
              <a:rPr sz="900" b="1" i="0" spc="60">
                <a:solidFill>
                  <a:srgbClr val="0271CE"/>
                </a:solidFill>
                <a:latin typeface="Calibri"/>
              </a:rPr>
              <a:t>LISTEN FOR — AND HOW TO ACKNOWLEDGE IT</a:t>
            </a:r>
          </a:p>
          <a:p>
            <a:r>
              <a:rPr sz="1200" b="0" i="1">
                <a:solidFill>
                  <a:srgbClr val="6B7785"/>
                </a:solidFill>
                <a:latin typeface="Calibri"/>
              </a:rPr>
              <a:t>Type here — keep the label line above.</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tep">
    <p:spTree>
      <p:nvGrpSpPr>
        <p:cNvPr id="2" name=""/>
        <p:cNvGrpSpPr/>
        <p:nvPr/>
      </p:nvGrpSpPr>
      <p:grpSpPr>
        <a:xfrm>
          <a:off x="0" y="0"/>
          <a:ext cx="0" cy="0"/>
          <a:chOff x="0" y="0"/>
          <a:chExt cx="0" cy="0"/>
        </a:xfrm>
      </p:grpSpPr>
      <p:sp>
        <p:nvSpPr>
          <p:cNvPr id="3" name="panel"/>
          <p:cNvSpPr/>
          <p:nvPr/>
        </p:nvSpPr>
        <p:spPr>
          <a:xfrm>
            <a:off x="457200" y="1097280"/>
            <a:ext cx="2103120" cy="658368"/>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2706624" y="1097280"/>
            <a:ext cx="2103120" cy="658368"/>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4956048" y="1097280"/>
            <a:ext cx="1005840" cy="658368"/>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457200" y="1847088"/>
            <a:ext cx="5504688" cy="96012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nel"/>
          <p:cNvSpPr/>
          <p:nvPr/>
        </p:nvSpPr>
        <p:spPr>
          <a:xfrm>
            <a:off x="6172200" y="1097280"/>
            <a:ext cx="5559552" cy="1709928"/>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nel"/>
          <p:cNvSpPr/>
          <p:nvPr/>
        </p:nvSpPr>
        <p:spPr>
          <a:xfrm>
            <a:off x="457200" y="2926080"/>
            <a:ext cx="3612794" cy="25146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nel"/>
          <p:cNvSpPr/>
          <p:nvPr/>
        </p:nvSpPr>
        <p:spPr>
          <a:xfrm>
            <a:off x="4289450" y="2926080"/>
            <a:ext cx="3612794" cy="25146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anel"/>
          <p:cNvSpPr/>
          <p:nvPr/>
        </p:nvSpPr>
        <p:spPr>
          <a:xfrm>
            <a:off x="8121700" y="2926080"/>
            <a:ext cx="3612794" cy="25146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anel"/>
          <p:cNvSpPr/>
          <p:nvPr/>
        </p:nvSpPr>
        <p:spPr>
          <a:xfrm>
            <a:off x="457200" y="5532120"/>
            <a:ext cx="11274552" cy="941832"/>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anel"/>
          <p:cNvSpPr/>
          <p:nvPr/>
        </p:nvSpPr>
        <p:spPr>
          <a:xfrm>
            <a:off x="7249363" y="384048"/>
            <a:ext cx="4485132"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ip"/>
          <p:cNvSpPr txBox="1"/>
          <p:nvPr/>
        </p:nvSpPr>
        <p:spPr>
          <a:xfrm>
            <a:off x="7249363" y="384048"/>
            <a:ext cx="4485132" cy="329184"/>
          </a:xfrm>
          <a:prstGeom prst="rect">
            <a:avLst/>
          </a:prstGeom>
          <a:noFill/>
        </p:spPr>
        <p:txBody>
          <a:bodyPr wrap="square" lIns="109728" rIns="109728" tIns="27432" bIns="27432" anchor="ctr">
            <a:spAutoFit/>
          </a:bodyPr>
          <a:lstStyle/>
          <a:p>
            <a:r>
              <a:rPr sz="900" b="0" i="0">
                <a:solidFill>
                  <a:srgbClr val="43505E"/>
                </a:solidFill>
                <a:latin typeface="Calibri"/>
              </a:rPr>
              <a:t>Duplicate this slide for each step  →  Editor · Steps</a:t>
            </a:r>
          </a:p>
        </p:txBody>
      </p:sp>
      <p:sp>
        <p:nvSpPr>
          <p:cNvPr id="14" name="help"/>
          <p:cNvSpPr txBox="1"/>
          <p:nvPr/>
        </p:nvSpPr>
        <p:spPr>
          <a:xfrm>
            <a:off x="457200" y="1481328"/>
            <a:ext cx="2103120" cy="274320"/>
          </a:xfrm>
          <a:prstGeom prst="rect">
            <a:avLst/>
          </a:prstGeom>
          <a:noFill/>
        </p:spPr>
        <p:txBody>
          <a:bodyPr wrap="square" lIns="109728" rIns="109728" tIns="27432" bIns="27432" anchor="ctr">
            <a:spAutoFit/>
          </a:bodyPr>
          <a:lstStyle/>
          <a:p>
            <a:r>
              <a:rPr sz="750" b="0" i="1">
                <a:solidFill>
                  <a:srgbClr val="6B7785"/>
                </a:solidFill>
                <a:latin typeface="Calibri"/>
              </a:rPr>
              <a:t>coach · roleplay · observe</a:t>
            </a:r>
          </a:p>
        </p:txBody>
      </p:sp>
      <p:sp>
        <p:nvSpPr>
          <p:cNvPr id="15" name="help"/>
          <p:cNvSpPr txBox="1"/>
          <p:nvPr/>
        </p:nvSpPr>
        <p:spPr>
          <a:xfrm>
            <a:off x="2706624" y="1481328"/>
            <a:ext cx="2103120" cy="274320"/>
          </a:xfrm>
          <a:prstGeom prst="rect">
            <a:avLst/>
          </a:prstGeom>
          <a:noFill/>
        </p:spPr>
        <p:txBody>
          <a:bodyPr wrap="square" lIns="109728" rIns="109728" tIns="27432" bIns="27432" anchor="ctr">
            <a:spAutoFit/>
          </a:bodyPr>
          <a:lstStyle/>
          <a:p>
            <a:r>
              <a:rPr sz="750" b="0" i="1">
                <a:solidFill>
                  <a:srgbClr val="6B7785"/>
                </a:solidFill>
                <a:latin typeface="Calibri"/>
              </a:rPr>
              <a:t>Yes = the coach lands it. No = open.</a:t>
            </a:r>
          </a:p>
        </p:txBody>
      </p:sp>
      <p:sp>
        <p:nvSpPr>
          <p:cNvPr id="16" name="help"/>
          <p:cNvSpPr txBox="1"/>
          <p:nvPr/>
        </p:nvSpPr>
        <p:spPr>
          <a:xfrm>
            <a:off x="4956048" y="1481328"/>
            <a:ext cx="1005840" cy="274320"/>
          </a:xfrm>
          <a:prstGeom prst="rect">
            <a:avLst/>
          </a:prstGeom>
          <a:noFill/>
        </p:spPr>
        <p:txBody>
          <a:bodyPr wrap="square" lIns="109728" rIns="109728" tIns="27432" bIns="27432" anchor="ctr">
            <a:spAutoFit/>
          </a:bodyPr>
          <a:lstStyle/>
          <a:p>
            <a:r>
              <a:rPr sz="750" b="0" i="1">
                <a:solidFill>
                  <a:srgbClr val="6B7785"/>
                </a:solidFill>
                <a:latin typeface="Calibri"/>
              </a:rPr>
              <a:t>Learner turns.</a:t>
            </a:r>
          </a:p>
        </p:txBody>
      </p:sp>
      <p:sp>
        <p:nvSpPr>
          <p:cNvPr id="17" name="help"/>
          <p:cNvSpPr txBox="1"/>
          <p:nvPr/>
        </p:nvSpPr>
        <p:spPr>
          <a:xfrm>
            <a:off x="457200" y="2532888"/>
            <a:ext cx="5504688" cy="274320"/>
          </a:xfrm>
          <a:prstGeom prst="rect">
            <a:avLst/>
          </a:prstGeom>
          <a:noFill/>
        </p:spPr>
        <p:txBody>
          <a:bodyPr wrap="square" lIns="109728" rIns="109728" tIns="27432" bIns="27432" anchor="ctr">
            <a:spAutoFit/>
          </a:bodyPr>
          <a:lstStyle/>
          <a:p>
            <a:r>
              <a:rPr sz="750" b="0" i="1">
                <a:solidFill>
                  <a:srgbClr val="6B7785"/>
                </a:solidFill>
                <a:latin typeface="Calibri"/>
              </a:rPr>
              <a:t>Guidance for the coach: the task, and what must be done to complete the step.  → v4: practice.purpose</a:t>
            </a:r>
          </a:p>
        </p:txBody>
      </p:sp>
      <p:sp>
        <p:nvSpPr>
          <p:cNvPr id="18" name="help"/>
          <p:cNvSpPr txBox="1"/>
          <p:nvPr/>
        </p:nvSpPr>
        <p:spPr>
          <a:xfrm>
            <a:off x="6172200" y="2532888"/>
            <a:ext cx="5559552" cy="274320"/>
          </a:xfrm>
          <a:prstGeom prst="rect">
            <a:avLst/>
          </a:prstGeom>
          <a:noFill/>
        </p:spPr>
        <p:txBody>
          <a:bodyPr wrap="square" lIns="109728" rIns="109728" tIns="27432" bIns="27432" anchor="ctr">
            <a:spAutoFit/>
          </a:bodyPr>
          <a:lstStyle/>
          <a:p>
            <a:r>
              <a:rPr sz="750" b="1" i="0">
                <a:solidFill>
                  <a:srgbClr val="6B7785"/>
                </a:solidFill>
                <a:latin typeface="Calibri"/>
              </a:rPr>
              <a:t>VERBATIM  </a:t>
            </a:r>
            <a:r>
              <a:rPr sz="750" b="0" i="1">
                <a:solidFill>
                  <a:srgbClr val="6B7785"/>
                </a:solidFill>
                <a:latin typeface="Calibri"/>
              </a:rPr>
              <a:t>coach: the task line · roleplay: Narrator / Character lines · observe: the brief over the exhibit</a:t>
            </a:r>
          </a:p>
        </p:txBody>
      </p:sp>
      <p:sp>
        <p:nvSpPr>
          <p:cNvPr id="19" name="help"/>
          <p:cNvSpPr txBox="1"/>
          <p:nvPr/>
        </p:nvSpPr>
        <p:spPr>
          <a:xfrm>
            <a:off x="457200" y="516636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Recognise it · respond · move the scene  → v4: levels</a:t>
            </a:r>
          </a:p>
        </p:txBody>
      </p:sp>
      <p:sp>
        <p:nvSpPr>
          <p:cNvPr id="20" name="help"/>
          <p:cNvSpPr txBox="1"/>
          <p:nvPr/>
        </p:nvSpPr>
        <p:spPr>
          <a:xfrm>
            <a:off x="4289450" y="516636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Recognise it · respond · move the scene  → v4: levels</a:t>
            </a:r>
          </a:p>
        </p:txBody>
      </p:sp>
      <p:sp>
        <p:nvSpPr>
          <p:cNvPr id="21" name="help"/>
          <p:cNvSpPr txBox="1"/>
          <p:nvPr/>
        </p:nvSpPr>
        <p:spPr>
          <a:xfrm>
            <a:off x="8121700" y="516636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Recognise it · respond · move the scene  → v4: levels</a:t>
            </a:r>
          </a:p>
        </p:txBody>
      </p:sp>
      <p:sp>
        <p:nvSpPr>
          <p:cNvPr id="22" name="help"/>
          <p:cNvSpPr txBox="1"/>
          <p:nvPr/>
        </p:nvSpPr>
        <p:spPr>
          <a:xfrm>
            <a:off x="457200" y="6199632"/>
            <a:ext cx="11274552" cy="274320"/>
          </a:xfrm>
          <a:prstGeom prst="rect">
            <a:avLst/>
          </a:prstGeom>
          <a:noFill/>
        </p:spPr>
        <p:txBody>
          <a:bodyPr wrap="square" lIns="109728" rIns="109728" tIns="27432" bIns="27432" anchor="ctr">
            <a:spAutoFit/>
          </a:bodyPr>
          <a:lstStyle/>
          <a:p>
            <a:r>
              <a:rPr sz="750" b="0" i="1">
                <a:solidFill>
                  <a:srgbClr val="6B7785"/>
                </a:solidFill>
                <a:latin typeface="Calibri"/>
              </a:rPr>
              <a:t>Guidance for the coach. One point per line, or separated by  ·   → v4: debrief.key_points</a:t>
            </a:r>
          </a:p>
        </p:txBody>
      </p:sp>
      <p:sp>
        <p:nvSpPr>
          <p:cNvPr id="23"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24"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25" name="title"/>
          <p:cNvSpPr/>
          <p:nvPr>
            <p:ph type="title"/>
          </p:nvPr>
        </p:nvSpPr>
        <p:spPr>
          <a:xfrm>
            <a:off x="457200" y="274320"/>
            <a:ext cx="6609283"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STEP N · The story’s own name for this segment</a:t>
            </a:r>
          </a:p>
        </p:txBody>
      </p:sp>
      <p:sp>
        <p:nvSpPr>
          <p:cNvPr id="26" name="step.mode"/>
          <p:cNvSpPr/>
          <p:nvPr>
            <p:ph type="body" idx="10"/>
          </p:nvPr>
        </p:nvSpPr>
        <p:spPr>
          <a:xfrm>
            <a:off x="457200" y="1097280"/>
            <a:ext cx="2103120" cy="384048"/>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MODE</a:t>
            </a:r>
          </a:p>
          <a:p>
            <a:r>
              <a:rPr sz="1100" b="0" i="1">
                <a:solidFill>
                  <a:srgbClr val="6B7785"/>
                </a:solidFill>
                <a:latin typeface="Calibri"/>
              </a:rPr>
              <a:t>Type here — keep the label line above.</a:t>
            </a:r>
          </a:p>
        </p:txBody>
      </p:sp>
      <p:sp>
        <p:nvSpPr>
          <p:cNvPr id="27" name="step.right"/>
          <p:cNvSpPr/>
          <p:nvPr>
            <p:ph type="body" idx="11"/>
          </p:nvPr>
        </p:nvSpPr>
        <p:spPr>
          <a:xfrm>
            <a:off x="2706624" y="1097280"/>
            <a:ext cx="2103120" cy="384048"/>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RIGHT ANSWER?</a:t>
            </a:r>
          </a:p>
          <a:p>
            <a:r>
              <a:rPr sz="1100" b="0" i="1">
                <a:solidFill>
                  <a:srgbClr val="6B7785"/>
                </a:solidFill>
                <a:latin typeface="Calibri"/>
              </a:rPr>
              <a:t>Type here — keep the label line above.</a:t>
            </a:r>
          </a:p>
        </p:txBody>
      </p:sp>
      <p:sp>
        <p:nvSpPr>
          <p:cNvPr id="28" name="step.turns"/>
          <p:cNvSpPr/>
          <p:nvPr>
            <p:ph type="body" idx="12"/>
          </p:nvPr>
        </p:nvSpPr>
        <p:spPr>
          <a:xfrm>
            <a:off x="4956048" y="1097280"/>
            <a:ext cx="1005840" cy="384048"/>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TURNS</a:t>
            </a:r>
          </a:p>
          <a:p>
            <a:r>
              <a:rPr sz="1100" b="0" i="1">
                <a:solidFill>
                  <a:srgbClr val="6B7785"/>
                </a:solidFill>
                <a:latin typeface="Calibri"/>
              </a:rPr>
              <a:t>Type here — keep the label line above.</a:t>
            </a:r>
          </a:p>
        </p:txBody>
      </p:sp>
      <p:sp>
        <p:nvSpPr>
          <p:cNvPr id="29" name="step.does"/>
          <p:cNvSpPr/>
          <p:nvPr>
            <p:ph type="body" idx="13"/>
          </p:nvPr>
        </p:nvSpPr>
        <p:spPr>
          <a:xfrm>
            <a:off x="457200" y="1847088"/>
            <a:ext cx="5504688" cy="685800"/>
          </a:xfrm>
          <a:prstGeom prst="rect">
            <a:avLst/>
          </a:prstGeom>
          <a:noFill/>
        </p:spPr>
        <p:txBody>
          <a:bodyPr wrap="square" lIns="109728" rIns="109728" tIns="64008" anchor="t">
            <a:normAutofit/>
          </a:bodyPr>
          <a:lstStyle>
            <a:lvl1pPr marL="0" indent="0">
              <a:spcBef>
                <a:spcPts val="200"/>
              </a:spcBef>
              <a:buNone/>
              <a:defRPr sz="1000" b="0">
                <a:solidFill>
                  <a:srgbClr val="1F2A37"/>
                </a:solidFill>
                <a:latin typeface="Calibri"/>
              </a:defRPr>
            </a:lvl1pPr>
            <a:lvl2pPr marL="228600" indent="-228600">
              <a:buChar char="•"/>
              <a:defRPr sz="1000">
                <a:latin typeface="Calibri"/>
              </a:defRPr>
            </a:lvl2pPr>
          </a:lstStyle>
          <a:p>
            <a:r>
              <a:rPr sz="900" b="1" i="0" spc="60">
                <a:solidFill>
                  <a:srgbClr val="0271CE"/>
                </a:solidFill>
                <a:latin typeface="Calibri"/>
              </a:rPr>
              <a:t>WHAT THE LEARNER DOES HERE — AND WHY NOW</a:t>
            </a:r>
          </a:p>
          <a:p>
            <a:r>
              <a:rPr sz="1000" b="0" i="1">
                <a:solidFill>
                  <a:srgbClr val="6B7785"/>
                </a:solidFill>
                <a:latin typeface="Calibri"/>
              </a:rPr>
              <a:t>Type here — keep the label line above.</a:t>
            </a:r>
          </a:p>
        </p:txBody>
      </p:sp>
      <p:sp>
        <p:nvSpPr>
          <p:cNvPr id="30" name="step.opener"/>
          <p:cNvSpPr/>
          <p:nvPr>
            <p:ph type="body" idx="14"/>
          </p:nvPr>
        </p:nvSpPr>
        <p:spPr>
          <a:xfrm>
            <a:off x="6172200" y="1097280"/>
            <a:ext cx="5559552" cy="1435608"/>
          </a:xfrm>
          <a:prstGeom prst="rect">
            <a:avLst/>
          </a:prstGeom>
          <a:noFill/>
        </p:spPr>
        <p:txBody>
          <a:bodyPr wrap="square" lIns="109728" rIns="109728" tIns="64008" anchor="t">
            <a:normAutofit/>
          </a:bodyPr>
          <a:lstStyle>
            <a:lvl1pPr marL="0" indent="0">
              <a:spcBef>
                <a:spcPts val="200"/>
              </a:spcBef>
              <a:buNone/>
              <a:defRPr sz="1000" b="0">
                <a:solidFill>
                  <a:srgbClr val="1F2A37"/>
                </a:solidFill>
                <a:latin typeface="Calibri"/>
              </a:defRPr>
            </a:lvl1pPr>
            <a:lvl2pPr marL="228600" indent="-228600">
              <a:buChar char="•"/>
              <a:defRPr sz="1000">
                <a:latin typeface="Calibri"/>
              </a:defRPr>
            </a:lvl2pPr>
          </a:lstStyle>
          <a:p>
            <a:r>
              <a:rPr sz="900" b="1" i="0" spc="60">
                <a:solidFill>
                  <a:srgbClr val="0271CE"/>
                </a:solidFill>
                <a:latin typeface="Calibri"/>
              </a:rPr>
              <a:t>OPENER — VERBATIM</a:t>
            </a:r>
          </a:p>
          <a:p>
            <a:r>
              <a:rPr sz="1000" b="0" i="1">
                <a:solidFill>
                  <a:srgbClr val="6B7785"/>
                </a:solidFill>
                <a:latin typeface="Calibri"/>
              </a:rPr>
              <a:t>Type here — keep the label line above.</a:t>
            </a:r>
          </a:p>
        </p:txBody>
      </p:sp>
      <p:sp>
        <p:nvSpPr>
          <p:cNvPr id="31" name="step.tier.unthoughtful"/>
          <p:cNvSpPr/>
          <p:nvPr>
            <p:ph type="body" idx="15"/>
          </p:nvPr>
        </p:nvSpPr>
        <p:spPr>
          <a:xfrm>
            <a:off x="457200" y="2926080"/>
            <a:ext cx="3612794" cy="2240280"/>
          </a:xfrm>
          <a:prstGeom prst="rect">
            <a:avLst/>
          </a:prstGeom>
          <a:noFill/>
        </p:spPr>
        <p:txBody>
          <a:bodyPr wrap="square" lIns="109728" rIns="109728" tIns="64008" anchor="t">
            <a:normAutofit/>
          </a:bodyPr>
          <a:lstStyle>
            <a:lvl1pPr marL="0" indent="0">
              <a:spcBef>
                <a:spcPts val="200"/>
              </a:spcBef>
              <a:buNone/>
              <a:defRPr sz="950" b="0">
                <a:solidFill>
                  <a:srgbClr val="1F2A37"/>
                </a:solidFill>
                <a:latin typeface="Calibri"/>
              </a:defRPr>
            </a:lvl1pPr>
            <a:lvl2pPr marL="228600" indent="-228600">
              <a:buChar char="•"/>
              <a:defRPr sz="950">
                <a:latin typeface="Calibri"/>
              </a:defRPr>
            </a:lvl2pPr>
          </a:lstStyle>
          <a:p>
            <a:r>
              <a:rPr sz="900" b="1" i="0" spc="60">
                <a:solidFill>
                  <a:srgbClr val="B54B3A"/>
                </a:solidFill>
                <a:latin typeface="Calibri"/>
              </a:rPr>
              <a:t>UNTHOUGHTFUL</a:t>
            </a:r>
          </a:p>
          <a:p>
            <a:r>
              <a:rPr sz="950" b="0" i="1">
                <a:solidFill>
                  <a:srgbClr val="6B7785"/>
                </a:solidFill>
                <a:latin typeface="Calibri"/>
              </a:rPr>
              <a:t>Type here — keep the label line above.</a:t>
            </a:r>
          </a:p>
        </p:txBody>
      </p:sp>
      <p:sp>
        <p:nvSpPr>
          <p:cNvPr id="32" name="step.tier.neutral"/>
          <p:cNvSpPr/>
          <p:nvPr>
            <p:ph type="body" idx="16"/>
          </p:nvPr>
        </p:nvSpPr>
        <p:spPr>
          <a:xfrm>
            <a:off x="4289450" y="2926080"/>
            <a:ext cx="3612794" cy="2240280"/>
          </a:xfrm>
          <a:prstGeom prst="rect">
            <a:avLst/>
          </a:prstGeom>
          <a:noFill/>
        </p:spPr>
        <p:txBody>
          <a:bodyPr wrap="square" lIns="109728" rIns="109728" tIns="64008" anchor="t">
            <a:normAutofit/>
          </a:bodyPr>
          <a:lstStyle>
            <a:lvl1pPr marL="0" indent="0">
              <a:spcBef>
                <a:spcPts val="200"/>
              </a:spcBef>
              <a:buNone/>
              <a:defRPr sz="950" b="0">
                <a:solidFill>
                  <a:srgbClr val="1F2A37"/>
                </a:solidFill>
                <a:latin typeface="Calibri"/>
              </a:defRPr>
            </a:lvl1pPr>
            <a:lvl2pPr marL="228600" indent="-228600">
              <a:buChar char="•"/>
              <a:defRPr sz="950">
                <a:latin typeface="Calibri"/>
              </a:defRPr>
            </a:lvl2pPr>
          </a:lstStyle>
          <a:p>
            <a:r>
              <a:rPr sz="900" b="1" i="0" spc="60">
                <a:solidFill>
                  <a:srgbClr val="8A6D1F"/>
                </a:solidFill>
                <a:latin typeface="Calibri"/>
              </a:rPr>
              <a:t>NEUTRAL</a:t>
            </a:r>
          </a:p>
          <a:p>
            <a:r>
              <a:rPr sz="950" b="0" i="1">
                <a:solidFill>
                  <a:srgbClr val="6B7785"/>
                </a:solidFill>
                <a:latin typeface="Calibri"/>
              </a:rPr>
              <a:t>Type here — keep the label line above.</a:t>
            </a:r>
          </a:p>
        </p:txBody>
      </p:sp>
      <p:sp>
        <p:nvSpPr>
          <p:cNvPr id="33" name="step.tier.strong"/>
          <p:cNvSpPr/>
          <p:nvPr>
            <p:ph type="body" idx="17"/>
          </p:nvPr>
        </p:nvSpPr>
        <p:spPr>
          <a:xfrm>
            <a:off x="8121700" y="2926080"/>
            <a:ext cx="3612794" cy="2240280"/>
          </a:xfrm>
          <a:prstGeom prst="rect">
            <a:avLst/>
          </a:prstGeom>
          <a:noFill/>
        </p:spPr>
        <p:txBody>
          <a:bodyPr wrap="square" lIns="109728" rIns="109728" tIns="64008" anchor="t">
            <a:normAutofit/>
          </a:bodyPr>
          <a:lstStyle>
            <a:lvl1pPr marL="0" indent="0">
              <a:spcBef>
                <a:spcPts val="200"/>
              </a:spcBef>
              <a:buNone/>
              <a:defRPr sz="950" b="0">
                <a:solidFill>
                  <a:srgbClr val="1F2A37"/>
                </a:solidFill>
                <a:latin typeface="Calibri"/>
              </a:defRPr>
            </a:lvl1pPr>
            <a:lvl2pPr marL="228600" indent="-228600">
              <a:buChar char="•"/>
              <a:defRPr sz="950">
                <a:latin typeface="Calibri"/>
              </a:defRPr>
            </a:lvl2pPr>
          </a:lstStyle>
          <a:p>
            <a:r>
              <a:rPr sz="900" b="1" i="0" spc="60">
                <a:solidFill>
                  <a:srgbClr val="2E7D4F"/>
                </a:solidFill>
                <a:latin typeface="Calibri"/>
              </a:rPr>
              <a:t>STRONG</a:t>
            </a:r>
          </a:p>
          <a:p>
            <a:r>
              <a:rPr sz="950" b="0" i="1">
                <a:solidFill>
                  <a:srgbClr val="6B7785"/>
                </a:solidFill>
                <a:latin typeface="Calibri"/>
              </a:rPr>
              <a:t>Type here — keep the label line above.</a:t>
            </a:r>
          </a:p>
        </p:txBody>
      </p:sp>
      <p:sp>
        <p:nvSpPr>
          <p:cNvPr id="34" name="step.debrief"/>
          <p:cNvSpPr/>
          <p:nvPr>
            <p:ph type="body" idx="18"/>
          </p:nvPr>
        </p:nvSpPr>
        <p:spPr>
          <a:xfrm>
            <a:off x="457200" y="5532120"/>
            <a:ext cx="11274552" cy="667512"/>
          </a:xfrm>
          <a:prstGeom prst="rect">
            <a:avLst/>
          </a:prstGeom>
          <a:noFill/>
        </p:spPr>
        <p:txBody>
          <a:bodyPr wrap="square" lIns="109728" rIns="109728" tIns="64008" anchor="t">
            <a:normAutofit/>
          </a:bodyPr>
          <a:lstStyle>
            <a:lvl1pPr marL="0" indent="0">
              <a:spcBef>
                <a:spcPts val="200"/>
              </a:spcBef>
              <a:buNone/>
              <a:defRPr sz="950" b="0">
                <a:solidFill>
                  <a:srgbClr val="1F2A37"/>
                </a:solidFill>
                <a:latin typeface="Calibri"/>
              </a:defRPr>
            </a:lvl1pPr>
            <a:lvl2pPr marL="228600" indent="-228600">
              <a:buChar char="•"/>
              <a:defRPr sz="950">
                <a:latin typeface="Calibri"/>
              </a:defRPr>
            </a:lvl2pPr>
          </a:lstStyle>
          <a:p>
            <a:r>
              <a:rPr sz="900" b="1" i="0" spc="60">
                <a:solidFill>
                  <a:srgbClr val="0271CE"/>
                </a:solidFill>
                <a:latin typeface="Calibri"/>
              </a:rPr>
              <a:t>DEBRIEF LANDS — 2 TO 4 POINTS EVERY LEARNER HEARS, HOWEVER THE ATTEMPT WENT</a:t>
            </a:r>
          </a:p>
          <a:p>
            <a:r>
              <a:rPr sz="950" b="0" i="1">
                <a:solidFill>
                  <a:srgbClr val="6B7785"/>
                </a:solidFill>
                <a:latin typeface="Calibri"/>
              </a:rPr>
              <a:t>Type here — keep the label line above.</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xamples">
    <p:spTree>
      <p:nvGrpSpPr>
        <p:cNvPr id="2" name=""/>
        <p:cNvGrpSpPr/>
        <p:nvPr/>
      </p:nvGrpSpPr>
      <p:grpSpPr>
        <a:xfrm>
          <a:off x="0" y="0"/>
          <a:ext cx="0" cy="0"/>
          <a:chOff x="0" y="0"/>
          <a:chExt cx="0" cy="0"/>
        </a:xfrm>
      </p:grpSpPr>
      <p:sp>
        <p:nvSpPr>
          <p:cNvPr id="3" name="panel"/>
          <p:cNvSpPr/>
          <p:nvPr/>
        </p:nvSpPr>
        <p:spPr>
          <a:xfrm>
            <a:off x="457200" y="1097280"/>
            <a:ext cx="3612794"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4289450" y="1097280"/>
            <a:ext cx="3612794"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8121700" y="1097280"/>
            <a:ext cx="3612794"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5928055" y="384048"/>
            <a:ext cx="5806440"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hip"/>
          <p:cNvSpPr txBox="1"/>
          <p:nvPr/>
        </p:nvSpPr>
        <p:spPr>
          <a:xfrm>
            <a:off x="5928055" y="384048"/>
            <a:ext cx="5806440" cy="329184"/>
          </a:xfrm>
          <a:prstGeom prst="rect">
            <a:avLst/>
          </a:prstGeom>
          <a:noFill/>
        </p:spPr>
        <p:txBody>
          <a:bodyPr wrap="square" lIns="109728" rIns="109728" tIns="27432" bIns="27432" anchor="ctr">
            <a:spAutoFit/>
          </a:bodyPr>
          <a:lstStyle/>
          <a:p>
            <a:r>
              <a:rPr sz="900" b="0" i="0">
                <a:solidFill>
                  <a:srgbClr val="43505E"/>
                </a:solidFill>
                <a:latin typeface="Calibri"/>
              </a:rPr>
              <a:t>Optional · one example per tier — the wizard drafts these if you don’t</a:t>
            </a:r>
          </a:p>
        </p:txBody>
      </p:sp>
      <p:sp>
        <p:nvSpPr>
          <p:cNvPr id="8" name="help"/>
          <p:cNvSpPr txBox="1"/>
          <p:nvPr/>
        </p:nvSpPr>
        <p:spPr>
          <a:xfrm>
            <a:off x="457200" y="617220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One learner line and the reply they hear.  → v4: levels.example</a:t>
            </a:r>
          </a:p>
        </p:txBody>
      </p:sp>
      <p:sp>
        <p:nvSpPr>
          <p:cNvPr id="9" name="help"/>
          <p:cNvSpPr txBox="1"/>
          <p:nvPr/>
        </p:nvSpPr>
        <p:spPr>
          <a:xfrm>
            <a:off x="4289450" y="617220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One learner line and the reply they hear.  → v4: levels.example</a:t>
            </a:r>
          </a:p>
        </p:txBody>
      </p:sp>
      <p:sp>
        <p:nvSpPr>
          <p:cNvPr id="10" name="help"/>
          <p:cNvSpPr txBox="1"/>
          <p:nvPr/>
        </p:nvSpPr>
        <p:spPr>
          <a:xfrm>
            <a:off x="8121700" y="6172200"/>
            <a:ext cx="3612794" cy="274320"/>
          </a:xfrm>
          <a:prstGeom prst="rect">
            <a:avLst/>
          </a:prstGeom>
          <a:noFill/>
        </p:spPr>
        <p:txBody>
          <a:bodyPr wrap="square" lIns="109728" rIns="109728" tIns="27432" bIns="27432" anchor="ctr">
            <a:spAutoFit/>
          </a:bodyPr>
          <a:lstStyle/>
          <a:p>
            <a:r>
              <a:rPr sz="750" b="0" i="1">
                <a:solidFill>
                  <a:srgbClr val="6B7785"/>
                </a:solidFill>
                <a:latin typeface="Calibri"/>
              </a:rPr>
              <a:t>One learner line and the reply they hear.  → v4: levels.example</a:t>
            </a:r>
          </a:p>
        </p:txBody>
      </p:sp>
      <p:sp>
        <p:nvSpPr>
          <p:cNvPr id="11"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2"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3" name="title"/>
          <p:cNvSpPr/>
          <p:nvPr>
            <p:ph type="title"/>
          </p:nvPr>
        </p:nvSpPr>
        <p:spPr>
          <a:xfrm>
            <a:off x="457200" y="274320"/>
            <a:ext cx="5287975"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STEP N · EXAMPLES (optional)</a:t>
            </a:r>
          </a:p>
        </p:txBody>
      </p:sp>
      <p:sp>
        <p:nvSpPr>
          <p:cNvPr id="14" name="example.tier.unthoughtful"/>
          <p:cNvSpPr/>
          <p:nvPr>
            <p:ph type="body" idx="10"/>
          </p:nvPr>
        </p:nvSpPr>
        <p:spPr>
          <a:xfrm>
            <a:off x="457200" y="1097280"/>
            <a:ext cx="3612794" cy="507492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B54B3A"/>
                </a:solidFill>
                <a:latin typeface="Calibri"/>
              </a:rPr>
              <a:t>UNTHOUGHTFUL</a:t>
            </a:r>
          </a:p>
          <a:p>
            <a:r>
              <a:rPr sz="1100" b="0" i="1">
                <a:solidFill>
                  <a:srgbClr val="6B7785"/>
                </a:solidFill>
                <a:latin typeface="Calibri"/>
              </a:rPr>
              <a:t>Type here — keep the label line above.</a:t>
            </a:r>
          </a:p>
        </p:txBody>
      </p:sp>
      <p:sp>
        <p:nvSpPr>
          <p:cNvPr id="15" name="example.tier.neutral"/>
          <p:cNvSpPr/>
          <p:nvPr>
            <p:ph type="body" idx="11"/>
          </p:nvPr>
        </p:nvSpPr>
        <p:spPr>
          <a:xfrm>
            <a:off x="4289450" y="1097280"/>
            <a:ext cx="3612794" cy="507492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8A6D1F"/>
                </a:solidFill>
                <a:latin typeface="Calibri"/>
              </a:rPr>
              <a:t>NEUTRAL</a:t>
            </a:r>
          </a:p>
          <a:p>
            <a:r>
              <a:rPr sz="1100" b="0" i="1">
                <a:solidFill>
                  <a:srgbClr val="6B7785"/>
                </a:solidFill>
                <a:latin typeface="Calibri"/>
              </a:rPr>
              <a:t>Type here — keep the label line above.</a:t>
            </a:r>
          </a:p>
        </p:txBody>
      </p:sp>
      <p:sp>
        <p:nvSpPr>
          <p:cNvPr id="16" name="example.tier.strong"/>
          <p:cNvSpPr/>
          <p:nvPr>
            <p:ph type="body" idx="12"/>
          </p:nvPr>
        </p:nvSpPr>
        <p:spPr>
          <a:xfrm>
            <a:off x="8121700" y="1097280"/>
            <a:ext cx="3612794" cy="507492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2E7D4F"/>
                </a:solidFill>
                <a:latin typeface="Calibri"/>
              </a:rPr>
              <a:t>STRONG</a:t>
            </a:r>
          </a:p>
          <a:p>
            <a:r>
              <a:rPr sz="1100" b="0" i="1">
                <a:solidFill>
                  <a:srgbClr val="6B7785"/>
                </a:solidFill>
                <a:latin typeface="Calibri"/>
              </a:rPr>
              <a:t>Type here — keep the label line above.</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lose">
    <p:spTree>
      <p:nvGrpSpPr>
        <p:cNvPr id="2" name=""/>
        <p:cNvGrpSpPr/>
        <p:nvPr/>
      </p:nvGrpSpPr>
      <p:grpSpPr>
        <a:xfrm>
          <a:off x="0" y="0"/>
          <a:ext cx="0" cy="0"/>
          <a:chOff x="0" y="0"/>
          <a:chExt cx="0" cy="0"/>
        </a:xfrm>
      </p:grpSpPr>
      <p:sp>
        <p:nvSpPr>
          <p:cNvPr id="3" name="panel"/>
          <p:cNvSpPr/>
          <p:nvPr/>
        </p:nvSpPr>
        <p:spPr>
          <a:xfrm>
            <a:off x="457200" y="1097280"/>
            <a:ext cx="5532120"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6199632" y="1097280"/>
            <a:ext cx="5532120" cy="3063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nel"/>
          <p:cNvSpPr/>
          <p:nvPr/>
        </p:nvSpPr>
        <p:spPr>
          <a:xfrm>
            <a:off x="6199632" y="4389120"/>
            <a:ext cx="2651760" cy="2057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anel"/>
          <p:cNvSpPr/>
          <p:nvPr/>
        </p:nvSpPr>
        <p:spPr>
          <a:xfrm>
            <a:off x="9079992" y="4389120"/>
            <a:ext cx="2651760" cy="205740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nel"/>
          <p:cNvSpPr/>
          <p:nvPr/>
        </p:nvSpPr>
        <p:spPr>
          <a:xfrm>
            <a:off x="7249363" y="384048"/>
            <a:ext cx="4485132"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hip"/>
          <p:cNvSpPr txBox="1"/>
          <p:nvPr/>
        </p:nvSpPr>
        <p:spPr>
          <a:xfrm>
            <a:off x="7249363" y="384048"/>
            <a:ext cx="4485132" cy="329184"/>
          </a:xfrm>
          <a:prstGeom prst="rect">
            <a:avLst/>
          </a:prstGeom>
          <a:noFill/>
        </p:spPr>
        <p:txBody>
          <a:bodyPr wrap="square" lIns="109728" rIns="109728" tIns="27432" bIns="27432" anchor="ctr">
            <a:spAutoFit/>
          </a:bodyPr>
          <a:lstStyle/>
          <a:p>
            <a:r>
              <a:rPr sz="900" b="0" i="0">
                <a:solidFill>
                  <a:srgbClr val="43505E"/>
                </a:solidFill>
                <a:latin typeface="Calibri"/>
              </a:rPr>
              <a:t>Wizard · The expert answer  →  Editor · Expert answer</a:t>
            </a:r>
          </a:p>
        </p:txBody>
      </p:sp>
      <p:sp>
        <p:nvSpPr>
          <p:cNvPr id="9" name="help"/>
          <p:cNvSpPr txBox="1"/>
          <p:nvPr/>
        </p:nvSpPr>
        <p:spPr>
          <a:xfrm>
            <a:off x="457200" y="6172200"/>
            <a:ext cx="5532120" cy="274320"/>
          </a:xfrm>
          <a:prstGeom prst="rect">
            <a:avLst/>
          </a:prstGeom>
          <a:noFill/>
        </p:spPr>
        <p:txBody>
          <a:bodyPr wrap="square" lIns="109728" rIns="109728" tIns="27432" bIns="27432" anchor="ctr">
            <a:spAutoFit/>
          </a:bodyPr>
          <a:lstStyle/>
          <a:p>
            <a:r>
              <a:rPr sz="750" b="0" i="1">
                <a:solidFill>
                  <a:srgbClr val="6B7785"/>
                </a:solidFill>
                <a:latin typeface="Calibri"/>
              </a:rPr>
              <a:t>SME-validated statements; ships verbatim to every learner — the audit record.  → v4: component_groups</a:t>
            </a:r>
          </a:p>
        </p:txBody>
      </p:sp>
      <p:sp>
        <p:nvSpPr>
          <p:cNvPr id="10" name="help"/>
          <p:cNvSpPr txBox="1"/>
          <p:nvPr/>
        </p:nvSpPr>
        <p:spPr>
          <a:xfrm>
            <a:off x="6199632" y="3886200"/>
            <a:ext cx="5532120" cy="274320"/>
          </a:xfrm>
          <a:prstGeom prst="rect">
            <a:avLst/>
          </a:prstGeom>
          <a:noFill/>
        </p:spPr>
        <p:txBody>
          <a:bodyPr wrap="square" lIns="109728" rIns="109728" tIns="27432" bIns="27432" anchor="ctr">
            <a:spAutoFit/>
          </a:bodyPr>
          <a:lstStyle/>
          <a:p>
            <a:r>
              <a:rPr sz="750" b="1" i="0">
                <a:solidFill>
                  <a:srgbClr val="6B7785"/>
                </a:solidFill>
                <a:latin typeface="Calibri"/>
              </a:rPr>
              <a:t>VERBATIM  </a:t>
            </a:r>
            <a:r>
              <a:rPr sz="750" b="0" i="1">
                <a:solidFill>
                  <a:srgbClr val="6B7785"/>
                </a:solidFill>
                <a:latin typeface="Calibri"/>
              </a:rPr>
              <a:t>Two to four sentences tying the components together — the last thing the learner reads.  → v4: summary</a:t>
            </a:r>
          </a:p>
        </p:txBody>
      </p:sp>
      <p:sp>
        <p:nvSpPr>
          <p:cNvPr id="11" name="help"/>
          <p:cNvSpPr txBox="1"/>
          <p:nvPr/>
        </p:nvSpPr>
        <p:spPr>
          <a:xfrm>
            <a:off x="6199632" y="6172200"/>
            <a:ext cx="2651760" cy="274320"/>
          </a:xfrm>
          <a:prstGeom prst="rect">
            <a:avLst/>
          </a:prstGeom>
          <a:noFill/>
        </p:spPr>
        <p:txBody>
          <a:bodyPr wrap="square" lIns="109728" rIns="109728" tIns="27432" bIns="27432" anchor="ctr">
            <a:spAutoFit/>
          </a:bodyPr>
          <a:lstStyle/>
          <a:p>
            <a:r>
              <a:rPr sz="750" b="0" i="1">
                <a:solidFill>
                  <a:srgbClr val="6B7785"/>
                </a:solidFill>
                <a:latin typeface="Calibri"/>
              </a:rPr>
              <a:t>Regulations, standards only. Ships to the learner.</a:t>
            </a:r>
          </a:p>
        </p:txBody>
      </p:sp>
      <p:sp>
        <p:nvSpPr>
          <p:cNvPr id="12" name="help"/>
          <p:cNvSpPr txBox="1"/>
          <p:nvPr/>
        </p:nvSpPr>
        <p:spPr>
          <a:xfrm>
            <a:off x="9079992" y="6172200"/>
            <a:ext cx="2651760" cy="274320"/>
          </a:xfrm>
          <a:prstGeom prst="rect">
            <a:avLst/>
          </a:prstGeom>
          <a:noFill/>
        </p:spPr>
        <p:txBody>
          <a:bodyPr wrap="square" lIns="109728" rIns="109728" tIns="27432" bIns="27432" anchor="ctr">
            <a:spAutoFit/>
          </a:bodyPr>
          <a:lstStyle/>
          <a:p>
            <a:r>
              <a:rPr sz="750" b="0" i="1">
                <a:solidFill>
                  <a:srgbClr val="6B7785"/>
                </a:solidFill>
                <a:latin typeface="Calibri"/>
              </a:rPr>
              <a:t>Course slide numbers. Never ships.</a:t>
            </a:r>
          </a:p>
        </p:txBody>
      </p:sp>
      <p:sp>
        <p:nvSpPr>
          <p:cNvPr id="13"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14"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15" name="title"/>
          <p:cNvSpPr/>
          <p:nvPr>
            <p:ph type="title"/>
          </p:nvPr>
        </p:nvSpPr>
        <p:spPr>
          <a:xfrm>
            <a:off x="457200" y="274320"/>
            <a:ext cx="6609283"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THE CLOSE</a:t>
            </a:r>
          </a:p>
        </p:txBody>
      </p:sp>
      <p:sp>
        <p:nvSpPr>
          <p:cNvPr id="16" name="close.components"/>
          <p:cNvSpPr/>
          <p:nvPr>
            <p:ph type="body" idx="10"/>
          </p:nvPr>
        </p:nvSpPr>
        <p:spPr>
          <a:xfrm>
            <a:off x="457200" y="1097280"/>
            <a:ext cx="5532120" cy="5074920"/>
          </a:xfrm>
          <a:prstGeom prst="rect">
            <a:avLst/>
          </a:prstGeom>
          <a:noFill/>
        </p:spPr>
        <p:txBody>
          <a:bodyPr wrap="square" lIns="109728" rIns="109728" tIns="64008" anchor="t">
            <a:normAutofit/>
          </a:bodyPr>
          <a:lstStyle>
            <a:lvl1pPr marL="0" indent="0">
              <a:spcBef>
                <a:spcPts val="200"/>
              </a:spcBef>
              <a:buNone/>
              <a:defRPr sz="1050" b="0">
                <a:solidFill>
                  <a:srgbClr val="1F2A37"/>
                </a:solidFill>
                <a:latin typeface="Calibri"/>
              </a:defRPr>
            </a:lvl1pPr>
            <a:lvl2pPr marL="228600" indent="-228600">
              <a:buChar char="•"/>
              <a:defRPr sz="1050">
                <a:latin typeface="Calibri"/>
              </a:defRPr>
            </a:lvl2pPr>
          </a:lstStyle>
          <a:p>
            <a:r>
              <a:rPr sz="900" b="1" i="0" spc="60">
                <a:solidFill>
                  <a:srgbClr val="0271CE"/>
                </a:solidFill>
                <a:latin typeface="Calibri"/>
              </a:rPr>
              <a:t>IDEAL RESPONSE COMPONENTS — A HEADING, THEN ITS POINTS</a:t>
            </a:r>
          </a:p>
          <a:p>
            <a:r>
              <a:rPr sz="1050" b="0" i="1">
                <a:solidFill>
                  <a:srgbClr val="6B7785"/>
                </a:solidFill>
                <a:latin typeface="Calibri"/>
              </a:rPr>
              <a:t>Type here — keep the label line above.</a:t>
            </a:r>
          </a:p>
        </p:txBody>
      </p:sp>
      <p:sp>
        <p:nvSpPr>
          <p:cNvPr id="17" name="close.summary"/>
          <p:cNvSpPr/>
          <p:nvPr>
            <p:ph type="body" idx="11"/>
          </p:nvPr>
        </p:nvSpPr>
        <p:spPr>
          <a:xfrm>
            <a:off x="6199632" y="1097280"/>
            <a:ext cx="5532120" cy="2788920"/>
          </a:xfrm>
          <a:prstGeom prst="rect">
            <a:avLst/>
          </a:prstGeom>
          <a:noFill/>
        </p:spPr>
        <p:txBody>
          <a:bodyPr wrap="square" lIns="109728" rIns="109728" tIns="64008" anchor="t">
            <a:normAutofit/>
          </a:bodyPr>
          <a:lstStyle>
            <a:lvl1pPr marL="0" indent="0">
              <a:spcBef>
                <a:spcPts val="200"/>
              </a:spcBef>
              <a:buNone/>
              <a:defRPr sz="1100" b="0">
                <a:solidFill>
                  <a:srgbClr val="1F2A37"/>
                </a:solidFill>
                <a:latin typeface="Calibri"/>
              </a:defRPr>
            </a:lvl1pPr>
            <a:lvl2pPr marL="228600" indent="-228600">
              <a:buChar char="•"/>
              <a:defRPr sz="1100">
                <a:latin typeface="Calibri"/>
              </a:defRPr>
            </a:lvl2pPr>
          </a:lstStyle>
          <a:p>
            <a:r>
              <a:rPr sz="900" b="1" i="0" spc="60">
                <a:solidFill>
                  <a:srgbClr val="0271CE"/>
                </a:solidFill>
                <a:latin typeface="Calibri"/>
              </a:rPr>
              <a:t>SUMMARY — VERBATIM</a:t>
            </a:r>
          </a:p>
          <a:p>
            <a:r>
              <a:rPr sz="1100" b="0" i="1">
                <a:solidFill>
                  <a:srgbClr val="6B7785"/>
                </a:solidFill>
                <a:latin typeface="Calibri"/>
              </a:rPr>
              <a:t>Type here — keep the label line above.</a:t>
            </a:r>
          </a:p>
        </p:txBody>
      </p:sp>
      <p:sp>
        <p:nvSpPr>
          <p:cNvPr id="18" name="close.authorities"/>
          <p:cNvSpPr/>
          <p:nvPr>
            <p:ph type="body" idx="12"/>
          </p:nvPr>
        </p:nvSpPr>
        <p:spPr>
          <a:xfrm>
            <a:off x="6199632" y="4389120"/>
            <a:ext cx="2651760" cy="1783080"/>
          </a:xfrm>
          <a:prstGeom prst="rect">
            <a:avLst/>
          </a:prstGeom>
          <a:noFill/>
        </p:spPr>
        <p:txBody>
          <a:bodyPr wrap="square" lIns="109728" rIns="109728" tIns="64008" anchor="t">
            <a:normAutofit/>
          </a:bodyPr>
          <a:lstStyle>
            <a:lvl1pPr marL="0" indent="0">
              <a:spcBef>
                <a:spcPts val="200"/>
              </a:spcBef>
              <a:buNone/>
              <a:defRPr sz="1000" b="0">
                <a:solidFill>
                  <a:srgbClr val="1F2A37"/>
                </a:solidFill>
                <a:latin typeface="Calibri"/>
              </a:defRPr>
            </a:lvl1pPr>
            <a:lvl2pPr marL="228600" indent="-228600">
              <a:buChar char="•"/>
              <a:defRPr sz="1000">
                <a:latin typeface="Calibri"/>
              </a:defRPr>
            </a:lvl2pPr>
          </a:lstStyle>
          <a:p>
            <a:r>
              <a:rPr sz="900" b="1" i="0" spc="60">
                <a:solidFill>
                  <a:srgbClr val="0271CE"/>
                </a:solidFill>
                <a:latin typeface="Calibri"/>
              </a:rPr>
              <a:t>EXTERNAL AUTHORITIES</a:t>
            </a:r>
          </a:p>
          <a:p>
            <a:r>
              <a:rPr sz="1000" b="0" i="1">
                <a:solidFill>
                  <a:srgbClr val="6B7785"/>
                </a:solidFill>
                <a:latin typeface="Calibri"/>
              </a:rPr>
              <a:t>Type here — keep the label line above.</a:t>
            </a:r>
          </a:p>
        </p:txBody>
      </p:sp>
      <p:sp>
        <p:nvSpPr>
          <p:cNvPr id="19" name="close.internal"/>
          <p:cNvSpPr/>
          <p:nvPr>
            <p:ph type="body" idx="13"/>
          </p:nvPr>
        </p:nvSpPr>
        <p:spPr>
          <a:xfrm>
            <a:off x="9079992" y="4389120"/>
            <a:ext cx="2651760" cy="1783080"/>
          </a:xfrm>
          <a:prstGeom prst="rect">
            <a:avLst/>
          </a:prstGeom>
          <a:noFill/>
        </p:spPr>
        <p:txBody>
          <a:bodyPr wrap="square" lIns="109728" rIns="109728" tIns="64008" anchor="t">
            <a:normAutofit/>
          </a:bodyPr>
          <a:lstStyle>
            <a:lvl1pPr marL="0" indent="0">
              <a:spcBef>
                <a:spcPts val="200"/>
              </a:spcBef>
              <a:buNone/>
              <a:defRPr sz="1000" b="0">
                <a:solidFill>
                  <a:srgbClr val="1F2A37"/>
                </a:solidFill>
                <a:latin typeface="Calibri"/>
              </a:defRPr>
            </a:lvl1pPr>
            <a:lvl2pPr marL="228600" indent="-228600">
              <a:buChar char="•"/>
              <a:defRPr sz="1000">
                <a:latin typeface="Calibri"/>
              </a:defRPr>
            </a:lvl2pPr>
          </a:lstStyle>
          <a:p>
            <a:r>
              <a:rPr sz="900" b="1" i="0" spc="60">
                <a:solidFill>
                  <a:srgbClr val="0271CE"/>
                </a:solidFill>
                <a:latin typeface="Calibri"/>
              </a:rPr>
              <a:t>INTERNAL SOURCE SLIDES</a:t>
            </a:r>
          </a:p>
          <a:p>
            <a:r>
              <a:rPr sz="1000" b="0" i="1">
                <a:solidFill>
                  <a:srgbClr val="6B7785"/>
                </a:solidFill>
                <a:latin typeface="Calibri"/>
              </a:rPr>
              <a:t>Type here — keep the label line above.</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ource">
    <p:spTree>
      <p:nvGrpSpPr>
        <p:cNvPr id="2" name=""/>
        <p:cNvGrpSpPr/>
        <p:nvPr/>
      </p:nvGrpSpPr>
      <p:grpSpPr>
        <a:xfrm>
          <a:off x="0" y="0"/>
          <a:ext cx="0" cy="0"/>
          <a:chOff x="0" y="0"/>
          <a:chExt cx="0" cy="0"/>
        </a:xfrm>
      </p:grpSpPr>
      <p:sp>
        <p:nvSpPr>
          <p:cNvPr id="3" name="panel"/>
          <p:cNvSpPr/>
          <p:nvPr/>
        </p:nvSpPr>
        <p:spPr>
          <a:xfrm>
            <a:off x="457200" y="1097280"/>
            <a:ext cx="11274552" cy="5349240"/>
          </a:xfrm>
          <a:prstGeom prst="roundRect">
            <a:avLst>
              <a:gd name="adj" fmla="val 45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anel"/>
          <p:cNvSpPr/>
          <p:nvPr/>
        </p:nvSpPr>
        <p:spPr>
          <a:xfrm>
            <a:off x="6627571" y="384048"/>
            <a:ext cx="5106924" cy="329184"/>
          </a:xfrm>
          <a:prstGeom prst="roundRect">
            <a:avLst>
              <a:gd name="adj" fmla="val 4500"/>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hip"/>
          <p:cNvSpPr txBox="1"/>
          <p:nvPr/>
        </p:nvSpPr>
        <p:spPr>
          <a:xfrm>
            <a:off x="6627571" y="384048"/>
            <a:ext cx="5106924" cy="329184"/>
          </a:xfrm>
          <a:prstGeom prst="rect">
            <a:avLst/>
          </a:prstGeom>
          <a:noFill/>
        </p:spPr>
        <p:txBody>
          <a:bodyPr wrap="square" lIns="109728" rIns="109728" tIns="27432" bIns="27432" anchor="ctr">
            <a:spAutoFit/>
          </a:bodyPr>
          <a:lstStyle/>
          <a:p>
            <a:r>
              <a:rPr sz="900" b="0" i="0">
                <a:solidFill>
                  <a:srgbClr val="43505E"/>
                </a:solidFill>
                <a:latin typeface="Calibri"/>
              </a:rPr>
              <a:t>Optional · paste anything — the wizard mines it for specifics</a:t>
            </a:r>
          </a:p>
        </p:txBody>
      </p:sp>
      <p:sp>
        <p:nvSpPr>
          <p:cNvPr id="6" name="help"/>
          <p:cNvSpPr txBox="1"/>
          <p:nvPr/>
        </p:nvSpPr>
        <p:spPr>
          <a:xfrm>
            <a:off x="457200" y="6172200"/>
            <a:ext cx="11274552" cy="274320"/>
          </a:xfrm>
          <a:prstGeom prst="rect">
            <a:avLst/>
          </a:prstGeom>
          <a:noFill/>
        </p:spPr>
        <p:txBody>
          <a:bodyPr wrap="square" lIns="109728" rIns="109728" tIns="27432" bIns="27432" anchor="ctr">
            <a:spAutoFit/>
          </a:bodyPr>
          <a:lstStyle/>
          <a:p>
            <a:r>
              <a:rPr sz="750" b="0" i="1">
                <a:solidFill>
                  <a:srgbClr val="6B7785"/>
                </a:solidFill>
                <a:latin typeface="Calibri"/>
              </a:rPr>
              <a:t>The static scenario this replaces, the slide outline, a policy excerpt, SME notes. Add more slides if it runs long.  → wizard: Source material</a:t>
            </a:r>
          </a:p>
        </p:txBody>
      </p:sp>
      <p:sp>
        <p:nvSpPr>
          <p:cNvPr id="7" name="footer"/>
          <p:cNvSpPr txBox="1"/>
          <p:nvPr/>
        </p:nvSpPr>
        <p:spPr>
          <a:xfrm>
            <a:off x="457200" y="6510528"/>
            <a:ext cx="5943600" cy="274320"/>
          </a:xfrm>
          <a:prstGeom prst="rect">
            <a:avLst/>
          </a:prstGeom>
          <a:noFill/>
        </p:spPr>
        <p:txBody>
          <a:bodyPr wrap="square" lIns="109728" rIns="109728" tIns="27432" bIns="27432" anchor="t">
            <a:spAutoFit/>
          </a:bodyPr>
          <a:lstStyle/>
          <a:p>
            <a:r>
              <a:rPr sz="800" b="1" i="0">
                <a:solidFill>
                  <a:srgbClr val="6B7785"/>
                </a:solidFill>
                <a:latin typeface="Calibri"/>
              </a:rPr>
              <a:t>Scenario Brief · template v1</a:t>
            </a:r>
            <a:r>
              <a:rPr sz="800" b="0" i="0">
                <a:solidFill>
                  <a:srgbClr val="6B7785"/>
                </a:solidFill>
                <a:latin typeface="Calibri"/>
              </a:rPr>
              <a:t>  ·  Aithera Scenario Simulator</a:t>
            </a:r>
          </a:p>
        </p:txBody>
      </p:sp>
      <p:sp>
        <p:nvSpPr>
          <p:cNvPr id="8" name="footer"/>
          <p:cNvSpPr txBox="1"/>
          <p:nvPr/>
        </p:nvSpPr>
        <p:spPr>
          <a:xfrm>
            <a:off x="6309360" y="6510528"/>
            <a:ext cx="5422392" cy="274320"/>
          </a:xfrm>
          <a:prstGeom prst="rect">
            <a:avLst/>
          </a:prstGeom>
          <a:noFill/>
        </p:spPr>
        <p:txBody>
          <a:bodyPr wrap="square" lIns="109728" rIns="109728" tIns="27432" bIns="27432" anchor="t">
            <a:spAutoFit/>
          </a:bodyPr>
          <a:lstStyle/>
          <a:p>
            <a:r>
              <a:rPr sz="800" b="0" i="1">
                <a:solidFill>
                  <a:srgbClr val="6B7785"/>
                </a:solidFill>
                <a:latin typeface="Calibri"/>
              </a:rPr>
              <a:t>Fields are placeholders — type into them. Text boxes and tables are not exported.</a:t>
            </a:r>
          </a:p>
        </p:txBody>
      </p:sp>
      <p:sp>
        <p:nvSpPr>
          <p:cNvPr id="9" name="title"/>
          <p:cNvSpPr/>
          <p:nvPr>
            <p:ph type="title"/>
          </p:nvPr>
        </p:nvSpPr>
        <p:spPr>
          <a:xfrm>
            <a:off x="457200" y="274320"/>
            <a:ext cx="5987491" cy="640080"/>
          </a:xfrm>
          <a:prstGeom prst="rect">
            <a:avLst/>
          </a:prstGeom>
          <a:noFill/>
        </p:spPr>
        <p:txBody>
          <a:bodyPr wrap="square" lIns="109728" rIns="109728" tIns="64008" anchor="t">
            <a:normAutofit/>
          </a:bodyPr>
          <a:lstStyle>
            <a:lvl1pPr marL="0" indent="0">
              <a:spcBef>
                <a:spcPts val="200"/>
              </a:spcBef>
              <a:buNone/>
              <a:defRPr sz="2400" b="1">
                <a:solidFill>
                  <a:srgbClr val="1F2A37"/>
                </a:solidFill>
                <a:latin typeface="Calibri"/>
              </a:defRPr>
            </a:lvl1pPr>
          </a:lstStyle>
          <a:p>
            <a:r>
              <a:rPr sz="2400" b="1" i="0">
                <a:solidFill>
                  <a:srgbClr val="1F2A37"/>
                </a:solidFill>
                <a:latin typeface="Calibri"/>
              </a:rPr>
              <a:t>SOURCE MATERIAL</a:t>
            </a:r>
          </a:p>
        </p:txBody>
      </p:sp>
      <p:sp>
        <p:nvSpPr>
          <p:cNvPr id="10" name="source.text"/>
          <p:cNvSpPr/>
          <p:nvPr>
            <p:ph type="body" idx="10"/>
          </p:nvPr>
        </p:nvSpPr>
        <p:spPr>
          <a:xfrm>
            <a:off x="457200" y="1097280"/>
            <a:ext cx="11274552" cy="5074920"/>
          </a:xfrm>
          <a:prstGeom prst="rect">
            <a:avLst/>
          </a:prstGeom>
          <a:noFill/>
        </p:spPr>
        <p:txBody>
          <a:bodyPr wrap="square" lIns="109728" rIns="109728" tIns="64008" anchor="t">
            <a:normAutofit/>
          </a:bodyPr>
          <a:lstStyle>
            <a:lvl1pPr marL="0" indent="0">
              <a:spcBef>
                <a:spcPts val="200"/>
              </a:spcBef>
              <a:buNone/>
              <a:defRPr sz="1050" b="0">
                <a:solidFill>
                  <a:srgbClr val="1F2A37"/>
                </a:solidFill>
                <a:latin typeface="Calibri"/>
              </a:defRPr>
            </a:lvl1pPr>
            <a:lvl2pPr marL="228600" indent="-228600">
              <a:buChar char="•"/>
              <a:defRPr sz="1050">
                <a:latin typeface="Calibri"/>
              </a:defRPr>
            </a:lvl2pPr>
          </a:lstStyle>
          <a:p>
            <a:r>
              <a:rPr sz="900" b="1" i="0" spc="60">
                <a:solidFill>
                  <a:srgbClr val="0271CE"/>
                </a:solidFill>
                <a:latin typeface="Calibri"/>
              </a:rPr>
              <a:t>SOURCE TEXT</a:t>
            </a:r>
          </a:p>
          <a:p>
            <a:r>
              <a:rPr sz="1050" b="0" i="1">
                <a:solidFill>
                  <a:srgbClr val="6B7785"/>
                </a:solidFill>
                <a:latin typeface="Calibri"/>
              </a:rPr>
              <a:t>Type here — keep the label line above.</a:t>
            </a:r>
          </a:p>
        </p:txBody>
      </p:sp>
    </p:spTree>
    <p:extLst>
      <p:ext uri="{BB962C8B-B14F-4D97-AF65-F5344CB8AC3E}">
        <p14:creationId xmlns:p14="http://schemas.microsoft.com/office/powerpoint/2010/main" val="38892369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SCENARIO BRIEF</a:t>
            </a:r>
          </a:p>
        </p:txBody>
      </p:sp>
      <p:sp>
        <p:nvSpPr>
          <p:cNvPr id="3" name="cover.title"/>
          <p:cNvSpPr>
            <a:spLocks noGrp="1"/>
          </p:cNvSpPr>
          <p:nvPr>
            <p:ph type="body" idx="10"/>
          </p:nvPr>
        </p:nvSpPr>
        <p:spPr/>
        <p:txBody>
          <a:bodyPr/>
          <a:lstStyle/>
          <a:p>
            <a:r>
              <a:rPr sz="900" b="1" i="0" spc="60">
                <a:solidFill>
                  <a:srgbClr val="0271CE"/>
                </a:solidFill>
                <a:latin typeface="Calibri"/>
              </a:rPr>
              <a:t>SCENARIO TITLE</a:t>
            </a:r>
            <a:endParaRPr sz="1950" b="0" i="0">
              <a:solidFill>
                <a:srgbClr val="1F2A37"/>
              </a:solidFill>
              <a:latin typeface="Calibri"/>
            </a:endParaRPr>
          </a:p>
          <a:p>
            <a:r>
              <a:rPr sz="1950" b="0" i="0">
                <a:solidFill>
                  <a:srgbClr val="1F2A37"/>
                </a:solidFill>
                <a:latin typeface="Calibri"/>
              </a:rPr>
              <a:t>The Marshall Scenario</a:t>
            </a:r>
            <a:endParaRPr sz="1950" b="0" i="0">
              <a:solidFill>
                <a:srgbClr val="1F2A37"/>
              </a:solidFill>
              <a:latin typeface="Calibri"/>
            </a:endParaRPr>
          </a:p>
          <a:p>
            <a:r>
              <a:rPr sz="1950" b="0" i="0">
                <a:solidFill>
                  <a:srgbClr val="1F2A37"/>
                </a:solidFill>
                <a:latin typeface="Calibri"/>
              </a:rPr>
              <a:t>Sex-Based Harassment, Empathy &amp; Bystander Intervention</a:t>
            </a:r>
            <a:endParaRPr sz="1950" b="0" i="0">
              <a:solidFill>
                <a:srgbClr val="1F2A37"/>
              </a:solidFill>
              <a:latin typeface="Calibri"/>
            </a:endParaRPr>
          </a:p>
        </p:txBody>
      </p:sp>
      <p:sp>
        <p:nvSpPr>
          <p:cNvPr id="4" name="cover.training"/>
          <p:cNvSpPr>
            <a:spLocks noGrp="1"/>
          </p:cNvSpPr>
          <p:nvPr>
            <p:ph type="body" idx="11"/>
          </p:nvPr>
        </p:nvSpPr>
        <p:spPr/>
        <p:txBody>
          <a:bodyPr/>
          <a:lstStyle/>
          <a:p>
            <a:r>
              <a:rPr sz="900" b="1" i="0" spc="60">
                <a:solidFill>
                  <a:srgbClr val="0271CE"/>
                </a:solidFill>
                <a:latin typeface="Calibri"/>
              </a:rPr>
              <a:t>TRAINING IT LIVES INSIDE</a:t>
            </a:r>
            <a:endParaRPr sz="1400" b="0" i="0">
              <a:solidFill>
                <a:srgbClr val="1F2A37"/>
              </a:solidFill>
              <a:latin typeface="Calibri"/>
            </a:endParaRPr>
          </a:p>
          <a:p>
            <a:r>
              <a:rPr sz="1400" b="0" i="0">
                <a:solidFill>
                  <a:srgbClr val="1F2A37"/>
                </a:solidFill>
                <a:latin typeface="Calibri"/>
              </a:rPr>
              <a:t>Harassment Prevention for Employees (JCOM-40198)</a:t>
            </a:r>
            <a:endParaRPr sz="1400" b="0" i="0">
              <a:solidFill>
                <a:srgbClr val="1F2A37"/>
              </a:solidFill>
              <a:latin typeface="Calibri"/>
            </a:endParaRPr>
          </a:p>
        </p:txBody>
      </p:sp>
      <p:sp>
        <p:nvSpPr>
          <p:cNvPr id="5" name="cover.owner"/>
          <p:cNvSpPr>
            <a:spLocks noGrp="1"/>
          </p:cNvSpPr>
          <p:nvPr>
            <p:ph type="body" idx="12"/>
          </p:nvPr>
        </p:nvSpPr>
        <p:spPr/>
        <p:txBody>
          <a:bodyPr/>
          <a:lstStyle/>
          <a:p>
            <a:r>
              <a:rPr sz="900" b="1" i="0" spc="60">
                <a:solidFill>
                  <a:srgbClr val="0271CE"/>
                </a:solidFill>
                <a:latin typeface="Calibri"/>
              </a:rPr>
              <a:t>OWNER</a:t>
            </a:r>
            <a:endParaRPr sz="1400" b="0" i="0">
              <a:solidFill>
                <a:srgbClr val="1F2A37"/>
              </a:solidFill>
              <a:latin typeface="Calibri"/>
            </a:endParaRPr>
          </a:p>
          <a:p>
            <a:r>
              <a:rPr sz="1400" b="0" i="0">
                <a:solidFill>
                  <a:srgbClr val="1F2A37"/>
                </a:solidFill>
                <a:latin typeface="Calibri"/>
              </a:rPr>
              <a:t>K&amp;A team · Scenario Simulator POC</a:t>
            </a:r>
            <a:endParaRPr sz="1400" b="0" i="0">
              <a:solidFill>
                <a:srgbClr val="1F2A37"/>
              </a:solidFill>
              <a:latin typeface="Calibri"/>
            </a:endParaRPr>
          </a:p>
        </p:txBody>
      </p:sp>
      <p:sp>
        <p:nvSpPr>
          <p:cNvPr id="6" name="cover.version"/>
          <p:cNvSpPr>
            <a:spLocks noGrp="1"/>
          </p:cNvSpPr>
          <p:nvPr>
            <p:ph type="body" idx="13"/>
          </p:nvPr>
        </p:nvSpPr>
        <p:spPr/>
        <p:txBody>
          <a:bodyPr/>
          <a:lstStyle/>
          <a:p>
            <a:r>
              <a:rPr sz="900" b="1" i="0" spc="60">
                <a:solidFill>
                  <a:srgbClr val="0271CE"/>
                </a:solidFill>
                <a:latin typeface="Calibri"/>
              </a:rPr>
              <a:t>VERSION · DATE</a:t>
            </a:r>
            <a:endParaRPr sz="1050" b="0" i="0">
              <a:solidFill>
                <a:srgbClr val="1F2A37"/>
              </a:solidFill>
              <a:latin typeface="Calibri"/>
            </a:endParaRPr>
          </a:p>
          <a:p>
            <a:r>
              <a:rPr sz="1050" b="0" i="0">
                <a:solidFill>
                  <a:srgbClr val="1F2A37"/>
                </a:solidFill>
                <a:latin typeface="Calibri"/>
              </a:rPr>
              <a:t>Brief v1 · re-homed from POC deck v3 (May 2026) · 2026-09-11</a:t>
            </a:r>
            <a:endParaRPr sz="1050" b="0" i="0">
              <a:solidFill>
                <a:srgbClr val="1F2A37"/>
              </a:solidFill>
              <a:latin typeface="Calibri"/>
            </a:endParaRPr>
          </a:p>
        </p:txBody>
      </p:sp>
      <p:sp>
        <p:nvSpPr>
          <p:cNvPr id="7" name="cover.status"/>
          <p:cNvSpPr>
            <a:spLocks noGrp="1"/>
          </p:cNvSpPr>
          <p:nvPr>
            <p:ph type="body" idx="14"/>
          </p:nvPr>
        </p:nvSpPr>
        <p:spPr/>
        <p:txBody>
          <a:bodyPr/>
          <a:lstStyle/>
          <a:p>
            <a:r>
              <a:rPr sz="900" b="1" i="0" spc="60">
                <a:solidFill>
                  <a:srgbClr val="0271CE"/>
                </a:solidFill>
                <a:latin typeface="Calibri"/>
              </a:rPr>
              <a:t>STATUS</a:t>
            </a:r>
            <a:endParaRPr sz="1350" b="0" i="0">
              <a:solidFill>
                <a:srgbClr val="1F2A37"/>
              </a:solidFill>
              <a:latin typeface="Calibri"/>
            </a:endParaRPr>
          </a:p>
          <a:p>
            <a:r>
              <a:rPr sz="1350" b="0" i="0">
                <a:solidFill>
                  <a:srgbClr val="1F2A37"/>
                </a:solidFill>
                <a:latin typeface="Calibri"/>
              </a:rPr>
              <a:t>Worked example — the 32-slide POC deck, restated on the Scenario Brief template</a:t>
            </a:r>
            <a:endParaRPr sz="1350" b="0" i="0">
              <a:solidFill>
                <a:srgbClr val="1F2A37"/>
              </a:solidFill>
              <a:latin typeface="Calibri"/>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THE BRIEF</a:t>
            </a:r>
          </a:p>
        </p:txBody>
      </p:sp>
      <p:sp>
        <p:nvSpPr>
          <p:cNvPr id="3" name="brief.topic"/>
          <p:cNvSpPr>
            <a:spLocks noGrp="1"/>
          </p:cNvSpPr>
          <p:nvPr>
            <p:ph type="body" idx="10"/>
          </p:nvPr>
        </p:nvSpPr>
        <p:spPr/>
        <p:txBody>
          <a:bodyPr/>
          <a:lstStyle/>
          <a:p>
            <a:r>
              <a:rPr sz="900" b="1" i="0" spc="60">
                <a:solidFill>
                  <a:srgbClr val="0271CE"/>
                </a:solidFill>
                <a:latin typeface="Calibri"/>
              </a:rPr>
              <a:t>TOPIC</a:t>
            </a:r>
            <a:endParaRPr sz="1200" b="0" i="0">
              <a:solidFill>
                <a:srgbClr val="1F2A37"/>
              </a:solidFill>
              <a:latin typeface="Calibri"/>
            </a:endParaRPr>
          </a:p>
          <a:p>
            <a:r>
              <a:rPr sz="1200" b="0" i="0">
                <a:solidFill>
                  <a:srgbClr val="1F2A37"/>
                </a:solidFill>
                <a:latin typeface="Calibri"/>
              </a:rPr>
              <a:t>Sex-based harassment, gender stereotyping and bystander intervention</a:t>
            </a:r>
            <a:endParaRPr sz="1200" b="0" i="0">
              <a:solidFill>
                <a:srgbClr val="1F2A37"/>
              </a:solidFill>
              <a:latin typeface="Calibri"/>
            </a:endParaRPr>
          </a:p>
        </p:txBody>
      </p:sp>
      <p:sp>
        <p:nvSpPr>
          <p:cNvPr id="4" name="brief.learner"/>
          <p:cNvSpPr>
            <a:spLocks noGrp="1"/>
          </p:cNvSpPr>
          <p:nvPr>
            <p:ph type="body" idx="11"/>
          </p:nvPr>
        </p:nvSpPr>
        <p:spPr/>
        <p:txBody>
          <a:bodyPr/>
          <a:lstStyle/>
          <a:p>
            <a:r>
              <a:rPr sz="900" b="1" i="0" spc="60">
                <a:solidFill>
                  <a:srgbClr val="0271CE"/>
                </a:solidFill>
                <a:latin typeface="Calibri"/>
              </a:rPr>
              <a:t>THE LEARNER PLAYS</a:t>
            </a:r>
            <a:endParaRPr sz="1200" b="0" i="0">
              <a:solidFill>
                <a:srgbClr val="1F2A37"/>
              </a:solidFill>
              <a:latin typeface="Calibri"/>
            </a:endParaRPr>
          </a:p>
          <a:p>
            <a:r>
              <a:rPr sz="1200" b="0" i="0">
                <a:solidFill>
                  <a:srgbClr val="1F2A37"/>
                </a:solidFill>
                <a:latin typeface="Calibri"/>
              </a:rPr>
              <a:t>A co-worker who has observed the incidents involving Marshall — not his manager</a:t>
            </a:r>
            <a:endParaRPr sz="1200" b="0" i="0">
              <a:solidFill>
                <a:srgbClr val="1F2A37"/>
              </a:solidFill>
              <a:latin typeface="Calibri"/>
            </a:endParaRPr>
          </a:p>
        </p:txBody>
      </p:sp>
      <p:sp>
        <p:nvSpPr>
          <p:cNvPr id="5" name="brief.steps"/>
          <p:cNvSpPr>
            <a:spLocks noGrp="1"/>
          </p:cNvSpPr>
          <p:nvPr>
            <p:ph type="body" idx="12"/>
          </p:nvPr>
        </p:nvSpPr>
        <p:spPr/>
        <p:txBody>
          <a:bodyPr/>
          <a:lstStyle/>
          <a:p>
            <a:r>
              <a:rPr sz="900" b="1" i="0" spc="60">
                <a:solidFill>
                  <a:srgbClr val="0271CE"/>
                </a:solidFill>
                <a:latin typeface="Calibri"/>
              </a:rPr>
              <a:t>STEPS, IN ORDER — ONE PER LINE, EACH STARTING WITH ITS MODE</a:t>
            </a:r>
            <a:endParaRPr sz="1200" b="0" i="0">
              <a:solidFill>
                <a:srgbClr val="1F2A37"/>
              </a:solidFill>
              <a:latin typeface="Calibri"/>
            </a:endParaRPr>
          </a:p>
          <a:p>
            <a:r>
              <a:rPr sz="1200" b="0" i="0">
                <a:solidFill>
                  <a:srgbClr val="1F2A37"/>
                </a:solidFill>
                <a:latin typeface="Calibri"/>
              </a:rPr>
              <a:t>coach: Does this qualify as harassment? Reason it through under Title VII — there is a right answer, and it is yes.</a:t>
            </a:r>
            <a:endParaRPr sz="1200" b="0" i="0">
              <a:solidFill>
                <a:srgbClr val="1F2A37"/>
              </a:solidFill>
              <a:latin typeface="Calibri"/>
            </a:endParaRPr>
          </a:p>
          <a:p>
            <a:r>
              <a:rPr sz="1200" b="0" i="0">
                <a:solidFill>
                  <a:srgbClr val="1F2A37"/>
                </a:solidFill>
                <a:latin typeface="Calibri"/>
              </a:rPr>
              <a:t>coach: What is Marshall experiencing? Set the law aside — the personal, professional and team-wide impact.</a:t>
            </a:r>
            <a:endParaRPr sz="1200" b="0" i="0">
              <a:solidFill>
                <a:srgbClr val="1F2A37"/>
              </a:solidFill>
              <a:latin typeface="Calibri"/>
            </a:endParaRPr>
          </a:p>
          <a:p>
            <a:r>
              <a:rPr sz="1200" b="0" i="0">
                <a:solidFill>
                  <a:srgbClr val="1F2A37"/>
                </a:solidFill>
                <a:latin typeface="Calibri"/>
              </a:rPr>
              <a:t>roleplay: The break room — Jake makes a ‘Marsha’ comment with the room watching, and the learner has to act.</a:t>
            </a:r>
            <a:endParaRPr sz="1200" b="0" i="0">
              <a:solidFill>
                <a:srgbClr val="1F2A37"/>
              </a:solidFill>
              <a:latin typeface="Calibri"/>
            </a:endParaRPr>
          </a:p>
        </p:txBody>
      </p:sp>
      <p:sp>
        <p:nvSpPr>
          <p:cNvPr id="6" name="brief.sources"/>
          <p:cNvSpPr>
            <a:spLocks noGrp="1"/>
          </p:cNvSpPr>
          <p:nvPr>
            <p:ph type="body" idx="13"/>
          </p:nvPr>
        </p:nvSpPr>
        <p:spPr/>
        <p:txBody>
          <a:bodyPr/>
          <a:lstStyle/>
          <a:p>
            <a:r>
              <a:rPr sz="900" b="1" i="0" spc="60">
                <a:solidFill>
                  <a:srgbClr val="0271CE"/>
                </a:solidFill>
                <a:latin typeface="Calibri"/>
              </a:rPr>
              <a:t>SOURCE SLIDES OR DOCUMENTS</a:t>
            </a:r>
            <a:endParaRPr sz="1200" b="0" i="0">
              <a:solidFill>
                <a:srgbClr val="1F2A37"/>
              </a:solidFill>
              <a:latin typeface="Calibri"/>
            </a:endParaRPr>
          </a:p>
          <a:p>
            <a:r>
              <a:rPr sz="1200" b="0" i="0">
                <a:solidFill>
                  <a:srgbClr val="1F2A37"/>
                </a:solidFill>
                <a:latin typeface="Calibri"/>
              </a:rPr>
              <a:t>JCOM-40198 Harassment Prevention for Employees Base Course.pptx</a:t>
            </a:r>
            <a:endParaRPr sz="1200" b="0" i="0">
              <a:solidFill>
                <a:srgbClr val="1F2A37"/>
              </a:solidFill>
              <a:latin typeface="Calibri"/>
            </a:endParaRPr>
          </a:p>
          <a:p>
            <a:r>
              <a:rPr sz="1200" b="0" i="0">
                <a:solidFill>
                  <a:srgbClr val="1F2A37"/>
                </a:solidFill>
                <a:latin typeface="Calibri"/>
              </a:rPr>
              <a:t>Slides 18–24 (the Marshall learning object)</a:t>
            </a:r>
            <a:endParaRPr sz="1200" b="0" i="0">
              <a:solidFill>
                <a:srgbClr val="1F2A37"/>
              </a:solidFill>
              <a:latin typeface="Calibri"/>
            </a:endParaRPr>
          </a:p>
          <a:p>
            <a:r>
              <a:rPr sz="1200" b="0" i="0">
                <a:solidFill>
                  <a:srgbClr val="1F2A37"/>
                </a:solidFill>
                <a:latin typeface="Calibri"/>
              </a:rPr>
              <a:t>Slide 13 (Title VII foundation)</a:t>
            </a:r>
            <a:endParaRPr sz="1200" b="0" i="0">
              <a:solidFill>
                <a:srgbClr val="1F2A37"/>
              </a:solidFill>
              <a:latin typeface="Calibri"/>
            </a:endParaRPr>
          </a:p>
          <a:p>
            <a:r>
              <a:rPr sz="1200" b="0" i="0">
                <a:solidFill>
                  <a:srgbClr val="1F2A37"/>
                </a:solidFill>
                <a:latin typeface="Calibri"/>
              </a:rPr>
              <a:t>Slides 40–41 (Ira knowledge check — bystander guidance)</a:t>
            </a:r>
            <a:endParaRPr sz="1200" b="0" i="0">
              <a:solidFill>
                <a:srgbClr val="1F2A37"/>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THE SITUATION</a:t>
            </a:r>
          </a:p>
        </p:txBody>
      </p:sp>
      <p:sp>
        <p:nvSpPr>
          <p:cNvPr id="3" name="situation.narrative"/>
          <p:cNvSpPr>
            <a:spLocks noGrp="1"/>
          </p:cNvSpPr>
          <p:nvPr>
            <p:ph type="body" idx="10"/>
          </p:nvPr>
        </p:nvSpPr>
        <p:spPr/>
        <p:txBody>
          <a:bodyPr/>
          <a:lstStyle/>
          <a:p>
            <a:r>
              <a:rPr sz="900" b="1" i="0" spc="60">
                <a:solidFill>
                  <a:srgbClr val="0271CE"/>
                </a:solidFill>
                <a:latin typeface="Calibri"/>
              </a:rPr>
              <a:t>WHAT’S TRUE AS THE SCENARIO OPENS — WRITTEN TO THE LEARNER</a:t>
            </a:r>
            <a:endParaRPr sz="1100" b="0" i="0">
              <a:solidFill>
                <a:srgbClr val="1F2A37"/>
              </a:solidFill>
              <a:latin typeface="Calibri"/>
            </a:endParaRPr>
          </a:p>
          <a:p>
            <a:r>
              <a:rPr sz="1100" b="0" i="0">
                <a:solidFill>
                  <a:srgbClr val="1F2A37"/>
                </a:solidFill>
                <a:latin typeface="Calibri"/>
              </a:rPr>
              <a:t>You’ve been working alongside Marshall for about eight months. He’s an administrative assistant — organized, a good communicator, clearly someone who takes his job seriously. But lately, he’s not himself.</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It started with Ethan, the project manager. He’d greet Marshall with ‘Hey Marsha!’ in the hallway. A couple of times he asked if Marshall had a skirt on ‘under that desk.’ Marshall let it go. He thought some joking might come with the job — especially given the way he dresses. So he tried not to make it a thing.</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Then Jake started. A junior engineer, hired not long after Marshall. He’d ask if the coffee was made whenever he passed Marshall’s desk. He’d refer to Marshall’s role as a ‘cozy lady job.’ What started as occasional became almost daily. The kind of remark that gets a few laughs and then everyone moves on — except Marshall doesn’t move on. He carries it.</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What Marshall didn’t know, not at first, was that there was a group chat. Someone eventually showed him: sexist memes, jokes. And two altered images — one with his face on a woman in a frilly princess dress, another with his face on a lingerie model’s body, captioned ‘Marsha’s true calling.’</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He was going to try to let it go. Until those images ended up on public social media — shareable, commentable, out there.</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Marshall has gotten quieter — he keeps his head down, doesn’t linger. You’ve just been made aware of the behaviors, and you’re not sure how to address them.</a:t>
            </a:r>
            <a:endParaRPr sz="1100" b="0" i="0">
              <a:solidFill>
                <a:srgbClr val="1F2A37"/>
              </a:solidFill>
              <a:latin typeface="Calibri"/>
            </a:endParaRPr>
          </a:p>
        </p:txBody>
      </p:sp>
      <p:sp>
        <p:nvSpPr>
          <p:cNvPr id="4" name="situation.setting"/>
          <p:cNvSpPr>
            <a:spLocks noGrp="1"/>
          </p:cNvSpPr>
          <p:nvPr>
            <p:ph type="body" idx="11"/>
          </p:nvPr>
        </p:nvSpPr>
        <p:spPr/>
        <p:txBody>
          <a:bodyPr/>
          <a:lstStyle/>
          <a:p>
            <a:r>
              <a:rPr sz="900" b="1" i="0" spc="60">
                <a:solidFill>
                  <a:srgbClr val="0271CE"/>
                </a:solidFill>
                <a:latin typeface="Calibri"/>
              </a:rPr>
              <a:t>SETTING</a:t>
            </a:r>
            <a:endParaRPr sz="1200" b="0" i="0">
              <a:solidFill>
                <a:srgbClr val="1F2A37"/>
              </a:solidFill>
              <a:latin typeface="Calibri"/>
            </a:endParaRPr>
          </a:p>
          <a:p>
            <a:r>
              <a:rPr sz="1200" b="0" i="0">
                <a:solidFill>
                  <a:srgbClr val="1F2A37"/>
                </a:solidFill>
                <a:latin typeface="Calibri"/>
              </a:rPr>
              <a:t>An office workplace — an open floor of desks, a hallway, and a shared break room.</a:t>
            </a:r>
            <a:endParaRPr sz="1200" b="0" i="0">
              <a:solidFill>
                <a:srgbClr val="1F2A37"/>
              </a:solidFill>
              <a:latin typeface="Calibri"/>
            </a:endParaRPr>
          </a:p>
        </p:txBody>
      </p:sp>
      <p:sp>
        <p:nvSpPr>
          <p:cNvPr id="5" name="situation.cast"/>
          <p:cNvSpPr>
            <a:spLocks noGrp="1"/>
          </p:cNvSpPr>
          <p:nvPr>
            <p:ph type="body" idx="12"/>
          </p:nvPr>
        </p:nvSpPr>
        <p:spPr/>
        <p:txBody>
          <a:bodyPr/>
          <a:lstStyle/>
          <a:p>
            <a:r>
              <a:rPr sz="900" b="1" i="0" spc="60">
                <a:solidFill>
                  <a:srgbClr val="0271CE"/>
                </a:solidFill>
                <a:latin typeface="Calibri"/>
              </a:rPr>
              <a:t>CAST — NAME — ROLE — DRIVER — NEVER DOES</a:t>
            </a:r>
            <a:endParaRPr sz="1100" b="0" i="0">
              <a:solidFill>
                <a:srgbClr val="1F2A37"/>
              </a:solidFill>
              <a:latin typeface="Calibri"/>
            </a:endParaRPr>
          </a:p>
          <a:p>
            <a:r>
              <a:rPr sz="1100" b="0" i="0">
                <a:solidFill>
                  <a:srgbClr val="1F2A37"/>
                </a:solidFill>
                <a:latin typeface="Calibri"/>
              </a:rPr>
              <a:t>Jake — junior engineer, hired not long after Marshall; the source of the daily ‘Marsha’ and ‘cozy lady job’ remarks — reads the room’s laughter as permission; a line held without heat makes him retreat to ‘it was a joke’ — never physical, never concedes it is harassment</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Marshall — administrative assistant, eight months in; the person the conduct is aimed at — responds to whether anyone in the room acknowledges what just happened — understated, a glance or a short line; never speaks for Jake, never asks the learner to step in for him</a:t>
            </a:r>
            <a:endParaRPr sz="1100" b="0" i="0">
              <a:solidFill>
                <a:srgbClr val="1F2A37"/>
              </a:solidFill>
              <a:latin typeface="Calibri"/>
            </a:endParaRPr>
          </a:p>
          <a:p>
            <a:endParaRPr sz="1100" b="0" i="0">
              <a:solidFill>
                <a:srgbClr val="1F2A37"/>
              </a:solidFill>
              <a:latin typeface="Calibri"/>
            </a:endParaRPr>
          </a:p>
          <a:p>
            <a:r>
              <a:rPr sz="1100" b="0" i="0">
                <a:solidFill>
                  <a:srgbClr val="1F2A37"/>
                </a:solidFill>
                <a:latin typeface="Calibri"/>
              </a:rPr>
              <a:t>Ethan — project manager, senior to both; started the ‘Marsha’ nickname — wants to be liked, hears a challenge as someone being humorless — never openly hostile; the harm arrives wrapped in friendliness</a:t>
            </a:r>
            <a:endParaRPr sz="1100" b="0" i="0">
              <a:solidFill>
                <a:srgbClr val="1F2A37"/>
              </a:solidFill>
              <a:latin typeface="Calibri"/>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THE TEACHING</a:t>
            </a:r>
          </a:p>
        </p:txBody>
      </p:sp>
      <p:sp>
        <p:nvSpPr>
          <p:cNvPr id="3" name="teaching.mustknows"/>
          <p:cNvSpPr>
            <a:spLocks noGrp="1"/>
          </p:cNvSpPr>
          <p:nvPr>
            <p:ph type="body" idx="10"/>
          </p:nvPr>
        </p:nvSpPr>
        <p:spPr/>
        <p:txBody>
          <a:bodyPr/>
          <a:lstStyle/>
          <a:p>
            <a:r>
              <a:rPr sz="900" b="1" i="0" spc="60">
                <a:solidFill>
                  <a:srgbClr val="0271CE"/>
                </a:solidFill>
                <a:latin typeface="Calibri"/>
              </a:rPr>
              <a:t>MUST-KNOWS — 3 TO 6, ONE PER LINE</a:t>
            </a:r>
            <a:endParaRPr sz="1050" b="0" i="0">
              <a:solidFill>
                <a:srgbClr val="1F2A37"/>
              </a:solidFill>
              <a:latin typeface="Calibri"/>
            </a:endParaRPr>
          </a:p>
          <a:p>
            <a:r>
              <a:rPr sz="1050" b="0" i="0">
                <a:solidFill>
                  <a:srgbClr val="1F2A37"/>
                </a:solidFill>
                <a:latin typeface="Calibri"/>
              </a:rPr>
              <a:t>Gender-stereotype-based conduct is sex-based harassment under Title VII — no explicit sexual advance or quid pro quo required.</a:t>
            </a:r>
            <a:endParaRPr sz="1050" b="0" i="0">
              <a:solidFill>
                <a:srgbClr val="1F2A37"/>
              </a:solidFill>
              <a:latin typeface="Calibri"/>
            </a:endParaRPr>
          </a:p>
          <a:p>
            <a:r>
              <a:rPr sz="1050" b="0" i="0">
                <a:solidFill>
                  <a:srgbClr val="1F2A37"/>
                </a:solidFill>
                <a:latin typeface="Calibri"/>
              </a:rPr>
              <a:t>Hostile work environment: pervasive gender-based conduct that makes the workplace intimidating qualifies, and it affects everyone present, not only the target.</a:t>
            </a:r>
            <a:endParaRPr sz="1050" b="0" i="0">
              <a:solidFill>
                <a:srgbClr val="1F2A37"/>
              </a:solidFill>
              <a:latin typeface="Calibri"/>
            </a:endParaRPr>
          </a:p>
          <a:p>
            <a:r>
              <a:rPr sz="1050" b="0" i="0">
                <a:solidFill>
                  <a:srgbClr val="1F2A37"/>
                </a:solidFill>
                <a:latin typeface="Calibri"/>
              </a:rPr>
              <a:t>Same-sex harassment is fully covered, and intent doesn’t matter — the test is impact and context.</a:t>
            </a:r>
            <a:endParaRPr sz="1050" b="0" i="0">
              <a:solidFill>
                <a:srgbClr val="1F2A37"/>
              </a:solidFill>
              <a:latin typeface="Calibri"/>
            </a:endParaRPr>
          </a:p>
          <a:p>
            <a:r>
              <a:rPr sz="1050" b="0" i="0">
                <a:solidFill>
                  <a:srgbClr val="1F2A37"/>
                </a:solidFill>
                <a:latin typeface="Calibri"/>
              </a:rPr>
              <a:t>Sustained harassment causes documented psychological and career harm. ‘Just jokes’ is never an accurate frame.</a:t>
            </a:r>
            <a:endParaRPr sz="1050" b="0" i="0">
              <a:solidFill>
                <a:srgbClr val="1F2A37"/>
              </a:solidFill>
              <a:latin typeface="Calibri"/>
            </a:endParaRPr>
          </a:p>
          <a:p>
            <a:r>
              <a:rPr sz="1050" b="0" i="0">
                <a:solidFill>
                  <a:srgbClr val="1F2A37"/>
                </a:solidFill>
                <a:latin typeface="Calibri"/>
              </a:rPr>
              <a:t>Marshall should report immediately — with documentation of incidents, dates and witnesses.</a:t>
            </a:r>
            <a:endParaRPr sz="1050" b="0" i="0">
              <a:solidFill>
                <a:srgbClr val="1F2A37"/>
              </a:solidFill>
              <a:latin typeface="Calibri"/>
            </a:endParaRPr>
          </a:p>
          <a:p>
            <a:r>
              <a:rPr sz="1050" b="0" i="0">
                <a:solidFill>
                  <a:srgbClr val="1F2A37"/>
                </a:solidFill>
                <a:latin typeface="Calibri"/>
              </a:rPr>
              <a:t>Bystanders: Pick an Action · Offer Support · Consider Escalating — and check the organization’s policy for witness obligations.</a:t>
            </a:r>
            <a:endParaRPr sz="1050" b="0" i="0">
              <a:solidFill>
                <a:srgbClr val="1F2A37"/>
              </a:solidFill>
              <a:latin typeface="Calibri"/>
            </a:endParaRPr>
          </a:p>
        </p:txBody>
      </p:sp>
      <p:sp>
        <p:nvSpPr>
          <p:cNvPr id="4" name="teaching.strongweak"/>
          <p:cNvSpPr>
            <a:spLocks noGrp="1"/>
          </p:cNvSpPr>
          <p:nvPr>
            <p:ph type="body" idx="11"/>
          </p:nvPr>
        </p:nvSpPr>
        <p:spPr/>
        <p:txBody>
          <a:bodyPr/>
          <a:lstStyle/>
          <a:p>
            <a:r>
              <a:rPr sz="900" b="1" i="0" spc="60">
                <a:solidFill>
                  <a:srgbClr val="0271CE"/>
                </a:solidFill>
                <a:latin typeface="Calibri"/>
              </a:rPr>
              <a:t>STRONG HANDLING VS. WEAK</a:t>
            </a:r>
            <a:endParaRPr sz="1200" b="0" i="0">
              <a:solidFill>
                <a:srgbClr val="1F2A37"/>
              </a:solidFill>
              <a:latin typeface="Calibri"/>
            </a:endParaRPr>
          </a:p>
          <a:p>
            <a:r>
              <a:rPr sz="1200" b="0" i="0">
                <a:solidFill>
                  <a:srgbClr val="1F2A37"/>
                </a:solidFill>
                <a:latin typeface="Calibri"/>
              </a:rPr>
              <a:t>Strong: names the gender-stereotype basis, applies the hostile-work-environment standard, arrives at reporting. In the break room, gives a clear direct or indirect signal, checks in with Marshall afterward, and considers escalating per policy.</a:t>
            </a:r>
            <a:endParaRPr sz="1200" b="0" i="0">
              <a:solidFill>
                <a:srgbClr val="1F2A37"/>
              </a:solidFill>
              <a:latin typeface="Calibri"/>
            </a:endParaRPr>
          </a:p>
          <a:p>
            <a:endParaRPr sz="1200" b="0" i="0">
              <a:solidFill>
                <a:srgbClr val="1F2A37"/>
              </a:solidFill>
              <a:latin typeface="Calibri"/>
            </a:endParaRPr>
          </a:p>
          <a:p>
            <a:r>
              <a:rPr sz="1200" b="0" i="0">
                <a:solidFill>
                  <a:srgbClr val="1F2A37"/>
                </a:solidFill>
                <a:latin typeface="Calibri"/>
              </a:rPr>
              <a:t>Weak: ‘not sexual, so not harassment’; ‘just banter’; ‘not my place.’ In the room: silence, laughing along, or putting the onus on Marshall to stand up for himself.</a:t>
            </a:r>
            <a:endParaRPr sz="1200" b="0" i="0">
              <a:solidFill>
                <a:srgbClr val="1F2A37"/>
              </a:solidFill>
              <a:latin typeface="Calibri"/>
            </a:endParaRPr>
          </a:p>
        </p:txBody>
      </p:sp>
      <p:sp>
        <p:nvSpPr>
          <p:cNvPr id="5" name="teaching.misconceptions"/>
          <p:cNvSpPr>
            <a:spLocks noGrp="1"/>
          </p:cNvSpPr>
          <p:nvPr>
            <p:ph type="body" idx="12"/>
          </p:nvPr>
        </p:nvSpPr>
        <p:spPr/>
        <p:txBody>
          <a:bodyPr/>
          <a:lstStyle/>
          <a:p>
            <a:r>
              <a:rPr sz="900" b="1" i="0" spc="60">
                <a:solidFill>
                  <a:srgbClr val="0271CE"/>
                </a:solidFill>
                <a:latin typeface="Calibri"/>
              </a:rPr>
              <a:t>COMMON WRONG ANSWERS → THE REDIRECT</a:t>
            </a:r>
            <a:endParaRPr sz="1200" b="0" i="0">
              <a:solidFill>
                <a:srgbClr val="1F2A37"/>
              </a:solidFill>
              <a:latin typeface="Calibri"/>
            </a:endParaRPr>
          </a:p>
          <a:p>
            <a:r>
              <a:rPr sz="1200" b="0" i="0">
                <a:solidFill>
                  <a:srgbClr val="1F2A37"/>
                </a:solidFill>
                <a:latin typeface="Calibri"/>
              </a:rPr>
              <a:t>‘It’s not sexual, so it’s not harassment.’ → The most common one. Title VII’s scope includes gender stereotyping — nothing sexual has to be said or demanded.</a:t>
            </a:r>
            <a:endParaRPr sz="1200" b="0" i="0">
              <a:solidFill>
                <a:srgbClr val="1F2A37"/>
              </a:solidFill>
              <a:latin typeface="Calibri"/>
            </a:endParaRPr>
          </a:p>
          <a:p>
            <a:r>
              <a:rPr sz="1200" b="0" i="0">
                <a:solidFill>
                  <a:srgbClr val="1F2A37"/>
                </a:solidFill>
                <a:latin typeface="Calibri"/>
              </a:rPr>
              <a:t>‘It’s just joking / workplace banter.’ → Minimizes the cumulative weight. What does daily degradation actually cost someone?</a:t>
            </a:r>
            <a:endParaRPr sz="1200" b="0" i="0">
              <a:solidFill>
                <a:srgbClr val="1F2A37"/>
              </a:solidFill>
              <a:latin typeface="Calibri"/>
            </a:endParaRPr>
          </a:p>
          <a:p>
            <a:r>
              <a:rPr sz="1200" b="0" i="0">
                <a:solidFill>
                  <a:srgbClr val="1F2A37"/>
                </a:solidFill>
                <a:latin typeface="Calibri"/>
              </a:rPr>
              <a:t>‘Not my place to get involved.’ → Silence is never neutral — it signals acceptance. Others are likely as concerned as you are and will support you acting.</a:t>
            </a:r>
            <a:endParaRPr sz="1200" b="0" i="0">
              <a:solidFill>
                <a:srgbClr val="1F2A37"/>
              </a:solidFill>
              <a:latin typeface="Calibri"/>
            </a:endParaRPr>
          </a:p>
          <a:p>
            <a:r>
              <a:rPr sz="1200" b="0" i="0">
                <a:solidFill>
                  <a:srgbClr val="1F2A37"/>
                </a:solidFill>
                <a:latin typeface="Calibri"/>
              </a:rPr>
              <a:t>‘It only counts if it affects his job.’ → Misapplies the standard. A hostile work environment qualifies without economic injury.</a:t>
            </a:r>
            <a:endParaRPr sz="1200" b="0" i="0">
              <a:solidFill>
                <a:srgbClr val="1F2A37"/>
              </a:solidFill>
              <a:latin typeface="Calibri"/>
            </a:endParaRPr>
          </a:p>
          <a:p>
            <a:r>
              <a:rPr sz="1200" b="0" i="0">
                <a:solidFill>
                  <a:srgbClr val="1F2A37"/>
                </a:solidFill>
                <a:latin typeface="Calibri"/>
              </a:rPr>
              <a:t>‘He knew some of this would come with the job, given how he dresses.’ → Anticipating mistreatment does not make it lawful; presentation is never consent.</a:t>
            </a:r>
            <a:endParaRPr sz="1200" b="0" i="0">
              <a:solidFill>
                <a:srgbClr val="1F2A37"/>
              </a:solidFill>
              <a:latin typeface="Calibri"/>
            </a:endParaRPr>
          </a:p>
        </p:txBody>
      </p:sp>
      <p:sp>
        <p:nvSpPr>
          <p:cNvPr id="6" name="teaching.voice"/>
          <p:cNvSpPr>
            <a:spLocks noGrp="1"/>
          </p:cNvSpPr>
          <p:nvPr>
            <p:ph type="body" idx="13"/>
          </p:nvPr>
        </p:nvSpPr>
        <p:spPr/>
        <p:txBody>
          <a:bodyPr/>
          <a:lstStyle/>
          <a:p>
            <a:r>
              <a:rPr sz="900" b="1" i="0" spc="60">
                <a:solidFill>
                  <a:srgbClr val="0271CE"/>
                </a:solidFill>
                <a:latin typeface="Calibri"/>
              </a:rPr>
              <a:t>COACH VOICE</a:t>
            </a:r>
            <a:endParaRPr sz="1200" b="0" i="0">
              <a:solidFill>
                <a:srgbClr val="1F2A37"/>
              </a:solidFill>
              <a:latin typeface="Calibri"/>
            </a:endParaRPr>
          </a:p>
          <a:p>
            <a:r>
              <a:rPr sz="1200" b="0" i="0">
                <a:solidFill>
                  <a:srgbClr val="1F2A37"/>
                </a:solidFill>
                <a:latin typeface="Calibri"/>
              </a:rPr>
              <a:t>Precise but not clinical — names the legal reality without lecturing. Affirms before it corrects: meets the learner’s instinct, then sharpens it. Never shames a bystander instinct — redirects with curiosity and specificity. Ends every response with a question or a forward pivot.</a:t>
            </a:r>
            <a:endParaRPr sz="1200" b="0" i="0">
              <a:solidFill>
                <a:srgbClr val="1F2A37"/>
              </a:solidFill>
              <a:latin typeface="Calibri"/>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THE OPENING</a:t>
            </a:r>
          </a:p>
        </p:txBody>
      </p:sp>
      <p:sp>
        <p:nvSpPr>
          <p:cNvPr id="3" name="opening.question"/>
          <p:cNvSpPr>
            <a:spLocks noGrp="1"/>
          </p:cNvSpPr>
          <p:nvPr>
            <p:ph type="body" idx="10"/>
          </p:nvPr>
        </p:nvSpPr>
        <p:spPr/>
        <p:txBody>
          <a:bodyPr/>
          <a:lstStyle/>
          <a:p>
            <a:r>
              <a:rPr sz="900" b="1" i="0" spc="60">
                <a:solidFill>
                  <a:srgbClr val="0271CE"/>
                </a:solidFill>
                <a:latin typeface="Calibri"/>
              </a:rPr>
              <a:t>WARM-UP QUESTION — VERBATIM, THE COACH’S FIRST LINE</a:t>
            </a:r>
            <a:endParaRPr sz="1400" b="0" i="0">
              <a:solidFill>
                <a:srgbClr val="1F2A37"/>
              </a:solidFill>
              <a:latin typeface="Calibri"/>
            </a:endParaRPr>
          </a:p>
          <a:p>
            <a:r>
              <a:rPr sz="1400" b="0" i="0">
                <a:solidFill>
                  <a:srgbClr val="1F2A37"/>
                </a:solidFill>
                <a:latin typeface="Calibri"/>
              </a:rPr>
              <a:t>“Before we get into the specifics — take a moment. What’s your gut reaction to this behavior? Is anything about this situation standing out to you, or feeling unclear?”</a:t>
            </a:r>
            <a:endParaRPr sz="1400" b="0" i="0">
              <a:solidFill>
                <a:srgbClr val="1F2A37"/>
              </a:solidFill>
              <a:latin typeface="Calibri"/>
            </a:endParaRPr>
          </a:p>
        </p:txBody>
      </p:sp>
      <p:sp>
        <p:nvSpPr>
          <p:cNvPr id="4" name="opening.turns"/>
          <p:cNvSpPr>
            <a:spLocks noGrp="1"/>
          </p:cNvSpPr>
          <p:nvPr>
            <p:ph type="body" idx="11"/>
          </p:nvPr>
        </p:nvSpPr>
        <p:spPr/>
        <p:txBody>
          <a:bodyPr/>
          <a:lstStyle/>
          <a:p>
            <a:r>
              <a:rPr sz="900" b="1" i="0" spc="60">
                <a:solidFill>
                  <a:srgbClr val="0271CE"/>
                </a:solidFill>
                <a:latin typeface="Calibri"/>
              </a:rPr>
              <a:t>TURNS</a:t>
            </a:r>
            <a:endParaRPr sz="1400" b="0" i="0">
              <a:solidFill>
                <a:srgbClr val="1F2A37"/>
              </a:solidFill>
              <a:latin typeface="Calibri"/>
            </a:endParaRPr>
          </a:p>
          <a:p>
            <a:r>
              <a:rPr sz="1400" b="0" i="0">
                <a:solidFill>
                  <a:srgbClr val="1F2A37"/>
                </a:solidFill>
                <a:latin typeface="Calibri"/>
              </a:rPr>
              <a:t>1</a:t>
            </a:r>
            <a:endParaRPr sz="1400" b="0" i="0">
              <a:solidFill>
                <a:srgbClr val="1F2A37"/>
              </a:solidFill>
              <a:latin typeface="Calibri"/>
            </a:endParaRPr>
          </a:p>
        </p:txBody>
      </p:sp>
      <p:sp>
        <p:nvSpPr>
          <p:cNvPr id="5" name="opening.listen"/>
          <p:cNvSpPr>
            <a:spLocks noGrp="1"/>
          </p:cNvSpPr>
          <p:nvPr>
            <p:ph type="body" idx="12"/>
          </p:nvPr>
        </p:nvSpPr>
        <p:spPr/>
        <p:txBody>
          <a:bodyPr/>
          <a:lstStyle/>
          <a:p>
            <a:r>
              <a:rPr sz="900" b="1" i="0" spc="60">
                <a:solidFill>
                  <a:srgbClr val="0271CE"/>
                </a:solidFill>
                <a:latin typeface="Calibri"/>
              </a:rPr>
              <a:t>LISTEN FOR — AND HOW TO ACKNOWLEDGE IT</a:t>
            </a:r>
            <a:endParaRPr sz="1200" b="0" i="0">
              <a:solidFill>
                <a:srgbClr val="1F2A37"/>
              </a:solidFill>
              <a:latin typeface="Calibri"/>
            </a:endParaRPr>
          </a:p>
          <a:p>
            <a:r>
              <a:rPr sz="1200" b="0" i="0">
                <a:solidFill>
                  <a:srgbClr val="1F2A37"/>
                </a:solidFill>
                <a:latin typeface="Calibri"/>
              </a:rPr>
              <a:t>Starting assumptions — ‘nothing sexual is really happening’, ‘it seems mean but not harassment’ — and how comfortable they are with getting involved at all.</a:t>
            </a:r>
            <a:endParaRPr sz="1200" b="0" i="0">
              <a:solidFill>
                <a:srgbClr val="1F2A37"/>
              </a:solidFill>
              <a:latin typeface="Calibri"/>
            </a:endParaRPr>
          </a:p>
          <a:p>
            <a:r>
              <a:rPr sz="1200" b="0" i="0">
                <a:solidFill>
                  <a:srgbClr val="1F2A37"/>
                </a:solidFill>
                <a:latin typeface="Calibri"/>
              </a:rPr>
              <a:t>Acknowledge what they said and reflect a little of it back. Do not grade it and do not preview the law. Then move on: “Now let’s take a closer look at what’s actually happening here.”</a:t>
            </a:r>
            <a:endParaRPr sz="1200" b="0" i="0">
              <a:solidFill>
                <a:srgbClr val="1F2A37"/>
              </a:solidFill>
              <a:latin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1F2A37"/>
                </a:solidFill>
                <a:latin typeface="Calibri"/>
              </a:rPr>
              <a:t>STEP 1 · Does This Qualify as Harassment?</a:t>
            </a:r>
          </a:p>
        </p:txBody>
      </p:sp>
      <p:sp>
        <p:nvSpPr>
          <p:cNvPr id="3" name="step.mode"/>
          <p:cNvSpPr>
            <a:spLocks noGrp="1"/>
          </p:cNvSpPr>
          <p:nvPr>
            <p:ph type="body" idx="10"/>
          </p:nvPr>
        </p:nvSpPr>
        <p:spPr/>
        <p:txBody>
          <a:bodyPr/>
          <a:lstStyle/>
          <a:p>
            <a:r>
              <a:rPr sz="900" b="1" i="0" spc="60">
                <a:solidFill>
                  <a:srgbClr val="0271CE"/>
                </a:solidFill>
                <a:latin typeface="Calibri"/>
              </a:rPr>
              <a:t>MODE</a:t>
            </a:r>
            <a:endParaRPr sz="800" b="0" i="0">
              <a:solidFill>
                <a:srgbClr val="1F2A37"/>
              </a:solidFill>
              <a:latin typeface="Calibri"/>
            </a:endParaRPr>
          </a:p>
          <a:p>
            <a:r>
              <a:rPr sz="800" b="0" i="0">
                <a:solidFill>
                  <a:srgbClr val="1F2A37"/>
                </a:solidFill>
                <a:latin typeface="Calibri"/>
              </a:rPr>
              <a:t>coach</a:t>
            </a:r>
            <a:endParaRPr sz="800" b="0" i="0">
              <a:solidFill>
                <a:srgbClr val="1F2A37"/>
              </a:solidFill>
              <a:latin typeface="Calibri"/>
            </a:endParaRPr>
          </a:p>
        </p:txBody>
      </p:sp>
      <p:sp>
        <p:nvSpPr>
          <p:cNvPr id="4" name="step.right"/>
          <p:cNvSpPr>
            <a:spLocks noGrp="1"/>
          </p:cNvSpPr>
          <p:nvPr>
            <p:ph type="body" idx="11"/>
          </p:nvPr>
        </p:nvSpPr>
        <p:spPr/>
        <p:txBody>
          <a:bodyPr/>
          <a:lstStyle/>
          <a:p>
            <a:r>
              <a:rPr sz="900" b="1" i="0" spc="60">
                <a:solidFill>
                  <a:srgbClr val="0271CE"/>
                </a:solidFill>
                <a:latin typeface="Calibri"/>
              </a:rPr>
              <a:t>RIGHT ANSWER?</a:t>
            </a:r>
            <a:endParaRPr sz="800" b="0" i="0">
              <a:solidFill>
                <a:srgbClr val="1F2A37"/>
              </a:solidFill>
              <a:latin typeface="Calibri"/>
            </a:endParaRPr>
          </a:p>
          <a:p>
            <a:r>
              <a:rPr sz="800" b="0" i="0">
                <a:solidFill>
                  <a:srgbClr val="1F2A37"/>
                </a:solidFill>
                <a:latin typeface="Calibri"/>
              </a:rPr>
              <a:t>Yes — the coach lands it plainly.</a:t>
            </a:r>
            <a:endParaRPr sz="800" b="0" i="0">
              <a:solidFill>
                <a:srgbClr val="1F2A37"/>
              </a:solidFill>
              <a:latin typeface="Calibri"/>
            </a:endParaRPr>
          </a:p>
        </p:txBody>
      </p:sp>
      <p:sp>
        <p:nvSpPr>
          <p:cNvPr id="5" name="step.turns"/>
          <p:cNvSpPr>
            <a:spLocks noGrp="1"/>
          </p:cNvSpPr>
          <p:nvPr>
            <p:ph type="body" idx="12"/>
          </p:nvPr>
        </p:nvSpPr>
        <p:spPr/>
        <p:txBody>
          <a:bodyPr/>
          <a:lstStyle/>
          <a:p>
            <a:r>
              <a:rPr sz="900" b="1" i="0" spc="60">
                <a:solidFill>
                  <a:srgbClr val="0271CE"/>
                </a:solidFill>
                <a:latin typeface="Calibri"/>
              </a:rPr>
              <a:t>TURNS</a:t>
            </a:r>
            <a:endParaRPr sz="800" b="0" i="0">
              <a:solidFill>
                <a:srgbClr val="1F2A37"/>
              </a:solidFill>
              <a:latin typeface="Calibri"/>
            </a:endParaRPr>
          </a:p>
          <a:p>
            <a:r>
              <a:rPr sz="800" b="0" i="0">
                <a:solidFill>
                  <a:srgbClr val="1F2A37"/>
                </a:solidFill>
                <a:latin typeface="Calibri"/>
              </a:rPr>
              <a:t>2</a:t>
            </a:r>
            <a:endParaRPr sz="800" b="0" i="0">
              <a:solidFill>
                <a:srgbClr val="1F2A37"/>
              </a:solidFill>
              <a:latin typeface="Calibri"/>
            </a:endParaRPr>
          </a:p>
        </p:txBody>
      </p:sp>
      <p:sp>
        <p:nvSpPr>
          <p:cNvPr id="6" name="step.does"/>
          <p:cNvSpPr>
            <a:spLocks noGrp="1"/>
          </p:cNvSpPr>
          <p:nvPr>
            <p:ph type="body" idx="13"/>
          </p:nvPr>
        </p:nvSpPr>
        <p:spPr/>
        <p:txBody>
          <a:bodyPr/>
          <a:lstStyle/>
          <a:p>
            <a:r>
              <a:rPr sz="900" b="1" i="0" spc="60">
                <a:solidFill>
                  <a:srgbClr val="0271CE"/>
                </a:solidFill>
                <a:latin typeface="Calibri"/>
              </a:rPr>
              <a:t>WHAT THE LEARNER DOES HERE — AND WHY NOW</a:t>
            </a:r>
            <a:endParaRPr sz="800" b="0" i="0">
              <a:solidFill>
                <a:srgbClr val="1F2A37"/>
              </a:solidFill>
              <a:latin typeface="Calibri"/>
            </a:endParaRPr>
          </a:p>
          <a:p>
            <a:r>
              <a:rPr sz="800" b="0" i="0">
                <a:solidFill>
                  <a:srgbClr val="1F2A37"/>
                </a:solidFill>
                <a:latin typeface="Calibri"/>
              </a:rPr>
              <a:t>Reason through whether the conduct qualifies as sexual harassment under Title VII. One probing follow-up at most, no teaching; then the coach lands the legal conclusion plainly, whatever the tier.</a:t>
            </a:r>
            <a:endParaRPr sz="800" b="0" i="0">
              <a:solidFill>
                <a:srgbClr val="1F2A37"/>
              </a:solidFill>
              <a:latin typeface="Calibri"/>
            </a:endParaRPr>
          </a:p>
        </p:txBody>
      </p:sp>
      <p:sp>
        <p:nvSpPr>
          <p:cNvPr id="7" name="step.opener"/>
          <p:cNvSpPr>
            <a:spLocks noGrp="1"/>
          </p:cNvSpPr>
          <p:nvPr>
            <p:ph type="body" idx="14"/>
          </p:nvPr>
        </p:nvSpPr>
        <p:spPr/>
        <p:txBody>
          <a:bodyPr/>
          <a:lstStyle/>
          <a:p>
            <a:r>
              <a:rPr sz="900" b="1" i="0" spc="60">
                <a:solidFill>
                  <a:srgbClr val="0271CE"/>
                </a:solidFill>
                <a:latin typeface="Calibri"/>
              </a:rPr>
              <a:t>OPENER — VERBATIM</a:t>
            </a:r>
            <a:endParaRPr sz="1000" b="0" i="0">
              <a:solidFill>
                <a:srgbClr val="1F2A37"/>
              </a:solidFill>
              <a:latin typeface="Calibri"/>
            </a:endParaRPr>
          </a:p>
          <a:p>
            <a:r>
              <a:rPr sz="1000" b="0" i="0">
                <a:solidFill>
                  <a:srgbClr val="1F2A37"/>
                </a:solidFill>
                <a:latin typeface="Calibri"/>
              </a:rPr>
              <a:t>“Based on what you know about workplace harassment — think through what Marshall is experiencing. In your view, does this qualify as sexual harassment? Walk through your reasoning.”</a:t>
            </a:r>
            <a:endParaRPr sz="1000" b="0" i="0">
              <a:solidFill>
                <a:srgbClr val="1F2A37"/>
              </a:solidFill>
              <a:latin typeface="Calibri"/>
            </a:endParaRPr>
          </a:p>
        </p:txBody>
      </p:sp>
      <p:sp>
        <p:nvSpPr>
          <p:cNvPr id="8" name="step.tier.unthoughtful"/>
          <p:cNvSpPr>
            <a:spLocks noGrp="1"/>
          </p:cNvSpPr>
          <p:nvPr>
            <p:ph type="body" idx="15"/>
          </p:nvPr>
        </p:nvSpPr>
        <p:spPr/>
        <p:txBody>
          <a:bodyPr/>
          <a:lstStyle/>
          <a:p>
            <a:r>
              <a:rPr sz="900" b="1" i="0" spc="60">
                <a:solidFill>
                  <a:srgbClr val="B54B3A"/>
                </a:solidFill>
                <a:latin typeface="Calibri"/>
              </a:rPr>
              <a:t>UNTHOUGHTFUL</a:t>
            </a:r>
            <a:endParaRPr sz="800" b="0" i="0">
              <a:solidFill>
                <a:srgbClr val="1F2A37"/>
              </a:solidFill>
              <a:latin typeface="Calibri"/>
            </a:endParaRPr>
          </a:p>
          <a:p>
            <a:pPr>
              <a:spcBef>
                <a:spcPts val="400"/>
              </a:spcBef>
            </a:pPr>
            <a:r>
              <a:rPr sz="950" b="1" i="0">
                <a:solidFill>
                  <a:srgbClr val="43505E"/>
                </a:solidFill>
                <a:latin typeface="Calibri"/>
              </a:rPr>
              <a:t>Look for:</a:t>
            </a:r>
            <a:endParaRPr sz="800" b="0" i="0">
              <a:solidFill>
                <a:srgbClr val="1F2A37"/>
              </a:solidFill>
              <a:latin typeface="Calibri"/>
            </a:endParaRPr>
          </a:p>
          <a:p>
            <a:r>
              <a:rPr sz="800" b="0" i="0">
                <a:solidFill>
                  <a:srgbClr val="1F2A37"/>
                </a:solidFill>
                <a:latin typeface="Calibri"/>
              </a:rPr>
              <a:t>Conflates harassment with explicit sexual advances or quid pro quo. May suggest Marshall’s dress, or his expectation that ‘some joking would come with the job’, reduces the severity. Calls it teasing or bullying. Misses the gender-stereotype basis entirely.</a:t>
            </a:r>
            <a:endParaRPr sz="800" b="0" i="0">
              <a:solidFill>
                <a:srgbClr val="1F2A37"/>
              </a:solidFill>
              <a:latin typeface="Calibri"/>
            </a:endParaRPr>
          </a:p>
          <a:p>
            <a:pPr>
              <a:spcBef>
                <a:spcPts val="400"/>
              </a:spcBef>
            </a:pPr>
            <a:r>
              <a:rPr sz="950" b="1" i="0">
                <a:solidFill>
                  <a:srgbClr val="43505E"/>
                </a:solidFill>
                <a:latin typeface="Calibri"/>
              </a:rPr>
              <a:t>Respond:</a:t>
            </a:r>
            <a:endParaRPr sz="800" b="0" i="0">
              <a:solidFill>
                <a:srgbClr val="1F2A37"/>
              </a:solidFill>
              <a:latin typeface="Calibri"/>
            </a:endParaRPr>
          </a:p>
          <a:p>
            <a:r>
              <a:rPr sz="800" b="0" i="0">
                <a:solidFill>
                  <a:srgbClr val="1F2A37"/>
                </a:solidFill>
                <a:latin typeface="Calibri"/>
              </a:rPr>
              <a:t>Clarify the two types of harassment. Address the ‘he knew it would happen / the way he dresses’ framing directly: anticipating mistreatment does not make it legal, and presentation is not consent. Deliver the answer — yes, this is harassment, and Marshall should report it.</a:t>
            </a:r>
            <a:endParaRPr sz="800" b="0" i="0">
              <a:solidFill>
                <a:srgbClr val="1F2A37"/>
              </a:solidFill>
              <a:latin typeface="Calibri"/>
            </a:endParaRPr>
          </a:p>
          <a:p>
            <a:pPr>
              <a:spcBef>
                <a:spcPts val="400"/>
              </a:spcBef>
            </a:pPr>
            <a:r>
              <a:rPr sz="950" b="1" i="0">
                <a:solidFill>
                  <a:srgbClr val="43505E"/>
                </a:solidFill>
                <a:latin typeface="Calibri"/>
              </a:rPr>
              <a:t>Scene moves (roleplay only):</a:t>
            </a:r>
            <a:endParaRPr sz="800" b="0" i="0">
              <a:solidFill>
                <a:srgbClr val="1F2A37"/>
              </a:solidFill>
              <a:latin typeface="Calibri"/>
            </a:endParaRPr>
          </a:p>
          <a:p>
            <a:endParaRPr sz="800" b="0" i="0">
              <a:solidFill>
                <a:srgbClr val="1F2A37"/>
              </a:solidFill>
              <a:latin typeface="Calibri"/>
            </a:endParaRPr>
          </a:p>
        </p:txBody>
      </p:sp>
      <p:sp>
        <p:nvSpPr>
          <p:cNvPr id="9" name="step.tier.neutral"/>
          <p:cNvSpPr>
            <a:spLocks noGrp="1"/>
          </p:cNvSpPr>
          <p:nvPr>
            <p:ph type="body" idx="16"/>
          </p:nvPr>
        </p:nvSpPr>
        <p:spPr/>
        <p:txBody>
          <a:bodyPr/>
          <a:lstStyle/>
          <a:p>
            <a:r>
              <a:rPr sz="900" b="1" i="0" spc="60">
                <a:solidFill>
                  <a:srgbClr val="8A6D1F"/>
                </a:solidFill>
                <a:latin typeface="Calibri"/>
              </a:rPr>
              <a:t>NEUTRAL</a:t>
            </a:r>
            <a:endParaRPr sz="850" b="0" i="0">
              <a:solidFill>
                <a:srgbClr val="1F2A37"/>
              </a:solidFill>
              <a:latin typeface="Calibri"/>
            </a:endParaRPr>
          </a:p>
          <a:p>
            <a:pPr>
              <a:spcBef>
                <a:spcPts val="400"/>
              </a:spcBef>
            </a:pPr>
            <a:r>
              <a:rPr sz="950" b="1" i="0">
                <a:solidFill>
                  <a:srgbClr val="43505E"/>
                </a:solidFill>
                <a:latin typeface="Calibri"/>
              </a:rPr>
              <a:t>Look for:</a:t>
            </a:r>
            <a:endParaRPr sz="850" b="0" i="0">
              <a:solidFill>
                <a:srgbClr val="1F2A37"/>
              </a:solidFill>
              <a:latin typeface="Calibri"/>
            </a:endParaRPr>
          </a:p>
          <a:p>
            <a:r>
              <a:rPr sz="850" b="0" i="0">
                <a:solidFill>
                  <a:srgbClr val="1F2A37"/>
                </a:solidFill>
                <a:latin typeface="Calibri"/>
              </a:rPr>
              <a:t>Recognizes the conduct feels targeted and wrong; intuits the gender-stereotyping angle. Stuck on the quid pro quo model — believes an exchange or direct threat is required. Unsure whether it ‘technically’ qualifies.</a:t>
            </a:r>
            <a:endParaRPr sz="850" b="0" i="0">
              <a:solidFill>
                <a:srgbClr val="1F2A37"/>
              </a:solidFill>
              <a:latin typeface="Calibri"/>
            </a:endParaRPr>
          </a:p>
          <a:p>
            <a:pPr>
              <a:spcBef>
                <a:spcPts val="400"/>
              </a:spcBef>
            </a:pPr>
            <a:r>
              <a:rPr sz="950" b="1" i="0">
                <a:solidFill>
                  <a:srgbClr val="43505E"/>
                </a:solidFill>
                <a:latin typeface="Calibri"/>
              </a:rPr>
              <a:t>Respond:</a:t>
            </a:r>
            <a:endParaRPr sz="850" b="0" i="0">
              <a:solidFill>
                <a:srgbClr val="1F2A37"/>
              </a:solidFill>
              <a:latin typeface="Calibri"/>
            </a:endParaRPr>
          </a:p>
          <a:p>
            <a:r>
              <a:rPr sz="850" b="0" i="0">
                <a:solidFill>
                  <a:srgbClr val="1F2A37"/>
                </a:solidFill>
                <a:latin typeface="Calibri"/>
              </a:rPr>
              <a:t>Affirm the gender-targeting observation. Distinguish quid pro quo from hostile work environment: pervasive gender-based conduct that makes the workplace intimidating qualifies — no exchange required. Confirm: this is harassment under Title VII and Marshall should report it now.</a:t>
            </a:r>
            <a:endParaRPr sz="850" b="0" i="0">
              <a:solidFill>
                <a:srgbClr val="1F2A37"/>
              </a:solidFill>
              <a:latin typeface="Calibri"/>
            </a:endParaRPr>
          </a:p>
          <a:p>
            <a:pPr>
              <a:spcBef>
                <a:spcPts val="400"/>
              </a:spcBef>
            </a:pPr>
            <a:r>
              <a:rPr sz="950" b="1" i="0">
                <a:solidFill>
                  <a:srgbClr val="43505E"/>
                </a:solidFill>
                <a:latin typeface="Calibri"/>
              </a:rPr>
              <a:t>Scene moves (roleplay only):</a:t>
            </a:r>
            <a:endParaRPr sz="850" b="0" i="0">
              <a:solidFill>
                <a:srgbClr val="1F2A37"/>
              </a:solidFill>
              <a:latin typeface="Calibri"/>
            </a:endParaRPr>
          </a:p>
          <a:p>
            <a:endParaRPr sz="850" b="0" i="0">
              <a:solidFill>
                <a:srgbClr val="1F2A37"/>
              </a:solidFill>
              <a:latin typeface="Calibri"/>
            </a:endParaRPr>
          </a:p>
        </p:txBody>
      </p:sp>
      <p:sp>
        <p:nvSpPr>
          <p:cNvPr id="10" name="step.tier.strong"/>
          <p:cNvSpPr>
            <a:spLocks noGrp="1"/>
          </p:cNvSpPr>
          <p:nvPr>
            <p:ph type="body" idx="17"/>
          </p:nvPr>
        </p:nvSpPr>
        <p:spPr/>
        <p:txBody>
          <a:bodyPr/>
          <a:lstStyle/>
          <a:p>
            <a:r>
              <a:rPr sz="900" b="1" i="0" spc="60">
                <a:solidFill>
                  <a:srgbClr val="2E7D4F"/>
                </a:solidFill>
                <a:latin typeface="Calibri"/>
              </a:rPr>
              <a:t>STRONG</a:t>
            </a:r>
            <a:endParaRPr sz="850" b="0" i="0">
              <a:solidFill>
                <a:srgbClr val="1F2A37"/>
              </a:solidFill>
              <a:latin typeface="Calibri"/>
            </a:endParaRPr>
          </a:p>
          <a:p>
            <a:pPr>
              <a:spcBef>
                <a:spcPts val="400"/>
              </a:spcBef>
            </a:pPr>
            <a:r>
              <a:rPr sz="950" b="1" i="0">
                <a:solidFill>
                  <a:srgbClr val="43505E"/>
                </a:solidFill>
                <a:latin typeface="Calibri"/>
              </a:rPr>
              <a:t>Look for:</a:t>
            </a:r>
            <a:endParaRPr sz="850" b="0" i="0">
              <a:solidFill>
                <a:srgbClr val="1F2A37"/>
              </a:solidFill>
              <a:latin typeface="Calibri"/>
            </a:endParaRPr>
          </a:p>
          <a:p>
            <a:r>
              <a:rPr sz="850" b="0" i="0">
                <a:solidFill>
                  <a:srgbClr val="1F2A37"/>
                </a:solidFill>
                <a:latin typeface="Calibri"/>
              </a:rPr>
              <a:t>Correctly identifies gender stereotyping as the basis. Applies the hostile-work-environment standard. Notes harassment need not be explicitly sexual. Arrives at reporting. May note same-sex protections.</a:t>
            </a:r>
            <a:endParaRPr sz="850" b="0" i="0">
              <a:solidFill>
                <a:srgbClr val="1F2A37"/>
              </a:solidFill>
              <a:latin typeface="Calibri"/>
            </a:endParaRPr>
          </a:p>
          <a:p>
            <a:pPr>
              <a:spcBef>
                <a:spcPts val="400"/>
              </a:spcBef>
            </a:pPr>
            <a:r>
              <a:rPr sz="950" b="1" i="0">
                <a:solidFill>
                  <a:srgbClr val="43505E"/>
                </a:solidFill>
                <a:latin typeface="Calibri"/>
              </a:rPr>
              <a:t>Respond:</a:t>
            </a:r>
            <a:endParaRPr sz="850" b="0" i="0">
              <a:solidFill>
                <a:srgbClr val="1F2A37"/>
              </a:solidFill>
              <a:latin typeface="Calibri"/>
            </a:endParaRPr>
          </a:p>
          <a:p>
            <a:r>
              <a:rPr sz="850" b="0" i="0">
                <a:solidFill>
                  <a:srgbClr val="1F2A37"/>
                </a:solidFill>
                <a:latin typeface="Calibri"/>
              </a:rPr>
              <a:t>Validate the full analysis and confirm the grounding: Title VII, hostile work environment, gender stereotyping. Add the same-sex point if not raised. Reinforce that the public images are a significant escalation — reporting should be urgent and documented.</a:t>
            </a:r>
            <a:endParaRPr sz="850" b="0" i="0">
              <a:solidFill>
                <a:srgbClr val="1F2A37"/>
              </a:solidFill>
              <a:latin typeface="Calibri"/>
            </a:endParaRPr>
          </a:p>
          <a:p>
            <a:pPr>
              <a:spcBef>
                <a:spcPts val="400"/>
              </a:spcBef>
            </a:pPr>
            <a:r>
              <a:rPr sz="950" b="1" i="0">
                <a:solidFill>
                  <a:srgbClr val="43505E"/>
                </a:solidFill>
                <a:latin typeface="Calibri"/>
              </a:rPr>
              <a:t>Scene moves (roleplay only):</a:t>
            </a:r>
            <a:endParaRPr sz="850" b="0" i="0">
              <a:solidFill>
                <a:srgbClr val="1F2A37"/>
              </a:solidFill>
              <a:latin typeface="Calibri"/>
            </a:endParaRPr>
          </a:p>
          <a:p>
            <a:endParaRPr sz="850" b="0" i="0">
              <a:solidFill>
                <a:srgbClr val="1F2A37"/>
              </a:solidFill>
              <a:latin typeface="Calibri"/>
            </a:endParaRPr>
          </a:p>
        </p:txBody>
      </p:sp>
      <p:sp>
        <p:nvSpPr>
          <p:cNvPr id="11" name="step.debrief"/>
          <p:cNvSpPr>
            <a:spLocks noGrp="1"/>
          </p:cNvSpPr>
          <p:nvPr>
            <p:ph type="body" idx="18"/>
          </p:nvPr>
        </p:nvSpPr>
        <p:spPr/>
        <p:txBody>
          <a:bodyPr/>
          <a:lstStyle/>
          <a:p>
            <a:r>
              <a:rPr sz="900" b="1" i="0" spc="60">
                <a:solidFill>
                  <a:srgbClr val="0271CE"/>
                </a:solidFill>
                <a:latin typeface="Calibri"/>
              </a:rPr>
              <a:t>DEBRIEF LANDS — 2 TO 4 POINTS EVERY LEARNER HEARS, HOWEVER THE ATTEMPT WENT</a:t>
            </a:r>
            <a:endParaRPr sz="950" b="0" i="0">
              <a:solidFill>
                <a:srgbClr val="1F2A37"/>
              </a:solidFill>
              <a:latin typeface="Calibri"/>
            </a:endParaRPr>
          </a:p>
          <a:p>
            <a:r>
              <a:rPr sz="950" b="0" i="0">
                <a:solidFill>
                  <a:srgbClr val="1F2A37"/>
                </a:solidFill>
                <a:latin typeface="Calibri"/>
              </a:rPr>
              <a:t>There are two types of harassment — quid pro quo and hostile work environment — and no exchange or threat is required for the second.  ·  Gender-stereotype conduct is sex-based harassment under Title VII; how someone presents is never consent.  ·  The public images are a major escalation — report, documented, now.</a:t>
            </a:r>
            <a:endParaRPr sz="950" b="0" i="0">
              <a:solidFill>
                <a:srgbClr val="1F2A37"/>
              </a:solidFill>
              <a:latin typeface="Calibri"/>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1F2A37"/>
                </a:solidFill>
                <a:latin typeface="Calibri"/>
              </a:rPr>
              <a:t>STEP 2 · What Is Marshall Experiencing?</a:t>
            </a:r>
          </a:p>
        </p:txBody>
      </p:sp>
      <p:sp>
        <p:nvSpPr>
          <p:cNvPr id="3" name="step.mode"/>
          <p:cNvSpPr>
            <a:spLocks noGrp="1"/>
          </p:cNvSpPr>
          <p:nvPr>
            <p:ph type="body" idx="10"/>
          </p:nvPr>
        </p:nvSpPr>
        <p:spPr/>
        <p:txBody>
          <a:bodyPr/>
          <a:lstStyle/>
          <a:p>
            <a:r>
              <a:rPr sz="900" b="1" i="0" spc="60">
                <a:solidFill>
                  <a:srgbClr val="0271CE"/>
                </a:solidFill>
                <a:latin typeface="Calibri"/>
              </a:rPr>
              <a:t>MODE</a:t>
            </a:r>
            <a:endParaRPr sz="800" b="0" i="0">
              <a:solidFill>
                <a:srgbClr val="1F2A37"/>
              </a:solidFill>
              <a:latin typeface="Calibri"/>
            </a:endParaRPr>
          </a:p>
          <a:p>
            <a:r>
              <a:rPr sz="800" b="0" i="0">
                <a:solidFill>
                  <a:srgbClr val="1F2A37"/>
                </a:solidFill>
                <a:latin typeface="Calibri"/>
              </a:rPr>
              <a:t>coach</a:t>
            </a:r>
            <a:endParaRPr sz="800" b="0" i="0">
              <a:solidFill>
                <a:srgbClr val="1F2A37"/>
              </a:solidFill>
              <a:latin typeface="Calibri"/>
            </a:endParaRPr>
          </a:p>
        </p:txBody>
      </p:sp>
      <p:sp>
        <p:nvSpPr>
          <p:cNvPr id="4" name="step.right"/>
          <p:cNvSpPr>
            <a:spLocks noGrp="1"/>
          </p:cNvSpPr>
          <p:nvPr>
            <p:ph type="body" idx="11"/>
          </p:nvPr>
        </p:nvSpPr>
        <p:spPr/>
        <p:txBody>
          <a:bodyPr/>
          <a:lstStyle/>
          <a:p>
            <a:r>
              <a:rPr sz="900" b="1" i="0" spc="60">
                <a:solidFill>
                  <a:srgbClr val="0271CE"/>
                </a:solidFill>
                <a:latin typeface="Calibri"/>
              </a:rPr>
              <a:t>RIGHT ANSWER?</a:t>
            </a:r>
            <a:endParaRPr sz="800" b="0" i="0">
              <a:solidFill>
                <a:srgbClr val="1F2A37"/>
              </a:solidFill>
              <a:latin typeface="Calibri"/>
            </a:endParaRPr>
          </a:p>
          <a:p>
            <a:r>
              <a:rPr sz="800" b="0" i="0">
                <a:solidFill>
                  <a:srgbClr val="1F2A37"/>
                </a:solidFill>
                <a:latin typeface="Calibri"/>
              </a:rPr>
              <a:t>No — open judgment.</a:t>
            </a:r>
            <a:endParaRPr sz="800" b="0" i="0">
              <a:solidFill>
                <a:srgbClr val="1F2A37"/>
              </a:solidFill>
              <a:latin typeface="Calibri"/>
            </a:endParaRPr>
          </a:p>
        </p:txBody>
      </p:sp>
      <p:sp>
        <p:nvSpPr>
          <p:cNvPr id="5" name="step.turns"/>
          <p:cNvSpPr>
            <a:spLocks noGrp="1"/>
          </p:cNvSpPr>
          <p:nvPr>
            <p:ph type="body" idx="12"/>
          </p:nvPr>
        </p:nvSpPr>
        <p:spPr/>
        <p:txBody>
          <a:bodyPr/>
          <a:lstStyle/>
          <a:p>
            <a:r>
              <a:rPr sz="900" b="1" i="0" spc="60">
                <a:solidFill>
                  <a:srgbClr val="0271CE"/>
                </a:solidFill>
                <a:latin typeface="Calibri"/>
              </a:rPr>
              <a:t>TURNS</a:t>
            </a:r>
            <a:endParaRPr sz="800" b="0" i="0">
              <a:solidFill>
                <a:srgbClr val="1F2A37"/>
              </a:solidFill>
              <a:latin typeface="Calibri"/>
            </a:endParaRPr>
          </a:p>
          <a:p>
            <a:r>
              <a:rPr sz="800" b="0" i="0">
                <a:solidFill>
                  <a:srgbClr val="1F2A37"/>
                </a:solidFill>
                <a:latin typeface="Calibri"/>
              </a:rPr>
              <a:t>2</a:t>
            </a:r>
            <a:endParaRPr sz="800" b="0" i="0">
              <a:solidFill>
                <a:srgbClr val="1F2A37"/>
              </a:solidFill>
              <a:latin typeface="Calibri"/>
            </a:endParaRPr>
          </a:p>
        </p:txBody>
      </p:sp>
      <p:sp>
        <p:nvSpPr>
          <p:cNvPr id="6" name="step.does"/>
          <p:cNvSpPr>
            <a:spLocks noGrp="1"/>
          </p:cNvSpPr>
          <p:nvPr>
            <p:ph type="body" idx="13"/>
          </p:nvPr>
        </p:nvSpPr>
        <p:spPr/>
        <p:txBody>
          <a:bodyPr/>
          <a:lstStyle/>
          <a:p>
            <a:r>
              <a:rPr sz="900" b="1" i="0" spc="60">
                <a:solidFill>
                  <a:srgbClr val="0271CE"/>
                </a:solidFill>
                <a:latin typeface="Calibri"/>
              </a:rPr>
              <a:t>WHAT THE LEARNER DOES HERE — AND WHY NOW</a:t>
            </a:r>
            <a:endParaRPr sz="800" b="0" i="0">
              <a:solidFill>
                <a:srgbClr val="1F2A37"/>
              </a:solidFill>
              <a:latin typeface="Calibri"/>
            </a:endParaRPr>
          </a:p>
          <a:p>
            <a:r>
              <a:rPr sz="800" b="0" i="0">
                <a:solidFill>
                  <a:srgbClr val="1F2A37"/>
                </a:solidFill>
                <a:latin typeface="Calibri"/>
              </a:rPr>
              <a:t>Set the law aside and think about Marshall as a person: what this is doing to him professionally and personally, and to everyone around him. One probing follow-up at most before the coach pulls it together.</a:t>
            </a:r>
            <a:endParaRPr sz="800" b="0" i="0">
              <a:solidFill>
                <a:srgbClr val="1F2A37"/>
              </a:solidFill>
              <a:latin typeface="Calibri"/>
            </a:endParaRPr>
          </a:p>
        </p:txBody>
      </p:sp>
      <p:sp>
        <p:nvSpPr>
          <p:cNvPr id="7" name="step.opener"/>
          <p:cNvSpPr>
            <a:spLocks noGrp="1"/>
          </p:cNvSpPr>
          <p:nvPr>
            <p:ph type="body" idx="14"/>
          </p:nvPr>
        </p:nvSpPr>
        <p:spPr/>
        <p:txBody>
          <a:bodyPr/>
          <a:lstStyle/>
          <a:p>
            <a:r>
              <a:rPr sz="900" b="1" i="0" spc="60">
                <a:solidFill>
                  <a:srgbClr val="0271CE"/>
                </a:solidFill>
                <a:latin typeface="Calibri"/>
              </a:rPr>
              <a:t>OPENER — VERBATIM</a:t>
            </a:r>
            <a:endParaRPr sz="1000" b="0" i="0">
              <a:solidFill>
                <a:srgbClr val="1F2A37"/>
              </a:solidFill>
              <a:latin typeface="Calibri"/>
            </a:endParaRPr>
          </a:p>
          <a:p>
            <a:r>
              <a:rPr sz="1000" b="0" i="0">
                <a:solidFill>
                  <a:srgbClr val="1F2A37"/>
                </a:solidFill>
                <a:latin typeface="Calibri"/>
              </a:rPr>
              <a:t>“Now that we’ve established what this is legally, let’s shift perspective. Set the legal framework aside for a moment and think about Marshall as a person. What do you think this situation is doing to him professionally and personally? How could this affect others in your workplace?”</a:t>
            </a:r>
            <a:endParaRPr sz="1000" b="0" i="0">
              <a:solidFill>
                <a:srgbClr val="1F2A37"/>
              </a:solidFill>
              <a:latin typeface="Calibri"/>
            </a:endParaRPr>
          </a:p>
        </p:txBody>
      </p:sp>
      <p:sp>
        <p:nvSpPr>
          <p:cNvPr id="8" name="step.tier.unthoughtful"/>
          <p:cNvSpPr>
            <a:spLocks noGrp="1"/>
          </p:cNvSpPr>
          <p:nvPr>
            <p:ph type="body" idx="15"/>
          </p:nvPr>
        </p:nvSpPr>
        <p:spPr/>
        <p:txBody>
          <a:bodyPr/>
          <a:lstStyle/>
          <a:p>
            <a:r>
              <a:rPr sz="900" b="1" i="0" spc="60">
                <a:solidFill>
                  <a:srgbClr val="B54B3A"/>
                </a:solidFill>
                <a:latin typeface="Calibri"/>
              </a:rPr>
              <a:t>UNTHOUGHTFUL</a:t>
            </a:r>
            <a:endParaRPr sz="850" b="0" i="0">
              <a:solidFill>
                <a:srgbClr val="1F2A37"/>
              </a:solidFill>
              <a:latin typeface="Calibri"/>
            </a:endParaRPr>
          </a:p>
          <a:p>
            <a:pPr>
              <a:spcBef>
                <a:spcPts val="400"/>
              </a:spcBef>
            </a:pPr>
            <a:r>
              <a:rPr sz="950" b="1" i="0">
                <a:solidFill>
                  <a:srgbClr val="43505E"/>
                </a:solidFill>
                <a:latin typeface="Calibri"/>
              </a:rPr>
              <a:t>Look for:</a:t>
            </a:r>
            <a:endParaRPr sz="850" b="0" i="0">
              <a:solidFill>
                <a:srgbClr val="1F2A37"/>
              </a:solidFill>
              <a:latin typeface="Calibri"/>
            </a:endParaRPr>
          </a:p>
          <a:p>
            <a:r>
              <a:rPr sz="850" b="0" i="0">
                <a:solidFill>
                  <a:srgbClr val="1F2A37"/>
                </a:solidFill>
                <a:latin typeface="Calibri"/>
              </a:rPr>
              <a:t>Minimizes the impact as surface-level embarrassment. ‘Just jokes’, ‘brush it off.’ Treats Marshall’s reaction as a matter of personal resilience. Doesn’t see the cumulative weight of daily, sustained harassment.</a:t>
            </a:r>
            <a:endParaRPr sz="850" b="0" i="0">
              <a:solidFill>
                <a:srgbClr val="1F2A37"/>
              </a:solidFill>
              <a:latin typeface="Calibri"/>
            </a:endParaRPr>
          </a:p>
          <a:p>
            <a:pPr>
              <a:spcBef>
                <a:spcPts val="400"/>
              </a:spcBef>
            </a:pPr>
            <a:r>
              <a:rPr sz="950" b="1" i="0">
                <a:solidFill>
                  <a:srgbClr val="43505E"/>
                </a:solidFill>
                <a:latin typeface="Calibri"/>
              </a:rPr>
              <a:t>Respond:</a:t>
            </a:r>
            <a:endParaRPr sz="850" b="0" i="0">
              <a:solidFill>
                <a:srgbClr val="1F2A37"/>
              </a:solidFill>
              <a:latin typeface="Calibri"/>
            </a:endParaRPr>
          </a:p>
          <a:p>
            <a:r>
              <a:rPr sz="850" b="0" i="0">
                <a:solidFill>
                  <a:srgbClr val="1F2A37"/>
                </a:solidFill>
                <a:latin typeface="Calibri"/>
              </a:rPr>
              <a:t>Gently challenge the ‘brush it off’ frame. Validate that resilience is real, then introduce what research shows: sustained harassment links to anxiety, performance decline and loss of motivation. Ask what it actually costs Marshall to keep ‘staying professional’ every day.</a:t>
            </a:r>
            <a:endParaRPr sz="850" b="0" i="0">
              <a:solidFill>
                <a:srgbClr val="1F2A37"/>
              </a:solidFill>
              <a:latin typeface="Calibri"/>
            </a:endParaRPr>
          </a:p>
          <a:p>
            <a:pPr>
              <a:spcBef>
                <a:spcPts val="400"/>
              </a:spcBef>
            </a:pPr>
            <a:r>
              <a:rPr sz="950" b="1" i="0">
                <a:solidFill>
                  <a:srgbClr val="43505E"/>
                </a:solidFill>
                <a:latin typeface="Calibri"/>
              </a:rPr>
              <a:t>Scene moves (roleplay only):</a:t>
            </a:r>
            <a:endParaRPr sz="850" b="0" i="0">
              <a:solidFill>
                <a:srgbClr val="1F2A37"/>
              </a:solidFill>
              <a:latin typeface="Calibri"/>
            </a:endParaRPr>
          </a:p>
          <a:p>
            <a:endParaRPr sz="850" b="0" i="0">
              <a:solidFill>
                <a:srgbClr val="1F2A37"/>
              </a:solidFill>
              <a:latin typeface="Calibri"/>
            </a:endParaRPr>
          </a:p>
        </p:txBody>
      </p:sp>
      <p:sp>
        <p:nvSpPr>
          <p:cNvPr id="9" name="step.tier.neutral"/>
          <p:cNvSpPr>
            <a:spLocks noGrp="1"/>
          </p:cNvSpPr>
          <p:nvPr>
            <p:ph type="body" idx="16"/>
          </p:nvPr>
        </p:nvSpPr>
        <p:spPr/>
        <p:txBody>
          <a:bodyPr/>
          <a:lstStyle/>
          <a:p>
            <a:r>
              <a:rPr sz="900" b="1" i="0" spc="60">
                <a:solidFill>
                  <a:srgbClr val="8A6D1F"/>
                </a:solidFill>
                <a:latin typeface="Calibri"/>
              </a:rPr>
              <a:t>NEUTRAL</a:t>
            </a:r>
            <a:endParaRPr sz="900" b="0" i="0">
              <a:solidFill>
                <a:srgbClr val="1F2A37"/>
              </a:solidFill>
              <a:latin typeface="Calibri"/>
            </a:endParaRPr>
          </a:p>
          <a:p>
            <a:pPr>
              <a:spcBef>
                <a:spcPts val="400"/>
              </a:spcBef>
            </a:pPr>
            <a:r>
              <a:rPr sz="950" b="1" i="0">
                <a:solidFill>
                  <a:srgbClr val="43505E"/>
                </a:solidFill>
                <a:latin typeface="Calibri"/>
              </a:rPr>
              <a:t>Look for:</a:t>
            </a:r>
            <a:endParaRPr sz="900" b="0" i="0">
              <a:solidFill>
                <a:srgbClr val="1F2A37"/>
              </a:solidFill>
              <a:latin typeface="Calibri"/>
            </a:endParaRPr>
          </a:p>
          <a:p>
            <a:r>
              <a:rPr sz="900" b="0" i="0">
                <a:solidFill>
                  <a:srgbClr val="1F2A37"/>
                </a:solidFill>
                <a:latin typeface="Calibri"/>
              </a:rPr>
              <a:t>Recognizes psychological discomfort — anxiety, dread, reluctance to be visible. Correctly reads the public images as an escalation. Stays surface-level on the career dimension.</a:t>
            </a:r>
            <a:endParaRPr sz="900" b="0" i="0">
              <a:solidFill>
                <a:srgbClr val="1F2A37"/>
              </a:solidFill>
              <a:latin typeface="Calibri"/>
            </a:endParaRPr>
          </a:p>
          <a:p>
            <a:pPr>
              <a:spcBef>
                <a:spcPts val="400"/>
              </a:spcBef>
            </a:pPr>
            <a:r>
              <a:rPr sz="950" b="1" i="0">
                <a:solidFill>
                  <a:srgbClr val="43505E"/>
                </a:solidFill>
                <a:latin typeface="Calibri"/>
              </a:rPr>
              <a:t>Respond:</a:t>
            </a:r>
            <a:endParaRPr sz="900" b="0" i="0">
              <a:solidFill>
                <a:srgbClr val="1F2A37"/>
              </a:solidFill>
              <a:latin typeface="Calibri"/>
            </a:endParaRPr>
          </a:p>
          <a:p>
            <a:r>
              <a:rPr sz="900" b="0" i="0">
                <a:solidFill>
                  <a:srgbClr val="1F2A37"/>
                </a:solidFill>
                <a:latin typeface="Calibri"/>
              </a:rPr>
              <a:t>Affirm the psychological read and the public-image point. Extend to the career dimension: eight months in is a critical window for credibility. What does it mean to spend energy managing humiliation instead of doing your best work?</a:t>
            </a:r>
            <a:endParaRPr sz="900" b="0" i="0">
              <a:solidFill>
                <a:srgbClr val="1F2A37"/>
              </a:solidFill>
              <a:latin typeface="Calibri"/>
            </a:endParaRPr>
          </a:p>
          <a:p>
            <a:pPr>
              <a:spcBef>
                <a:spcPts val="400"/>
              </a:spcBef>
            </a:pPr>
            <a:r>
              <a:rPr sz="950" b="1" i="0">
                <a:solidFill>
                  <a:srgbClr val="43505E"/>
                </a:solidFill>
                <a:latin typeface="Calibri"/>
              </a:rPr>
              <a:t>Scene moves (roleplay only):</a:t>
            </a:r>
            <a:endParaRPr sz="900" b="0" i="0">
              <a:solidFill>
                <a:srgbClr val="1F2A37"/>
              </a:solidFill>
              <a:latin typeface="Calibri"/>
            </a:endParaRPr>
          </a:p>
          <a:p>
            <a:endParaRPr sz="900" b="0" i="0">
              <a:solidFill>
                <a:srgbClr val="1F2A37"/>
              </a:solidFill>
              <a:latin typeface="Calibri"/>
            </a:endParaRPr>
          </a:p>
        </p:txBody>
      </p:sp>
      <p:sp>
        <p:nvSpPr>
          <p:cNvPr id="10" name="step.tier.strong"/>
          <p:cNvSpPr>
            <a:spLocks noGrp="1"/>
          </p:cNvSpPr>
          <p:nvPr>
            <p:ph type="body" idx="17"/>
          </p:nvPr>
        </p:nvSpPr>
        <p:spPr/>
        <p:txBody>
          <a:bodyPr/>
          <a:lstStyle/>
          <a:p>
            <a:r>
              <a:rPr sz="900" b="1" i="0" spc="60">
                <a:solidFill>
                  <a:srgbClr val="2E7D4F"/>
                </a:solidFill>
                <a:latin typeface="Calibri"/>
              </a:rPr>
              <a:t>STRONG</a:t>
            </a:r>
            <a:endParaRPr sz="850" b="0" i="0">
              <a:solidFill>
                <a:srgbClr val="1F2A37"/>
              </a:solidFill>
              <a:latin typeface="Calibri"/>
            </a:endParaRPr>
          </a:p>
          <a:p>
            <a:pPr>
              <a:spcBef>
                <a:spcPts val="400"/>
              </a:spcBef>
            </a:pPr>
            <a:r>
              <a:rPr sz="950" b="1" i="0">
                <a:solidFill>
                  <a:srgbClr val="43505E"/>
                </a:solidFill>
                <a:latin typeface="Calibri"/>
              </a:rPr>
              <a:t>Look for:</a:t>
            </a:r>
            <a:endParaRPr sz="850" b="0" i="0">
              <a:solidFill>
                <a:srgbClr val="1F2A37"/>
              </a:solidFill>
              <a:latin typeface="Calibri"/>
            </a:endParaRPr>
          </a:p>
          <a:p>
            <a:r>
              <a:rPr sz="850" b="0" i="0">
                <a:solidFill>
                  <a:srgbClr val="1F2A37"/>
                </a:solidFill>
                <a:latin typeface="Calibri"/>
              </a:rPr>
              <a:t>Genuine empathy. Names cumulative, dignity-level harm. Connects personal and professional impact. Reads the public images as serious escalation. May name the power dynamic — a project manager is a participant.</a:t>
            </a:r>
            <a:endParaRPr sz="850" b="0" i="0">
              <a:solidFill>
                <a:srgbClr val="1F2A37"/>
              </a:solidFill>
              <a:latin typeface="Calibri"/>
            </a:endParaRPr>
          </a:p>
          <a:p>
            <a:pPr>
              <a:spcBef>
                <a:spcPts val="400"/>
              </a:spcBef>
            </a:pPr>
            <a:r>
              <a:rPr sz="950" b="1" i="0">
                <a:solidFill>
                  <a:srgbClr val="43505E"/>
                </a:solidFill>
                <a:latin typeface="Calibri"/>
              </a:rPr>
              <a:t>Respond:</a:t>
            </a:r>
            <a:endParaRPr sz="850" b="0" i="0">
              <a:solidFill>
                <a:srgbClr val="1F2A37"/>
              </a:solidFill>
              <a:latin typeface="Calibri"/>
            </a:endParaRPr>
          </a:p>
          <a:p>
            <a:r>
              <a:rPr sz="850" b="0" i="0">
                <a:solidFill>
                  <a:srgbClr val="1F2A37"/>
                </a:solidFill>
                <a:latin typeface="Calibri"/>
              </a:rPr>
              <a:t>Validate fully. Add the broader dimension: unchallenged conduct resets what feels normal and who feels safe to speak up — that is what a hostile work environment means in practice. Every time someone sees this and says nothing, Marshall learns he is alone. That is the bridge to the break room.</a:t>
            </a:r>
            <a:endParaRPr sz="850" b="0" i="0">
              <a:solidFill>
                <a:srgbClr val="1F2A37"/>
              </a:solidFill>
              <a:latin typeface="Calibri"/>
            </a:endParaRPr>
          </a:p>
          <a:p>
            <a:pPr>
              <a:spcBef>
                <a:spcPts val="400"/>
              </a:spcBef>
            </a:pPr>
            <a:r>
              <a:rPr sz="950" b="1" i="0">
                <a:solidFill>
                  <a:srgbClr val="43505E"/>
                </a:solidFill>
                <a:latin typeface="Calibri"/>
              </a:rPr>
              <a:t>Scene moves (roleplay only):</a:t>
            </a:r>
            <a:endParaRPr sz="850" b="0" i="0">
              <a:solidFill>
                <a:srgbClr val="1F2A37"/>
              </a:solidFill>
              <a:latin typeface="Calibri"/>
            </a:endParaRPr>
          </a:p>
          <a:p>
            <a:endParaRPr sz="850" b="0" i="0">
              <a:solidFill>
                <a:srgbClr val="1F2A37"/>
              </a:solidFill>
              <a:latin typeface="Calibri"/>
            </a:endParaRPr>
          </a:p>
        </p:txBody>
      </p:sp>
      <p:sp>
        <p:nvSpPr>
          <p:cNvPr id="11" name="step.debrief"/>
          <p:cNvSpPr>
            <a:spLocks noGrp="1"/>
          </p:cNvSpPr>
          <p:nvPr>
            <p:ph type="body" idx="18"/>
          </p:nvPr>
        </p:nvSpPr>
        <p:spPr/>
        <p:txBody>
          <a:bodyPr/>
          <a:lstStyle/>
          <a:p>
            <a:r>
              <a:rPr sz="900" b="1" i="0" spc="60">
                <a:solidFill>
                  <a:srgbClr val="0271CE"/>
                </a:solidFill>
                <a:latin typeface="Calibri"/>
              </a:rPr>
              <a:t>DEBRIEF LANDS — 2 TO 4 POINTS EVERY LEARNER HEARS, HOWEVER THE ATTEMPT WENT</a:t>
            </a:r>
            <a:endParaRPr sz="950" b="0" i="0">
              <a:solidFill>
                <a:srgbClr val="1F2A37"/>
              </a:solidFill>
              <a:latin typeface="Calibri"/>
            </a:endParaRPr>
          </a:p>
          <a:p>
            <a:r>
              <a:rPr sz="950" b="0" i="0">
                <a:solidFill>
                  <a:srgbClr val="1F2A37"/>
                </a:solidFill>
                <a:latin typeface="Calibri"/>
              </a:rPr>
              <a:t>Sustained harassment links to anxiety, declining performance and lost motivation — ‘putting it aside’ has a real cost.  ·  Eight months in is a critical window for credibility; energy spent managing humiliation is energy not spent on the work.  ·  Unchallenged conduct resets what the whole team treats as normal — which is exactly where bystanders come in.</a:t>
            </a:r>
            <a:endParaRPr sz="950" b="0" i="0">
              <a:solidFill>
                <a:srgbClr val="1F2A37"/>
              </a:solidFill>
              <a:latin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1F2A37"/>
                </a:solidFill>
                <a:latin typeface="Calibri"/>
              </a:rPr>
              <a:t>STEP 3 · Bystander Intervention — The Break Room</a:t>
            </a:r>
          </a:p>
        </p:txBody>
      </p:sp>
      <p:sp>
        <p:nvSpPr>
          <p:cNvPr id="3" name="step.mode"/>
          <p:cNvSpPr>
            <a:spLocks noGrp="1"/>
          </p:cNvSpPr>
          <p:nvPr>
            <p:ph type="body" idx="10"/>
          </p:nvPr>
        </p:nvSpPr>
        <p:spPr/>
        <p:txBody>
          <a:bodyPr/>
          <a:lstStyle/>
          <a:p>
            <a:r>
              <a:rPr sz="900" b="1" i="0" spc="60">
                <a:solidFill>
                  <a:srgbClr val="0271CE"/>
                </a:solidFill>
                <a:latin typeface="Calibri"/>
              </a:rPr>
              <a:t>MODE</a:t>
            </a:r>
            <a:endParaRPr sz="800" b="0" i="0">
              <a:solidFill>
                <a:srgbClr val="1F2A37"/>
              </a:solidFill>
              <a:latin typeface="Calibri"/>
            </a:endParaRPr>
          </a:p>
          <a:p>
            <a:r>
              <a:rPr sz="800" b="0" i="0">
                <a:solidFill>
                  <a:srgbClr val="1F2A37"/>
                </a:solidFill>
                <a:latin typeface="Calibri"/>
              </a:rPr>
              <a:t>roleplay — Jake</a:t>
            </a:r>
            <a:endParaRPr sz="800" b="0" i="0">
              <a:solidFill>
                <a:srgbClr val="1F2A37"/>
              </a:solidFill>
              <a:latin typeface="Calibri"/>
            </a:endParaRPr>
          </a:p>
        </p:txBody>
      </p:sp>
      <p:sp>
        <p:nvSpPr>
          <p:cNvPr id="4" name="step.right"/>
          <p:cNvSpPr>
            <a:spLocks noGrp="1"/>
          </p:cNvSpPr>
          <p:nvPr>
            <p:ph type="body" idx="11"/>
          </p:nvPr>
        </p:nvSpPr>
        <p:spPr/>
        <p:txBody>
          <a:bodyPr/>
          <a:lstStyle/>
          <a:p>
            <a:r>
              <a:rPr sz="900" b="1" i="0" spc="60">
                <a:solidFill>
                  <a:srgbClr val="0271CE"/>
                </a:solidFill>
                <a:latin typeface="Calibri"/>
              </a:rPr>
              <a:t>RIGHT ANSWER?</a:t>
            </a:r>
            <a:endParaRPr sz="800" b="0" i="0">
              <a:solidFill>
                <a:srgbClr val="1F2A37"/>
              </a:solidFill>
              <a:latin typeface="Calibri"/>
            </a:endParaRPr>
          </a:p>
          <a:p>
            <a:r>
              <a:rPr sz="800" b="0" i="0">
                <a:solidFill>
                  <a:srgbClr val="1F2A37"/>
                </a:solidFill>
                <a:latin typeface="Calibri"/>
              </a:rPr>
              <a:t>No — open judgment.</a:t>
            </a:r>
            <a:endParaRPr sz="800" b="0" i="0">
              <a:solidFill>
                <a:srgbClr val="1F2A37"/>
              </a:solidFill>
              <a:latin typeface="Calibri"/>
            </a:endParaRPr>
          </a:p>
        </p:txBody>
      </p:sp>
      <p:sp>
        <p:nvSpPr>
          <p:cNvPr id="5" name="step.turns"/>
          <p:cNvSpPr>
            <a:spLocks noGrp="1"/>
          </p:cNvSpPr>
          <p:nvPr>
            <p:ph type="body" idx="12"/>
          </p:nvPr>
        </p:nvSpPr>
        <p:spPr/>
        <p:txBody>
          <a:bodyPr/>
          <a:lstStyle/>
          <a:p>
            <a:r>
              <a:rPr sz="900" b="1" i="0" spc="60">
                <a:solidFill>
                  <a:srgbClr val="0271CE"/>
                </a:solidFill>
                <a:latin typeface="Calibri"/>
              </a:rPr>
              <a:t>TURNS</a:t>
            </a:r>
            <a:endParaRPr sz="800" b="0" i="0">
              <a:solidFill>
                <a:srgbClr val="1F2A37"/>
              </a:solidFill>
              <a:latin typeface="Calibri"/>
            </a:endParaRPr>
          </a:p>
          <a:p>
            <a:r>
              <a:rPr sz="800" b="0" i="0">
                <a:solidFill>
                  <a:srgbClr val="1F2A37"/>
                </a:solidFill>
                <a:latin typeface="Calibri"/>
              </a:rPr>
              <a:t>2</a:t>
            </a:r>
            <a:endParaRPr sz="800" b="0" i="0">
              <a:solidFill>
                <a:srgbClr val="1F2A37"/>
              </a:solidFill>
              <a:latin typeface="Calibri"/>
            </a:endParaRPr>
          </a:p>
        </p:txBody>
      </p:sp>
      <p:sp>
        <p:nvSpPr>
          <p:cNvPr id="6" name="step.does"/>
          <p:cNvSpPr>
            <a:spLocks noGrp="1"/>
          </p:cNvSpPr>
          <p:nvPr>
            <p:ph type="body" idx="13"/>
          </p:nvPr>
        </p:nvSpPr>
        <p:spPr/>
        <p:txBody>
          <a:bodyPr/>
          <a:lstStyle/>
          <a:p>
            <a:r>
              <a:rPr sz="900" b="1" i="0" spc="60">
                <a:solidFill>
                  <a:srgbClr val="0271CE"/>
                </a:solidFill>
                <a:latin typeface="Calibri"/>
              </a:rPr>
              <a:t>WHAT THE LEARNER DOES HERE — AND WHY NOW</a:t>
            </a:r>
            <a:endParaRPr sz="800" b="0" i="0">
              <a:solidFill>
                <a:srgbClr val="1F2A37"/>
              </a:solidFill>
              <a:latin typeface="Calibri"/>
            </a:endParaRPr>
          </a:p>
          <a:p>
            <a:r>
              <a:rPr sz="800" b="0" i="0">
                <a:solidFill>
                  <a:srgbClr val="1F2A37"/>
                </a:solidFill>
                <a:latin typeface="Calibri"/>
              </a:rPr>
              <a:t>Walk in as Jake makes a ‘Marsha’ comment with the room watching, and act — what the learner types is what they do and say in front of everyone. The scene reacts to the approach; after turn two it closes and the coach debriefs.</a:t>
            </a:r>
            <a:endParaRPr sz="800" b="0" i="0">
              <a:solidFill>
                <a:srgbClr val="1F2A37"/>
              </a:solidFill>
              <a:latin typeface="Calibri"/>
            </a:endParaRPr>
          </a:p>
        </p:txBody>
      </p:sp>
      <p:sp>
        <p:nvSpPr>
          <p:cNvPr id="7" name="step.opener"/>
          <p:cNvSpPr>
            <a:spLocks noGrp="1"/>
          </p:cNvSpPr>
          <p:nvPr>
            <p:ph type="body" idx="14"/>
          </p:nvPr>
        </p:nvSpPr>
        <p:spPr/>
        <p:txBody>
          <a:bodyPr/>
          <a:lstStyle/>
          <a:p>
            <a:r>
              <a:rPr sz="900" b="1" i="0" spc="60">
                <a:solidFill>
                  <a:srgbClr val="0271CE"/>
                </a:solidFill>
                <a:latin typeface="Calibri"/>
              </a:rPr>
              <a:t>OPENER — VERBATIM</a:t>
            </a:r>
            <a:endParaRPr sz="1000" b="0" i="0">
              <a:solidFill>
                <a:srgbClr val="1F2A37"/>
              </a:solidFill>
              <a:latin typeface="Calibri"/>
            </a:endParaRPr>
          </a:p>
          <a:p>
            <a:r>
              <a:rPr sz="1000" b="0" i="0">
                <a:solidFill>
                  <a:srgbClr val="1F2A37"/>
                </a:solidFill>
                <a:latin typeface="Calibri"/>
              </a:rPr>
              <a:t>Narrator: Marshall is getting coffee and a few others are sitting around talking. Jake stands next to Marshall and pours himself a cup.</a:t>
            </a:r>
            <a:endParaRPr sz="1000" b="0" i="0">
              <a:solidFill>
                <a:srgbClr val="1F2A37"/>
              </a:solidFill>
              <a:latin typeface="Calibri"/>
            </a:endParaRPr>
          </a:p>
          <a:p>
            <a:r>
              <a:rPr sz="1000" b="0" i="0">
                <a:solidFill>
                  <a:srgbClr val="1F2A37"/>
                </a:solidFill>
                <a:latin typeface="Calibri"/>
              </a:rPr>
              <a:t>Jake: “Hey, did you make this? Guess that’s what you’re here for — living your best Marsha life.”</a:t>
            </a:r>
            <a:endParaRPr sz="1000" b="0" i="0">
              <a:solidFill>
                <a:srgbClr val="1F2A37"/>
              </a:solidFill>
              <a:latin typeface="Calibri"/>
            </a:endParaRPr>
          </a:p>
          <a:p>
            <a:r>
              <a:rPr sz="1000" b="0" i="0">
                <a:solidFill>
                  <a:srgbClr val="1F2A37"/>
                </a:solidFill>
                <a:latin typeface="Calibri"/>
              </a:rPr>
              <a:t>Narrator: He grins and looks around as you walk into the break room and witness the exchange.</a:t>
            </a:r>
            <a:endParaRPr sz="1000" b="0" i="0">
              <a:solidFill>
                <a:srgbClr val="1F2A37"/>
              </a:solidFill>
              <a:latin typeface="Calibri"/>
            </a:endParaRPr>
          </a:p>
        </p:txBody>
      </p:sp>
      <p:sp>
        <p:nvSpPr>
          <p:cNvPr id="8" name="step.tier.unthoughtful"/>
          <p:cNvSpPr>
            <a:spLocks noGrp="1"/>
          </p:cNvSpPr>
          <p:nvPr>
            <p:ph type="body" idx="15"/>
          </p:nvPr>
        </p:nvSpPr>
        <p:spPr/>
        <p:txBody>
          <a:bodyPr/>
          <a:lstStyle/>
          <a:p>
            <a:r>
              <a:rPr sz="900" b="1" i="0" spc="60">
                <a:solidFill>
                  <a:srgbClr val="B54B3A"/>
                </a:solidFill>
                <a:latin typeface="Calibri"/>
              </a:rPr>
              <a:t>UNTHOUGHTFUL</a:t>
            </a:r>
            <a:endParaRPr sz="850" b="0" i="0">
              <a:solidFill>
                <a:srgbClr val="1F2A37"/>
              </a:solidFill>
              <a:latin typeface="Calibri"/>
            </a:endParaRPr>
          </a:p>
          <a:p>
            <a:pPr>
              <a:spcBef>
                <a:spcPts val="400"/>
              </a:spcBef>
            </a:pPr>
            <a:r>
              <a:rPr sz="950" b="1" i="0">
                <a:solidFill>
                  <a:srgbClr val="43505E"/>
                </a:solidFill>
                <a:latin typeface="Calibri"/>
              </a:rPr>
              <a:t>Look for:</a:t>
            </a:r>
            <a:endParaRPr sz="850" b="0" i="0">
              <a:solidFill>
                <a:srgbClr val="1F2A37"/>
              </a:solidFill>
              <a:latin typeface="Calibri"/>
            </a:endParaRPr>
          </a:p>
          <a:p>
            <a:r>
              <a:rPr sz="850" b="0" i="0">
                <a:solidFill>
                  <a:srgbClr val="1F2A37"/>
                </a:solidFill>
                <a:latin typeface="Calibri"/>
              </a:rPr>
              <a:t>Non-intervention — looks away, stays quiet, laughs along; ‘not my place.’ Or aggression toward Jake. Or putting the onus on Marshall (‘stand up for yourself’).</a:t>
            </a:r>
            <a:endParaRPr sz="850" b="0" i="0">
              <a:solidFill>
                <a:srgbClr val="1F2A37"/>
              </a:solidFill>
              <a:latin typeface="Calibri"/>
            </a:endParaRPr>
          </a:p>
          <a:p>
            <a:pPr>
              <a:spcBef>
                <a:spcPts val="400"/>
              </a:spcBef>
            </a:pPr>
            <a:r>
              <a:rPr sz="950" b="1" i="0">
                <a:solidFill>
                  <a:srgbClr val="43505E"/>
                </a:solidFill>
                <a:latin typeface="Calibri"/>
              </a:rPr>
              <a:t>Respond:</a:t>
            </a:r>
            <a:endParaRPr sz="850" b="0" i="0">
              <a:solidFill>
                <a:srgbClr val="1F2A37"/>
              </a:solidFill>
              <a:latin typeface="Calibri"/>
            </a:endParaRPr>
          </a:p>
          <a:p>
            <a:r>
              <a:rPr sz="850" b="0" i="0">
                <a:solidFill>
                  <a:srgbClr val="1F2A37"/>
                </a:solidFill>
                <a:latin typeface="Calibri"/>
              </a:rPr>
              <a:t>Name what silence communicates: Jake reads permission, Marshall reads that no one sees it. Others are likely uncomfortable too and will back you. Intervening doesn’t require confrontation — offer low-key options, ask what feels manageable.</a:t>
            </a:r>
            <a:endParaRPr sz="850" b="0" i="0">
              <a:solidFill>
                <a:srgbClr val="1F2A37"/>
              </a:solidFill>
              <a:latin typeface="Calibri"/>
            </a:endParaRPr>
          </a:p>
          <a:p>
            <a:pPr>
              <a:spcBef>
                <a:spcPts val="400"/>
              </a:spcBef>
            </a:pPr>
            <a:r>
              <a:rPr sz="950" b="1" i="0">
                <a:solidFill>
                  <a:srgbClr val="43505E"/>
                </a:solidFill>
                <a:latin typeface="Calibri"/>
              </a:rPr>
              <a:t>Scene moves (roleplay only):</a:t>
            </a:r>
            <a:endParaRPr sz="850" b="0" i="0">
              <a:solidFill>
                <a:srgbClr val="1F2A37"/>
              </a:solidFill>
              <a:latin typeface="Calibri"/>
            </a:endParaRPr>
          </a:p>
          <a:p>
            <a:r>
              <a:rPr sz="850" b="0" i="0">
                <a:solidFill>
                  <a:srgbClr val="1F2A37"/>
                </a:solidFill>
                <a:latin typeface="Calibri"/>
              </a:rPr>
              <a:t>Jake reads silence as a green light and escalates for laughs, or meets aggression in kind. Marshall stares at the floor, put on the spot or unsupported.</a:t>
            </a:r>
            <a:endParaRPr sz="850" b="0" i="0">
              <a:solidFill>
                <a:srgbClr val="1F2A37"/>
              </a:solidFill>
              <a:latin typeface="Calibri"/>
            </a:endParaRPr>
          </a:p>
        </p:txBody>
      </p:sp>
      <p:sp>
        <p:nvSpPr>
          <p:cNvPr id="9" name="step.tier.neutral"/>
          <p:cNvSpPr>
            <a:spLocks noGrp="1"/>
          </p:cNvSpPr>
          <p:nvPr>
            <p:ph type="body" idx="16"/>
          </p:nvPr>
        </p:nvSpPr>
        <p:spPr/>
        <p:txBody>
          <a:bodyPr/>
          <a:lstStyle/>
          <a:p>
            <a:r>
              <a:rPr sz="900" b="1" i="0" spc="60">
                <a:solidFill>
                  <a:srgbClr val="8A6D1F"/>
                </a:solidFill>
                <a:latin typeface="Calibri"/>
              </a:rPr>
              <a:t>NEUTRAL</a:t>
            </a:r>
            <a:endParaRPr sz="800" b="0" i="0">
              <a:solidFill>
                <a:srgbClr val="1F2A37"/>
              </a:solidFill>
              <a:latin typeface="Calibri"/>
            </a:endParaRPr>
          </a:p>
          <a:p>
            <a:pPr>
              <a:spcBef>
                <a:spcPts val="400"/>
              </a:spcBef>
            </a:pPr>
            <a:r>
              <a:rPr sz="950" b="1" i="0">
                <a:solidFill>
                  <a:srgbClr val="43505E"/>
                </a:solidFill>
                <a:latin typeface="Calibri"/>
              </a:rPr>
              <a:t>Look for:</a:t>
            </a:r>
            <a:endParaRPr sz="800" b="0" i="0">
              <a:solidFill>
                <a:srgbClr val="1F2A37"/>
              </a:solidFill>
              <a:latin typeface="Calibri"/>
            </a:endParaRPr>
          </a:p>
          <a:p>
            <a:r>
              <a:rPr sz="800" b="0" i="0">
                <a:solidFill>
                  <a:srgbClr val="1F2A37"/>
                </a:solidFill>
                <a:latin typeface="Calibri"/>
              </a:rPr>
              <a:t>Uncomfortable and wants to act — a look, a subject change, a vague redirect. Right instinct, vague execution: nothing clearly signals the behavior is a problem. Unlikely to check in with Marshall after.</a:t>
            </a:r>
            <a:endParaRPr sz="800" b="0" i="0">
              <a:solidFill>
                <a:srgbClr val="1F2A37"/>
              </a:solidFill>
              <a:latin typeface="Calibri"/>
            </a:endParaRPr>
          </a:p>
          <a:p>
            <a:pPr>
              <a:spcBef>
                <a:spcPts val="400"/>
              </a:spcBef>
            </a:pPr>
            <a:r>
              <a:rPr sz="950" b="1" i="0">
                <a:solidFill>
                  <a:srgbClr val="43505E"/>
                </a:solidFill>
                <a:latin typeface="Calibri"/>
              </a:rPr>
              <a:t>Respond:</a:t>
            </a:r>
            <a:endParaRPr sz="800" b="0" i="0">
              <a:solidFill>
                <a:srgbClr val="1F2A37"/>
              </a:solidFill>
              <a:latin typeface="Calibri"/>
            </a:endParaRPr>
          </a:p>
          <a:p>
            <a:r>
              <a:rPr sz="800" b="0" i="0">
                <a:solidFill>
                  <a:srgbClr val="1F2A37"/>
                </a:solidFill>
                <a:latin typeface="Calibri"/>
              </a:rPr>
              <a:t>Affirm the redirect as a real bystander move, then push for specificity — ‘shift things somehow’ stays invisible. Offer a concrete pivot (‘Hey Jake, what’s the update on Henderson?’) and add the follow-up with Marshall.</a:t>
            </a:r>
            <a:endParaRPr sz="800" b="0" i="0">
              <a:solidFill>
                <a:srgbClr val="1F2A37"/>
              </a:solidFill>
              <a:latin typeface="Calibri"/>
            </a:endParaRPr>
          </a:p>
          <a:p>
            <a:pPr>
              <a:spcBef>
                <a:spcPts val="400"/>
              </a:spcBef>
            </a:pPr>
            <a:r>
              <a:rPr sz="950" b="1" i="0">
                <a:solidFill>
                  <a:srgbClr val="43505E"/>
                </a:solidFill>
                <a:latin typeface="Calibri"/>
              </a:rPr>
              <a:t>Scene moves (roleplay only):</a:t>
            </a:r>
            <a:endParaRPr sz="800" b="0" i="0">
              <a:solidFill>
                <a:srgbClr val="1F2A37"/>
              </a:solidFill>
              <a:latin typeface="Calibri"/>
            </a:endParaRPr>
          </a:p>
          <a:p>
            <a:r>
              <a:rPr sz="800" b="0" i="0">
                <a:solidFill>
                  <a:srgbClr val="1F2A37"/>
                </a:solidFill>
                <a:latin typeface="Calibri"/>
              </a:rPr>
              <a:t>Jake breezes past the redirect or excuses it as a joke; the subject change doesn’t take. Marshall glances at the learner — unclear what he made of it.</a:t>
            </a:r>
            <a:endParaRPr sz="800" b="0" i="0">
              <a:solidFill>
                <a:srgbClr val="1F2A37"/>
              </a:solidFill>
              <a:latin typeface="Calibri"/>
            </a:endParaRPr>
          </a:p>
        </p:txBody>
      </p:sp>
      <p:sp>
        <p:nvSpPr>
          <p:cNvPr id="10" name="step.tier.strong"/>
          <p:cNvSpPr>
            <a:spLocks noGrp="1"/>
          </p:cNvSpPr>
          <p:nvPr>
            <p:ph type="body" idx="17"/>
          </p:nvPr>
        </p:nvSpPr>
        <p:spPr/>
        <p:txBody>
          <a:bodyPr/>
          <a:lstStyle/>
          <a:p>
            <a:r>
              <a:rPr sz="900" b="1" i="0" spc="60">
                <a:solidFill>
                  <a:srgbClr val="2E7D4F"/>
                </a:solidFill>
                <a:latin typeface="Calibri"/>
              </a:rPr>
              <a:t>STRONG</a:t>
            </a:r>
            <a:endParaRPr sz="800" b="0" i="0">
              <a:solidFill>
                <a:srgbClr val="1F2A37"/>
              </a:solidFill>
              <a:latin typeface="Calibri"/>
            </a:endParaRPr>
          </a:p>
          <a:p>
            <a:pPr>
              <a:spcBef>
                <a:spcPts val="400"/>
              </a:spcBef>
            </a:pPr>
            <a:r>
              <a:rPr sz="950" b="1" i="0">
                <a:solidFill>
                  <a:srgbClr val="43505E"/>
                </a:solidFill>
                <a:latin typeface="Calibri"/>
              </a:rPr>
              <a:t>Look for:</a:t>
            </a:r>
            <a:endParaRPr sz="800" b="0" i="0">
              <a:solidFill>
                <a:srgbClr val="1F2A37"/>
              </a:solidFill>
              <a:latin typeface="Calibri"/>
            </a:endParaRPr>
          </a:p>
          <a:p>
            <a:r>
              <a:rPr sz="800" b="0" i="0">
                <a:solidFill>
                  <a:srgbClr val="1F2A37"/>
                </a:solidFill>
                <a:latin typeface="Calibri"/>
              </a:rPr>
              <a:t>A direct or indirect signal that the behavior isn’t supported — ‘I don’t really appreciate that’, ‘that’s not a professional thing to say.’ Plans to check in with Marshall privately. Considers escalating per policy.</a:t>
            </a:r>
            <a:endParaRPr sz="800" b="0" i="0">
              <a:solidFill>
                <a:srgbClr val="1F2A37"/>
              </a:solidFill>
              <a:latin typeface="Calibri"/>
            </a:endParaRPr>
          </a:p>
          <a:p>
            <a:pPr>
              <a:spcBef>
                <a:spcPts val="400"/>
              </a:spcBef>
            </a:pPr>
            <a:r>
              <a:rPr sz="950" b="1" i="0">
                <a:solidFill>
                  <a:srgbClr val="43505E"/>
                </a:solidFill>
                <a:latin typeface="Calibri"/>
              </a:rPr>
              <a:t>Respond:</a:t>
            </a:r>
            <a:endParaRPr sz="800" b="0" i="0">
              <a:solidFill>
                <a:srgbClr val="1F2A37"/>
              </a:solidFill>
              <a:latin typeface="Calibri"/>
            </a:endParaRPr>
          </a:p>
          <a:p>
            <a:r>
              <a:rPr sz="800" b="0" i="0">
                <a:solidFill>
                  <a:srgbClr val="1F2A37"/>
                </a:solidFill>
                <a:latin typeface="Calibri"/>
              </a:rPr>
              <a:t>Validate all three components — action in the moment, follow-up with Marshall, escalation. Note that the organization’s harassment policy may define specific witness obligations. Any of the three moves beats silence.</a:t>
            </a:r>
            <a:endParaRPr sz="800" b="0" i="0">
              <a:solidFill>
                <a:srgbClr val="1F2A37"/>
              </a:solidFill>
              <a:latin typeface="Calibri"/>
            </a:endParaRPr>
          </a:p>
          <a:p>
            <a:pPr>
              <a:spcBef>
                <a:spcPts val="400"/>
              </a:spcBef>
            </a:pPr>
            <a:r>
              <a:rPr sz="950" b="1" i="0">
                <a:solidFill>
                  <a:srgbClr val="43505E"/>
                </a:solidFill>
                <a:latin typeface="Calibri"/>
              </a:rPr>
              <a:t>Scene moves (roleplay only):</a:t>
            </a:r>
            <a:endParaRPr sz="800" b="0" i="0">
              <a:solidFill>
                <a:srgbClr val="1F2A37"/>
              </a:solidFill>
              <a:latin typeface="Calibri"/>
            </a:endParaRPr>
          </a:p>
          <a:p>
            <a:r>
              <a:rPr sz="800" b="0" i="0">
                <a:solidFill>
                  <a:srgbClr val="1F2A37"/>
                </a:solidFill>
                <a:latin typeface="Calibri"/>
              </a:rPr>
              <a:t>The callout lands, but Jake resists — ‘Whoa, relax, it was a joke. Right, Marshall?’ — and glances around for backup. The room goes quiet. Marshall is steadier, not alone.</a:t>
            </a:r>
            <a:endParaRPr sz="800" b="0" i="0">
              <a:solidFill>
                <a:srgbClr val="1F2A37"/>
              </a:solidFill>
              <a:latin typeface="Calibri"/>
            </a:endParaRPr>
          </a:p>
        </p:txBody>
      </p:sp>
      <p:sp>
        <p:nvSpPr>
          <p:cNvPr id="11" name="step.debrief"/>
          <p:cNvSpPr>
            <a:spLocks noGrp="1"/>
          </p:cNvSpPr>
          <p:nvPr>
            <p:ph type="body" idx="18"/>
          </p:nvPr>
        </p:nvSpPr>
        <p:spPr/>
        <p:txBody>
          <a:bodyPr/>
          <a:lstStyle/>
          <a:p>
            <a:r>
              <a:rPr sz="900" b="1" i="0" spc="60">
                <a:solidFill>
                  <a:srgbClr val="0271CE"/>
                </a:solidFill>
                <a:latin typeface="Calibri"/>
              </a:rPr>
              <a:t>DEBRIEF LANDS — 2 TO 4 POINTS EVERY LEARNER HEARS, HOWEVER THE ATTEMPT WENT</a:t>
            </a:r>
            <a:endParaRPr sz="800" b="0" i="0">
              <a:solidFill>
                <a:srgbClr val="1F2A37"/>
              </a:solidFill>
              <a:latin typeface="Calibri"/>
            </a:endParaRPr>
          </a:p>
          <a:p>
            <a:r>
              <a:rPr sz="800" b="0" i="0">
                <a:solidFill>
                  <a:srgbClr val="1F2A37"/>
                </a:solidFill>
                <a:latin typeface="Calibri"/>
              </a:rPr>
              <a:t>Silence is not neutral — Jake reads it as permission and Marshall reads it as no one noticing.  ·  Pick an Action: a direct signal or an indirect redirect both count; confrontation is one option, not the only one.  ·  Offer Support: check in with Marshall privately after.  ·  Consider Escalating: the organization’s policy may define witness obligations, and a bystander can report independently of Marshall.</a:t>
            </a:r>
            <a:endParaRPr sz="800" b="0" i="0">
              <a:solidFill>
                <a:srgbClr val="1F2A37"/>
              </a:solidFill>
              <a:latin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1F2A37"/>
                </a:solidFill>
                <a:latin typeface="Calibri"/>
              </a:rPr>
              <a:t>STEP 3 · EXAMPLES (optional)</a:t>
            </a:r>
          </a:p>
        </p:txBody>
      </p:sp>
      <p:sp>
        <p:nvSpPr>
          <p:cNvPr id="3" name="example.tier.unthoughtful"/>
          <p:cNvSpPr>
            <a:spLocks noGrp="1"/>
          </p:cNvSpPr>
          <p:nvPr>
            <p:ph type="body" idx="10"/>
          </p:nvPr>
        </p:nvSpPr>
        <p:spPr/>
        <p:txBody>
          <a:bodyPr/>
          <a:lstStyle/>
          <a:p>
            <a:r>
              <a:rPr sz="900" b="1" i="0" spc="60">
                <a:solidFill>
                  <a:srgbClr val="B54B3A"/>
                </a:solidFill>
                <a:latin typeface="Calibri"/>
              </a:rPr>
              <a:t>UNTHOUGHTFUL</a:t>
            </a:r>
            <a:endParaRPr sz="1100" b="0" i="0">
              <a:solidFill>
                <a:srgbClr val="1F2A37"/>
              </a:solidFill>
              <a:latin typeface="Calibri"/>
            </a:endParaRPr>
          </a:p>
          <a:p>
            <a:pPr>
              <a:spcBef>
                <a:spcPts val="400"/>
              </a:spcBef>
            </a:pPr>
            <a:r>
              <a:rPr sz="950" b="1" i="0">
                <a:solidFill>
                  <a:srgbClr val="43505E"/>
                </a:solidFill>
                <a:latin typeface="Calibri"/>
              </a:rPr>
              <a:t>Learner:</a:t>
            </a:r>
            <a:endParaRPr sz="1100" b="0" i="0">
              <a:solidFill>
                <a:srgbClr val="1F2A37"/>
              </a:solidFill>
              <a:latin typeface="Calibri"/>
            </a:endParaRPr>
          </a:p>
          <a:p>
            <a:r>
              <a:rPr sz="1100" b="0" i="0">
                <a:solidFill>
                  <a:srgbClr val="1F2A37"/>
                </a:solidFill>
                <a:latin typeface="Calibri"/>
              </a:rPr>
              <a:t>“Honestly I’d probably just look down. I don’t want to get in the middle of something between two colleagues. If I say something, I might make it a bigger deal than it needs to be.”</a:t>
            </a:r>
            <a:endParaRPr sz="1100" b="0" i="0">
              <a:solidFill>
                <a:srgbClr val="1F2A37"/>
              </a:solidFill>
              <a:latin typeface="Calibri"/>
            </a:endParaRPr>
          </a:p>
          <a:p>
            <a:pPr>
              <a:spcBef>
                <a:spcPts val="400"/>
              </a:spcBef>
            </a:pPr>
            <a:r>
              <a:rPr sz="950" b="1" i="0">
                <a:solidFill>
                  <a:srgbClr val="43505E"/>
                </a:solidFill>
                <a:latin typeface="Calibri"/>
              </a:rPr>
              <a:t>Reply:</a:t>
            </a:r>
            <a:endParaRPr sz="1100" b="0" i="0">
              <a:solidFill>
                <a:srgbClr val="1F2A37"/>
              </a:solidFill>
              <a:latin typeface="Calibri"/>
            </a:endParaRPr>
          </a:p>
          <a:p>
            <a:r>
              <a:rPr sz="1100" b="0" i="0">
                <a:solidFill>
                  <a:srgbClr val="1F2A37"/>
                </a:solidFill>
                <a:latin typeface="Calibri"/>
              </a:rPr>
              <a:t>Narrator: You keep your eyes on the floor and stay quiet. Jake reads the silence as a green light.</a:t>
            </a:r>
            <a:endParaRPr sz="1100" b="0" i="0">
              <a:solidFill>
                <a:srgbClr val="1F2A37"/>
              </a:solidFill>
              <a:latin typeface="Calibri"/>
            </a:endParaRPr>
          </a:p>
          <a:p>
            <a:r>
              <a:rPr sz="1100" b="0" i="0">
                <a:solidFill>
                  <a:srgbClr val="1F2A37"/>
                </a:solidFill>
                <a:latin typeface="Calibri"/>
              </a:rPr>
              <a:t>Jake: “Anyone else need dear little Marsha to make them a cup of coffee?”</a:t>
            </a:r>
            <a:endParaRPr sz="1100" b="0" i="0">
              <a:solidFill>
                <a:srgbClr val="1F2A37"/>
              </a:solidFill>
              <a:latin typeface="Calibri"/>
            </a:endParaRPr>
          </a:p>
          <a:p>
            <a:r>
              <a:rPr sz="1100" b="0" i="0">
                <a:solidFill>
                  <a:srgbClr val="1F2A37"/>
                </a:solidFill>
                <a:latin typeface="Calibri"/>
              </a:rPr>
              <a:t>Narrator: A couple of people chuckle along and Marshall stares at the floor, edging toward the door. The moment is still hanging there.</a:t>
            </a:r>
            <a:endParaRPr sz="1100" b="0" i="0">
              <a:solidFill>
                <a:srgbClr val="1F2A37"/>
              </a:solidFill>
              <a:latin typeface="Calibri"/>
            </a:endParaRPr>
          </a:p>
        </p:txBody>
      </p:sp>
      <p:sp>
        <p:nvSpPr>
          <p:cNvPr id="4" name="example.tier.neutral"/>
          <p:cNvSpPr>
            <a:spLocks noGrp="1"/>
          </p:cNvSpPr>
          <p:nvPr>
            <p:ph type="body" idx="11"/>
          </p:nvPr>
        </p:nvSpPr>
        <p:spPr/>
        <p:txBody>
          <a:bodyPr/>
          <a:lstStyle/>
          <a:p>
            <a:r>
              <a:rPr sz="900" b="1" i="0" spc="60">
                <a:solidFill>
                  <a:srgbClr val="8A6D1F"/>
                </a:solidFill>
                <a:latin typeface="Calibri"/>
              </a:rPr>
              <a:t>NEUTRAL</a:t>
            </a:r>
            <a:endParaRPr sz="1100" b="0" i="0">
              <a:solidFill>
                <a:srgbClr val="1F2A37"/>
              </a:solidFill>
              <a:latin typeface="Calibri"/>
            </a:endParaRPr>
          </a:p>
          <a:p>
            <a:pPr>
              <a:spcBef>
                <a:spcPts val="400"/>
              </a:spcBef>
            </a:pPr>
            <a:r>
              <a:rPr sz="950" b="1" i="0">
                <a:solidFill>
                  <a:srgbClr val="43505E"/>
                </a:solidFill>
                <a:latin typeface="Calibri"/>
              </a:rPr>
              <a:t>Learner:</a:t>
            </a:r>
            <a:endParaRPr sz="1100" b="0" i="0">
              <a:solidFill>
                <a:srgbClr val="1F2A37"/>
              </a:solidFill>
              <a:latin typeface="Calibri"/>
            </a:endParaRPr>
          </a:p>
          <a:p>
            <a:r>
              <a:rPr sz="1100" b="0" i="0">
                <a:solidFill>
                  <a:srgbClr val="1F2A37"/>
                </a:solidFill>
                <a:latin typeface="Calibri"/>
              </a:rPr>
              <a:t>“I might give Jake a look or try to change the subject quickly. I wouldn’t call it out directly but I’d try to shift things somehow.”</a:t>
            </a:r>
            <a:endParaRPr sz="1100" b="0" i="0">
              <a:solidFill>
                <a:srgbClr val="1F2A37"/>
              </a:solidFill>
              <a:latin typeface="Calibri"/>
            </a:endParaRPr>
          </a:p>
          <a:p>
            <a:pPr>
              <a:spcBef>
                <a:spcPts val="400"/>
              </a:spcBef>
            </a:pPr>
            <a:r>
              <a:rPr sz="950" b="1" i="0">
                <a:solidFill>
                  <a:srgbClr val="43505E"/>
                </a:solidFill>
                <a:latin typeface="Calibri"/>
              </a:rPr>
              <a:t>Reply:</a:t>
            </a:r>
            <a:endParaRPr sz="1100" b="0" i="0">
              <a:solidFill>
                <a:srgbClr val="1F2A37"/>
              </a:solidFill>
              <a:latin typeface="Calibri"/>
            </a:endParaRPr>
          </a:p>
          <a:p>
            <a:r>
              <a:rPr sz="1100" b="0" i="0">
                <a:solidFill>
                  <a:srgbClr val="1F2A37"/>
                </a:solidFill>
                <a:latin typeface="Calibri"/>
              </a:rPr>
              <a:t>Narrator: You catch Jake’s eye and try to steer things elsewhere, but Jake breezes right past it.</a:t>
            </a:r>
            <a:endParaRPr sz="1100" b="0" i="0">
              <a:solidFill>
                <a:srgbClr val="1F2A37"/>
              </a:solidFill>
              <a:latin typeface="Calibri"/>
            </a:endParaRPr>
          </a:p>
          <a:p>
            <a:r>
              <a:rPr sz="1100" b="0" i="0">
                <a:solidFill>
                  <a:srgbClr val="1F2A37"/>
                </a:solidFill>
                <a:latin typeface="Calibri"/>
              </a:rPr>
              <a:t>Jake: “I’m just saying, Marsha’s the best coffee maker we have.”</a:t>
            </a:r>
            <a:endParaRPr sz="1100" b="0" i="0">
              <a:solidFill>
                <a:srgbClr val="1F2A37"/>
              </a:solidFill>
              <a:latin typeface="Calibri"/>
            </a:endParaRPr>
          </a:p>
          <a:p>
            <a:r>
              <a:rPr sz="1100" b="0" i="0">
                <a:solidFill>
                  <a:srgbClr val="1F2A37"/>
                </a:solidFill>
                <a:latin typeface="Calibri"/>
              </a:rPr>
              <a:t>Narrator: The subject-change doesn’t take; Jake loops back to the joke and the room is still watching. Marshall shifts, unsure whether anyone’s actually going to say something.</a:t>
            </a:r>
            <a:endParaRPr sz="1100" b="0" i="0">
              <a:solidFill>
                <a:srgbClr val="1F2A37"/>
              </a:solidFill>
              <a:latin typeface="Calibri"/>
            </a:endParaRPr>
          </a:p>
        </p:txBody>
      </p:sp>
      <p:sp>
        <p:nvSpPr>
          <p:cNvPr id="5" name="example.tier.strong"/>
          <p:cNvSpPr>
            <a:spLocks noGrp="1"/>
          </p:cNvSpPr>
          <p:nvPr>
            <p:ph type="body" idx="12"/>
          </p:nvPr>
        </p:nvSpPr>
        <p:spPr/>
        <p:txBody>
          <a:bodyPr/>
          <a:lstStyle/>
          <a:p>
            <a:r>
              <a:rPr sz="900" b="1" i="0" spc="60">
                <a:solidFill>
                  <a:srgbClr val="2E7D4F"/>
                </a:solidFill>
                <a:latin typeface="Calibri"/>
              </a:rPr>
              <a:t>STRONG</a:t>
            </a:r>
            <a:endParaRPr sz="1100" b="0" i="0">
              <a:solidFill>
                <a:srgbClr val="1F2A37"/>
              </a:solidFill>
              <a:latin typeface="Calibri"/>
            </a:endParaRPr>
          </a:p>
          <a:p>
            <a:pPr>
              <a:spcBef>
                <a:spcPts val="400"/>
              </a:spcBef>
            </a:pPr>
            <a:r>
              <a:rPr sz="950" b="1" i="0">
                <a:solidFill>
                  <a:srgbClr val="43505E"/>
                </a:solidFill>
                <a:latin typeface="Calibri"/>
              </a:rPr>
              <a:t>Learner:</a:t>
            </a:r>
            <a:endParaRPr sz="1100" b="0" i="0">
              <a:solidFill>
                <a:srgbClr val="1F2A37"/>
              </a:solidFill>
              <a:latin typeface="Calibri"/>
            </a:endParaRPr>
          </a:p>
          <a:p>
            <a:r>
              <a:rPr sz="1100" b="0" i="0">
                <a:solidFill>
                  <a:srgbClr val="1F2A37"/>
                </a:solidFill>
                <a:latin typeface="Calibri"/>
              </a:rPr>
              <a:t>“I’d say ‘Hey, that’s not cool, Jake’ — not a confrontation, just enough to signal it’s not okay. Then I’d check in with Marshall after. And given how often this seems to happen, I’d probably talk to my manager or HR about it.”</a:t>
            </a:r>
            <a:endParaRPr sz="1100" b="0" i="0">
              <a:solidFill>
                <a:srgbClr val="1F2A37"/>
              </a:solidFill>
              <a:latin typeface="Calibri"/>
            </a:endParaRPr>
          </a:p>
          <a:p>
            <a:pPr>
              <a:spcBef>
                <a:spcPts val="400"/>
              </a:spcBef>
            </a:pPr>
            <a:r>
              <a:rPr sz="950" b="1" i="0">
                <a:solidFill>
                  <a:srgbClr val="43505E"/>
                </a:solidFill>
                <a:latin typeface="Calibri"/>
              </a:rPr>
              <a:t>Reply:</a:t>
            </a:r>
            <a:endParaRPr sz="1100" b="0" i="0">
              <a:solidFill>
                <a:srgbClr val="1F2A37"/>
              </a:solidFill>
              <a:latin typeface="Calibri"/>
            </a:endParaRPr>
          </a:p>
          <a:p>
            <a:r>
              <a:rPr sz="1100" b="0" i="0">
                <a:solidFill>
                  <a:srgbClr val="1F2A37"/>
                </a:solidFill>
                <a:latin typeface="Calibri"/>
              </a:rPr>
              <a:t>Narrator: You spoke up — and Jake doesn’t just let it go. His grin tightens.</a:t>
            </a:r>
            <a:endParaRPr sz="1100" b="0" i="0">
              <a:solidFill>
                <a:srgbClr val="1F2A37"/>
              </a:solidFill>
              <a:latin typeface="Calibri"/>
            </a:endParaRPr>
          </a:p>
          <a:p>
            <a:r>
              <a:rPr sz="1100" b="0" i="0">
                <a:solidFill>
                  <a:srgbClr val="1F2A37"/>
                </a:solidFill>
                <a:latin typeface="Calibri"/>
              </a:rPr>
              <a:t>Jake: “Whoa, relax, it was a joke. Right, Marshall? Tell them you’re not offended.”</a:t>
            </a:r>
            <a:endParaRPr sz="1100" b="0" i="0">
              <a:solidFill>
                <a:srgbClr val="1F2A37"/>
              </a:solidFill>
              <a:latin typeface="Calibri"/>
            </a:endParaRPr>
          </a:p>
          <a:p>
            <a:r>
              <a:rPr sz="1100" b="0" i="0">
                <a:solidFill>
                  <a:srgbClr val="1F2A37"/>
                </a:solidFill>
                <a:latin typeface="Calibri"/>
              </a:rPr>
              <a:t>Narrator: He puts Marshall on the spot and glances around for backup. The room goes quiet, watching to see what you’ll do.</a:t>
            </a:r>
            <a:endParaRPr sz="1100" b="0" i="0">
              <a:solidFill>
                <a:srgbClr val="1F2A37"/>
              </a:solidFill>
              <a:latin typeface="Calibri"/>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1F2A37"/>
                </a:solidFill>
                <a:latin typeface="Calibri"/>
              </a:rPr>
              <a:t>THE CLOSE</a:t>
            </a:r>
          </a:p>
        </p:txBody>
      </p:sp>
      <p:sp>
        <p:nvSpPr>
          <p:cNvPr id="3" name="close.components"/>
          <p:cNvSpPr>
            <a:spLocks noGrp="1"/>
          </p:cNvSpPr>
          <p:nvPr>
            <p:ph type="body" idx="10"/>
          </p:nvPr>
        </p:nvSpPr>
        <p:spPr/>
        <p:txBody>
          <a:bodyPr/>
          <a:lstStyle/>
          <a:p>
            <a:r>
              <a:rPr sz="900" b="1" i="0" spc="60">
                <a:solidFill>
                  <a:srgbClr val="0271CE"/>
                </a:solidFill>
                <a:latin typeface="Calibri"/>
              </a:rPr>
              <a:t>IDEAL RESPONSE COMPONENTS — A HEADING, THEN ITS POINTS</a:t>
            </a:r>
            <a:endParaRPr sz="1050" b="0" i="0">
              <a:solidFill>
                <a:srgbClr val="1F2A37"/>
              </a:solidFill>
              <a:latin typeface="Calibri"/>
            </a:endParaRPr>
          </a:p>
          <a:p>
            <a:r>
              <a:rPr sz="1050" b="0" i="0">
                <a:solidFill>
                  <a:srgbClr val="1F2A37"/>
                </a:solidFill>
                <a:latin typeface="Calibri"/>
              </a:rPr>
              <a:t>What actually qualifies</a:t>
            </a:r>
            <a:endParaRPr sz="1050" b="0" i="0">
              <a:solidFill>
                <a:srgbClr val="1F2A37"/>
              </a:solidFill>
              <a:latin typeface="Calibri"/>
            </a:endParaRPr>
          </a:p>
          <a:p>
            <a:r>
              <a:rPr sz="1050" b="0" i="0">
                <a:solidFill>
                  <a:srgbClr val="1F2A37"/>
                </a:solidFill>
                <a:latin typeface="Calibri"/>
              </a:rPr>
              <a:t>Gender stereotyping is sex-based harassment under Title VII — explicit sexual advances are not required.</a:t>
            </a:r>
            <a:endParaRPr sz="1050" b="0" i="0">
              <a:solidFill>
                <a:srgbClr val="1F2A37"/>
              </a:solidFill>
              <a:latin typeface="Calibri"/>
            </a:endParaRPr>
          </a:p>
          <a:p>
            <a:r>
              <a:rPr sz="1050" b="0" i="0">
                <a:solidFill>
                  <a:srgbClr val="1F2A37"/>
                </a:solidFill>
                <a:latin typeface="Calibri"/>
              </a:rPr>
              <a:t>Hostile work environment standard — pervasive, gender-based conduct qualifies, and affects everyone in the environment, not only the primary target.</a:t>
            </a:r>
            <a:endParaRPr sz="1050" b="0" i="0">
              <a:solidFill>
                <a:srgbClr val="1F2A37"/>
              </a:solidFill>
              <a:latin typeface="Calibri"/>
            </a:endParaRPr>
          </a:p>
          <a:p>
            <a:r>
              <a:rPr sz="1050" b="0" i="0">
                <a:solidFill>
                  <a:srgbClr val="1F2A37"/>
                </a:solidFill>
                <a:latin typeface="Calibri"/>
              </a:rPr>
              <a:t>Same-sex harassment is fully covered — the gender of harasser and target is irrelevant.</a:t>
            </a:r>
            <a:endParaRPr sz="1050" b="0" i="0">
              <a:solidFill>
                <a:srgbClr val="1F2A37"/>
              </a:solidFill>
              <a:latin typeface="Calibri"/>
            </a:endParaRPr>
          </a:p>
          <a:p>
            <a:r>
              <a:rPr sz="1050" b="0" i="0">
                <a:solidFill>
                  <a:srgbClr val="1F2A37"/>
                </a:solidFill>
                <a:latin typeface="Calibri"/>
              </a:rPr>
              <a:t>Intent doesn’t determine harassment — the test is impact and context.</a:t>
            </a:r>
            <a:endParaRPr sz="1050" b="0" i="0">
              <a:solidFill>
                <a:srgbClr val="1F2A37"/>
              </a:solidFill>
              <a:latin typeface="Calibri"/>
            </a:endParaRPr>
          </a:p>
          <a:p>
            <a:endParaRPr sz="1050" b="0" i="0">
              <a:solidFill>
                <a:srgbClr val="1F2A37"/>
              </a:solidFill>
              <a:latin typeface="Calibri"/>
            </a:endParaRPr>
          </a:p>
          <a:p>
            <a:r>
              <a:rPr sz="1050" b="0" i="0">
                <a:solidFill>
                  <a:srgbClr val="1F2A37"/>
                </a:solidFill>
                <a:latin typeface="Calibri"/>
              </a:rPr>
              <a:t>Cumulative weight and reporting</a:t>
            </a:r>
            <a:endParaRPr sz="1050" b="0" i="0">
              <a:solidFill>
                <a:srgbClr val="1F2A37"/>
              </a:solidFill>
              <a:latin typeface="Calibri"/>
            </a:endParaRPr>
          </a:p>
          <a:p>
            <a:r>
              <a:rPr sz="1050" b="0" i="0">
                <a:solidFill>
                  <a:srgbClr val="1F2A37"/>
                </a:solidFill>
                <a:latin typeface="Calibri"/>
              </a:rPr>
              <a:t>Cumulative weight is real — sustained harassment causes documented psychological and career harm, and affects others in the workplace.</a:t>
            </a:r>
            <a:endParaRPr sz="1050" b="0" i="0">
              <a:solidFill>
                <a:srgbClr val="1F2A37"/>
              </a:solidFill>
              <a:latin typeface="Calibri"/>
            </a:endParaRPr>
          </a:p>
          <a:p>
            <a:r>
              <a:rPr sz="1050" b="0" i="0">
                <a:solidFill>
                  <a:srgbClr val="1F2A37"/>
                </a:solidFill>
                <a:latin typeface="Calibri"/>
              </a:rPr>
              <a:t>Marshall should report immediately — with documentation of incidents, dates and witnesses.</a:t>
            </a:r>
            <a:endParaRPr sz="1050" b="0" i="0">
              <a:solidFill>
                <a:srgbClr val="1F2A37"/>
              </a:solidFill>
              <a:latin typeface="Calibri"/>
            </a:endParaRPr>
          </a:p>
          <a:p>
            <a:endParaRPr sz="1050" b="0" i="0">
              <a:solidFill>
                <a:srgbClr val="1F2A37"/>
              </a:solidFill>
              <a:latin typeface="Calibri"/>
            </a:endParaRPr>
          </a:p>
          <a:p>
            <a:r>
              <a:rPr sz="1050" b="0" i="0">
                <a:solidFill>
                  <a:srgbClr val="1F2A37"/>
                </a:solidFill>
                <a:latin typeface="Calibri"/>
              </a:rPr>
              <a:t>The bystander framework</a:t>
            </a:r>
            <a:endParaRPr sz="1050" b="0" i="0">
              <a:solidFill>
                <a:srgbClr val="1F2A37"/>
              </a:solidFill>
              <a:latin typeface="Calibri"/>
            </a:endParaRPr>
          </a:p>
          <a:p>
            <a:r>
              <a:rPr sz="1050" b="0" i="0">
                <a:solidFill>
                  <a:srgbClr val="1F2A37"/>
                </a:solidFill>
                <a:latin typeface="Calibri"/>
              </a:rPr>
              <a:t>Pick an action — a direct or indirect in-the-moment signal; direct confrontation is one option, not the only one. Others will support intervention.</a:t>
            </a:r>
            <a:endParaRPr sz="1050" b="0" i="0">
              <a:solidFill>
                <a:srgbClr val="1F2A37"/>
              </a:solidFill>
              <a:latin typeface="Calibri"/>
            </a:endParaRPr>
          </a:p>
          <a:p>
            <a:r>
              <a:rPr sz="1050" b="0" i="0">
                <a:solidFill>
                  <a:srgbClr val="1F2A37"/>
                </a:solidFill>
                <a:latin typeface="Calibri"/>
              </a:rPr>
              <a:t>Offer support to the targeted person privately — follow up after the moment passes.</a:t>
            </a:r>
            <a:endParaRPr sz="1050" b="0" i="0">
              <a:solidFill>
                <a:srgbClr val="1F2A37"/>
              </a:solidFill>
              <a:latin typeface="Calibri"/>
            </a:endParaRPr>
          </a:p>
          <a:p>
            <a:r>
              <a:rPr sz="1050" b="0" i="0">
                <a:solidFill>
                  <a:srgbClr val="1F2A37"/>
                </a:solidFill>
                <a:latin typeface="Calibri"/>
              </a:rPr>
              <a:t>Consider escalating — check your organization’s harassment policy for witness obligations; bystanders can report independently of the target.</a:t>
            </a:r>
            <a:endParaRPr sz="1050" b="0" i="0">
              <a:solidFill>
                <a:srgbClr val="1F2A37"/>
              </a:solidFill>
              <a:latin typeface="Calibri"/>
            </a:endParaRPr>
          </a:p>
        </p:txBody>
      </p:sp>
      <p:sp>
        <p:nvSpPr>
          <p:cNvPr id="4" name="close.summary"/>
          <p:cNvSpPr>
            <a:spLocks noGrp="1"/>
          </p:cNvSpPr>
          <p:nvPr>
            <p:ph type="body" idx="11"/>
          </p:nvPr>
        </p:nvSpPr>
        <p:spPr/>
        <p:txBody>
          <a:bodyPr/>
          <a:lstStyle/>
          <a:p>
            <a:r>
              <a:rPr sz="900" b="1" i="0" spc="60">
                <a:solidFill>
                  <a:srgbClr val="0271CE"/>
                </a:solidFill>
                <a:latin typeface="Calibri"/>
              </a:rPr>
              <a:t>SUMMARY — VERBATIM</a:t>
            </a:r>
            <a:endParaRPr sz="1100" b="0" i="0">
              <a:solidFill>
                <a:srgbClr val="1F2A37"/>
              </a:solidFill>
              <a:latin typeface="Calibri"/>
            </a:endParaRPr>
          </a:p>
          <a:p>
            <a:r>
              <a:rPr sz="1100" b="0" i="0">
                <a:solidFill>
                  <a:srgbClr val="1F2A37"/>
                </a:solidFill>
                <a:latin typeface="Calibri"/>
              </a:rPr>
              <a:t>“What happened to Marshall is sexual harassment. Gender stereotyping — mocking someone for not conforming to expectations about how a man should act — is a form of sex-based harassment under Title VII. It does not require sexual advances, and the intent behind the behavior is less important than its impact. Repeated conduct like this can create a hostile work environment, so it is important to document the incidents and report them. If you witness harassment, speak up if it’s safe, support the person affected, and follow your organization’s reporting procedures. Even a small action can make a meaningful difference.”</a:t>
            </a:r>
            <a:endParaRPr sz="1100" b="0" i="0">
              <a:solidFill>
                <a:srgbClr val="1F2A37"/>
              </a:solidFill>
              <a:latin typeface="Calibri"/>
            </a:endParaRPr>
          </a:p>
        </p:txBody>
      </p:sp>
      <p:sp>
        <p:nvSpPr>
          <p:cNvPr id="5" name="close.authorities"/>
          <p:cNvSpPr>
            <a:spLocks noGrp="1"/>
          </p:cNvSpPr>
          <p:nvPr>
            <p:ph type="body" idx="12"/>
          </p:nvPr>
        </p:nvSpPr>
        <p:spPr/>
        <p:txBody>
          <a:bodyPr/>
          <a:lstStyle/>
          <a:p>
            <a:r>
              <a:rPr sz="900" b="1" i="0" spc="60">
                <a:solidFill>
                  <a:srgbClr val="0271CE"/>
                </a:solidFill>
                <a:latin typeface="Calibri"/>
              </a:rPr>
              <a:t>EXTERNAL AUTHORITIES</a:t>
            </a:r>
            <a:endParaRPr sz="1000" b="0" i="0">
              <a:solidFill>
                <a:srgbClr val="1F2A37"/>
              </a:solidFill>
              <a:latin typeface="Calibri"/>
            </a:endParaRPr>
          </a:p>
          <a:p>
            <a:r>
              <a:rPr sz="1000" b="0" i="0">
                <a:solidFill>
                  <a:srgbClr val="1F2A37"/>
                </a:solidFill>
                <a:latin typeface="Calibri"/>
              </a:rPr>
              <a:t>Title VII of the Civil Rights Act — sex-based harassment, including conduct based on gender stereotypes, as sex discrimination.</a:t>
            </a:r>
            <a:endParaRPr sz="1000" b="0" i="0">
              <a:solidFill>
                <a:srgbClr val="1F2A37"/>
              </a:solidFill>
              <a:latin typeface="Calibri"/>
            </a:endParaRPr>
          </a:p>
        </p:txBody>
      </p:sp>
      <p:sp>
        <p:nvSpPr>
          <p:cNvPr id="6" name="close.internal"/>
          <p:cNvSpPr>
            <a:spLocks noGrp="1"/>
          </p:cNvSpPr>
          <p:nvPr>
            <p:ph type="body" idx="13"/>
          </p:nvPr>
        </p:nvSpPr>
        <p:spPr/>
        <p:txBody>
          <a:bodyPr/>
          <a:lstStyle/>
          <a:p>
            <a:r>
              <a:rPr sz="900" b="1" i="0" spc="60">
                <a:solidFill>
                  <a:srgbClr val="0271CE"/>
                </a:solidFill>
                <a:latin typeface="Calibri"/>
              </a:rPr>
              <a:t>INTERNAL SOURCE SLIDES</a:t>
            </a:r>
            <a:endParaRPr sz="1000" b="0" i="0">
              <a:solidFill>
                <a:srgbClr val="1F2A37"/>
              </a:solidFill>
              <a:latin typeface="Calibri"/>
            </a:endParaRPr>
          </a:p>
          <a:p>
            <a:r>
              <a:rPr sz="1000" b="0" i="0">
                <a:solidFill>
                  <a:srgbClr val="1F2A37"/>
                </a:solidFill>
                <a:latin typeface="Calibri"/>
              </a:rPr>
              <a:t>Slide 19 — scenario narration</a:t>
            </a:r>
            <a:endParaRPr sz="1000" b="0" i="0">
              <a:solidFill>
                <a:srgbClr val="1F2A37"/>
              </a:solidFill>
              <a:latin typeface="Calibri"/>
            </a:endParaRPr>
          </a:p>
          <a:p>
            <a:r>
              <a:rPr sz="1000" b="0" i="0">
                <a:solidFill>
                  <a:srgbClr val="1F2A37"/>
                </a:solidFill>
                <a:latin typeface="Calibri"/>
              </a:rPr>
              <a:t>Slide 20 — knowledge check: should Marshall report?</a:t>
            </a:r>
            <a:endParaRPr sz="1000" b="0" i="0">
              <a:solidFill>
                <a:srgbClr val="1F2A37"/>
              </a:solidFill>
              <a:latin typeface="Calibri"/>
            </a:endParaRPr>
          </a:p>
          <a:p>
            <a:r>
              <a:rPr sz="1000" b="0" i="0">
                <a:solidFill>
                  <a:srgbClr val="1F2A37"/>
                </a:solidFill>
                <a:latin typeface="Calibri"/>
              </a:rPr>
              <a:t>Slide 21 — Marshall’s real case</a:t>
            </a:r>
            <a:endParaRPr sz="1000" b="0" i="0">
              <a:solidFill>
                <a:srgbClr val="1F2A37"/>
              </a:solidFill>
              <a:latin typeface="Calibri"/>
            </a:endParaRPr>
          </a:p>
          <a:p>
            <a:r>
              <a:rPr sz="1000" b="0" i="0">
                <a:solidFill>
                  <a:srgbClr val="1F2A37"/>
                </a:solidFill>
                <a:latin typeface="Calibri"/>
              </a:rPr>
              <a:t>Slide 24 — hostile work environment definition</a:t>
            </a:r>
            <a:endParaRPr sz="1000" b="0" i="0">
              <a:solidFill>
                <a:srgbClr val="1F2A37"/>
              </a:solidFill>
              <a:latin typeface="Calibri"/>
            </a:endParaRPr>
          </a:p>
          <a:p>
            <a:r>
              <a:rPr sz="1000" b="0" i="0">
                <a:solidFill>
                  <a:srgbClr val="1F2A37"/>
                </a:solidFill>
                <a:latin typeface="Calibri"/>
              </a:rPr>
              <a:t>Slide 13 — Title VII foundation</a:t>
            </a:r>
            <a:endParaRPr sz="1000" b="0" i="0">
              <a:solidFill>
                <a:srgbClr val="1F2A37"/>
              </a:solidFill>
              <a:latin typeface="Calibri"/>
            </a:endParaRPr>
          </a:p>
          <a:p>
            <a:r>
              <a:rPr sz="1000" b="0" i="0">
                <a:solidFill>
                  <a:srgbClr val="1F2A37"/>
                </a:solidFill>
                <a:latin typeface="Calibri"/>
              </a:rPr>
              <a:t>Slides 40–41 — bystander guidance</a:t>
            </a:r>
            <a:endParaRPr sz="1000" b="0" i="0">
              <a:solidFill>
                <a:srgbClr val="1F2A37"/>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Brief — The Marshall Scenario (worked example)</dc:title>
  <dc:subject>Scenario Brief — the K&amp;A input to the Scenario Editor</dc:subject>
  <dc:creator>Aithera UX · Scenario Simulator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